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2" autoAdjust="0"/>
    <p:restoredTop sz="94660"/>
  </p:normalViewPr>
  <p:slideViewPr>
    <p:cSldViewPr>
      <p:cViewPr varScale="1">
        <p:scale>
          <a:sx n="119" d="100"/>
          <a:sy n="119" d="100"/>
        </p:scale>
        <p:origin x="216" y="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425" y="163310"/>
            <a:ext cx="687324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AE7A5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AE7A5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C4A1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757099" y="2309399"/>
            <a:ext cx="4387215" cy="2834640"/>
          </a:xfrm>
          <a:custGeom>
            <a:avLst/>
            <a:gdLst/>
            <a:ahLst/>
            <a:cxnLst/>
            <a:rect l="l" t="t" r="r" b="b"/>
            <a:pathLst>
              <a:path w="4387215" h="2834640">
                <a:moveTo>
                  <a:pt x="4386899" y="2834099"/>
                </a:moveTo>
                <a:lnTo>
                  <a:pt x="0" y="2834099"/>
                </a:lnTo>
                <a:lnTo>
                  <a:pt x="4386899" y="0"/>
                </a:lnTo>
                <a:lnTo>
                  <a:pt x="4386899" y="2834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594185" y="3961117"/>
            <a:ext cx="2910205" cy="1182370"/>
          </a:xfrm>
          <a:custGeom>
            <a:avLst/>
            <a:gdLst/>
            <a:ahLst/>
            <a:cxnLst/>
            <a:rect l="l" t="t" r="r" b="b"/>
            <a:pathLst>
              <a:path w="2910204" h="1182370">
                <a:moveTo>
                  <a:pt x="1963762" y="0"/>
                </a:moveTo>
                <a:lnTo>
                  <a:pt x="1868385" y="0"/>
                </a:lnTo>
                <a:lnTo>
                  <a:pt x="0" y="1182344"/>
                </a:lnTo>
                <a:lnTo>
                  <a:pt x="95377" y="1182344"/>
                </a:lnTo>
                <a:lnTo>
                  <a:pt x="1963762" y="0"/>
                </a:lnTo>
                <a:close/>
              </a:path>
              <a:path w="2910204" h="1182370">
                <a:moveTo>
                  <a:pt x="2436952" y="0"/>
                </a:moveTo>
                <a:lnTo>
                  <a:pt x="2341575" y="0"/>
                </a:lnTo>
                <a:lnTo>
                  <a:pt x="473189" y="1182344"/>
                </a:lnTo>
                <a:lnTo>
                  <a:pt x="568566" y="1182344"/>
                </a:lnTo>
                <a:lnTo>
                  <a:pt x="2436952" y="0"/>
                </a:lnTo>
                <a:close/>
              </a:path>
              <a:path w="2910204" h="1182370">
                <a:moveTo>
                  <a:pt x="2910141" y="0"/>
                </a:moveTo>
                <a:lnTo>
                  <a:pt x="2814764" y="0"/>
                </a:lnTo>
                <a:lnTo>
                  <a:pt x="946378" y="1182344"/>
                </a:lnTo>
                <a:lnTo>
                  <a:pt x="1041768" y="1182344"/>
                </a:lnTo>
                <a:lnTo>
                  <a:pt x="2910141" y="0"/>
                </a:lnTo>
                <a:close/>
              </a:path>
            </a:pathLst>
          </a:custGeom>
          <a:solidFill>
            <a:srgbClr val="C4A1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99148" y="12"/>
            <a:ext cx="2795905" cy="1083310"/>
          </a:xfrm>
          <a:custGeom>
            <a:avLst/>
            <a:gdLst/>
            <a:ahLst/>
            <a:cxnLst/>
            <a:rect l="l" t="t" r="r" b="b"/>
            <a:pathLst>
              <a:path w="2795905" h="1083310">
                <a:moveTo>
                  <a:pt x="1886331" y="0"/>
                </a:moveTo>
                <a:lnTo>
                  <a:pt x="1711883" y="0"/>
                </a:lnTo>
                <a:lnTo>
                  <a:pt x="0" y="1083310"/>
                </a:lnTo>
                <a:lnTo>
                  <a:pt x="174447" y="1083310"/>
                </a:lnTo>
                <a:lnTo>
                  <a:pt x="1886331" y="0"/>
                </a:lnTo>
                <a:close/>
              </a:path>
              <a:path w="2795905" h="1083310">
                <a:moveTo>
                  <a:pt x="2340876" y="0"/>
                </a:moveTo>
                <a:lnTo>
                  <a:pt x="2166416" y="0"/>
                </a:lnTo>
                <a:lnTo>
                  <a:pt x="454533" y="1083310"/>
                </a:lnTo>
                <a:lnTo>
                  <a:pt x="628980" y="1083310"/>
                </a:lnTo>
                <a:lnTo>
                  <a:pt x="2340876" y="0"/>
                </a:lnTo>
                <a:close/>
              </a:path>
              <a:path w="2795905" h="1083310">
                <a:moveTo>
                  <a:pt x="2795409" y="0"/>
                </a:moveTo>
                <a:lnTo>
                  <a:pt x="2620949" y="0"/>
                </a:lnTo>
                <a:lnTo>
                  <a:pt x="909066" y="1083310"/>
                </a:lnTo>
                <a:lnTo>
                  <a:pt x="1083525" y="1083310"/>
                </a:lnTo>
                <a:lnTo>
                  <a:pt x="2795409" y="0"/>
                </a:lnTo>
                <a:close/>
              </a:path>
            </a:pathLst>
          </a:custGeom>
          <a:solidFill>
            <a:srgbClr val="233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AE7A5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AE7A5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33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582599" y="1550700"/>
            <a:ext cx="5561965" cy="3592829"/>
          </a:xfrm>
          <a:custGeom>
            <a:avLst/>
            <a:gdLst/>
            <a:ahLst/>
            <a:cxnLst/>
            <a:rect l="l" t="t" r="r" b="b"/>
            <a:pathLst>
              <a:path w="5561965" h="3592829">
                <a:moveTo>
                  <a:pt x="5561399" y="3592799"/>
                </a:moveTo>
                <a:lnTo>
                  <a:pt x="0" y="3592799"/>
                </a:lnTo>
                <a:lnTo>
                  <a:pt x="5561399" y="0"/>
                </a:lnTo>
                <a:lnTo>
                  <a:pt x="5561399" y="35927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" y="2824500"/>
            <a:ext cx="7370445" cy="2319020"/>
          </a:xfrm>
          <a:custGeom>
            <a:avLst/>
            <a:gdLst/>
            <a:ahLst/>
            <a:cxnLst/>
            <a:rect l="l" t="t" r="r" b="b"/>
            <a:pathLst>
              <a:path w="7370445" h="2319020">
                <a:moveTo>
                  <a:pt x="7370399" y="2318999"/>
                </a:moveTo>
                <a:lnTo>
                  <a:pt x="0" y="2318999"/>
                </a:lnTo>
                <a:lnTo>
                  <a:pt x="0" y="0"/>
                </a:lnTo>
                <a:lnTo>
                  <a:pt x="7370399" y="2318999"/>
                </a:lnTo>
                <a:close/>
              </a:path>
            </a:pathLst>
          </a:custGeom>
          <a:solidFill>
            <a:srgbClr val="C4A15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03224" y="206250"/>
            <a:ext cx="8737600" cy="4731385"/>
          </a:xfrm>
          <a:custGeom>
            <a:avLst/>
            <a:gdLst/>
            <a:ahLst/>
            <a:cxnLst/>
            <a:rect l="l" t="t" r="r" b="b"/>
            <a:pathLst>
              <a:path w="8737600" h="4731385">
                <a:moveTo>
                  <a:pt x="8737499" y="4730999"/>
                </a:moveTo>
                <a:lnTo>
                  <a:pt x="0" y="4730999"/>
                </a:lnTo>
                <a:lnTo>
                  <a:pt x="0" y="0"/>
                </a:lnTo>
                <a:lnTo>
                  <a:pt x="8737499" y="0"/>
                </a:lnTo>
                <a:lnTo>
                  <a:pt x="8737499" y="4730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100" y="-28344"/>
            <a:ext cx="8641854" cy="12816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AE7A5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474" y="1033703"/>
            <a:ext cx="5067935" cy="2070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63E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144135"/>
            <a:chOff x="0" y="0"/>
            <a:chExt cx="9144000" cy="5144135"/>
          </a:xfrm>
        </p:grpSpPr>
        <p:sp>
          <p:nvSpPr>
            <p:cNvPr id="4" name="object 4"/>
            <p:cNvSpPr/>
            <p:nvPr/>
          </p:nvSpPr>
          <p:spPr>
            <a:xfrm>
              <a:off x="30" y="2824500"/>
              <a:ext cx="7370445" cy="2319020"/>
            </a:xfrm>
            <a:custGeom>
              <a:avLst/>
              <a:gdLst/>
              <a:ahLst/>
              <a:cxnLst/>
              <a:rect l="l" t="t" r="r" b="b"/>
              <a:pathLst>
                <a:path w="7370445" h="2319020">
                  <a:moveTo>
                    <a:pt x="7370399" y="2318999"/>
                  </a:moveTo>
                  <a:lnTo>
                    <a:pt x="0" y="2318999"/>
                  </a:lnTo>
                  <a:lnTo>
                    <a:pt x="0" y="0"/>
                  </a:lnTo>
                  <a:lnTo>
                    <a:pt x="7370399" y="2318999"/>
                  </a:lnTo>
                  <a:close/>
                </a:path>
              </a:pathLst>
            </a:custGeom>
            <a:solidFill>
              <a:srgbClr val="0078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2599" y="1550700"/>
              <a:ext cx="5561965" cy="3592829"/>
            </a:xfrm>
            <a:custGeom>
              <a:avLst/>
              <a:gdLst/>
              <a:ahLst/>
              <a:cxnLst/>
              <a:rect l="l" t="t" r="r" b="b"/>
              <a:pathLst>
                <a:path w="5561965" h="3592829">
                  <a:moveTo>
                    <a:pt x="5561399" y="3592799"/>
                  </a:moveTo>
                  <a:lnTo>
                    <a:pt x="0" y="3592799"/>
                  </a:lnTo>
                  <a:lnTo>
                    <a:pt x="5561399" y="0"/>
                  </a:lnTo>
                  <a:lnTo>
                    <a:pt x="5561399" y="35927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58904" y="0"/>
              <a:ext cx="4085590" cy="2052955"/>
            </a:xfrm>
            <a:custGeom>
              <a:avLst/>
              <a:gdLst/>
              <a:ahLst/>
              <a:cxnLst/>
              <a:rect l="l" t="t" r="r" b="b"/>
              <a:pathLst>
                <a:path w="4085590" h="2052955">
                  <a:moveTo>
                    <a:pt x="4085100" y="2052599"/>
                  </a:moveTo>
                  <a:lnTo>
                    <a:pt x="0" y="0"/>
                  </a:lnTo>
                  <a:lnTo>
                    <a:pt x="4085100" y="0"/>
                  </a:lnTo>
                  <a:lnTo>
                    <a:pt x="4085100" y="2052599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3263" y="596"/>
              <a:ext cx="8737600" cy="4937125"/>
            </a:xfrm>
            <a:custGeom>
              <a:avLst/>
              <a:gdLst/>
              <a:ahLst/>
              <a:cxnLst/>
              <a:rect l="l" t="t" r="r" b="b"/>
              <a:pathLst>
                <a:path w="8737600" h="4937125">
                  <a:moveTo>
                    <a:pt x="8737511" y="205663"/>
                  </a:moveTo>
                  <a:lnTo>
                    <a:pt x="1987232" y="205663"/>
                  </a:lnTo>
                  <a:lnTo>
                    <a:pt x="2302294" y="0"/>
                  </a:lnTo>
                  <a:lnTo>
                    <a:pt x="2160587" y="0"/>
                  </a:lnTo>
                  <a:lnTo>
                    <a:pt x="1845525" y="205663"/>
                  </a:lnTo>
                  <a:lnTo>
                    <a:pt x="1732800" y="205663"/>
                  </a:lnTo>
                  <a:lnTo>
                    <a:pt x="2047862" y="0"/>
                  </a:lnTo>
                  <a:lnTo>
                    <a:pt x="1906155" y="0"/>
                  </a:lnTo>
                  <a:lnTo>
                    <a:pt x="1591094" y="205663"/>
                  </a:lnTo>
                  <a:lnTo>
                    <a:pt x="1478368" y="205663"/>
                  </a:lnTo>
                  <a:lnTo>
                    <a:pt x="1793430" y="0"/>
                  </a:lnTo>
                  <a:lnTo>
                    <a:pt x="1651723" y="0"/>
                  </a:lnTo>
                  <a:lnTo>
                    <a:pt x="1336662" y="205663"/>
                  </a:lnTo>
                  <a:lnTo>
                    <a:pt x="0" y="205663"/>
                  </a:lnTo>
                  <a:lnTo>
                    <a:pt x="0" y="4936655"/>
                  </a:lnTo>
                  <a:lnTo>
                    <a:pt x="8737511" y="4936655"/>
                  </a:lnTo>
                  <a:lnTo>
                    <a:pt x="8737511" y="2056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5383" y="596"/>
              <a:ext cx="2250440" cy="1044575"/>
            </a:xfrm>
            <a:custGeom>
              <a:avLst/>
              <a:gdLst/>
              <a:ahLst/>
              <a:cxnLst/>
              <a:rect l="l" t="t" r="r" b="b"/>
              <a:pathLst>
                <a:path w="2250440" h="1044575">
                  <a:moveTo>
                    <a:pt x="1741500" y="0"/>
                  </a:moveTo>
                  <a:lnTo>
                    <a:pt x="1599806" y="0"/>
                  </a:lnTo>
                  <a:lnTo>
                    <a:pt x="0" y="1044308"/>
                  </a:lnTo>
                  <a:lnTo>
                    <a:pt x="141706" y="1044308"/>
                  </a:lnTo>
                  <a:lnTo>
                    <a:pt x="1741500" y="0"/>
                  </a:lnTo>
                  <a:close/>
                </a:path>
                <a:path w="2250440" h="1044575">
                  <a:moveTo>
                    <a:pt x="1995932" y="0"/>
                  </a:moveTo>
                  <a:lnTo>
                    <a:pt x="1854225" y="0"/>
                  </a:lnTo>
                  <a:lnTo>
                    <a:pt x="254431" y="1044308"/>
                  </a:lnTo>
                  <a:lnTo>
                    <a:pt x="396138" y="1044308"/>
                  </a:lnTo>
                  <a:lnTo>
                    <a:pt x="1995932" y="0"/>
                  </a:lnTo>
                  <a:close/>
                </a:path>
                <a:path w="2250440" h="1044575">
                  <a:moveTo>
                    <a:pt x="2250363" y="0"/>
                  </a:moveTo>
                  <a:lnTo>
                    <a:pt x="2108657" y="0"/>
                  </a:lnTo>
                  <a:lnTo>
                    <a:pt x="508863" y="1044308"/>
                  </a:lnTo>
                  <a:lnTo>
                    <a:pt x="650570" y="1044308"/>
                  </a:lnTo>
                  <a:lnTo>
                    <a:pt x="2250363" y="0"/>
                  </a:lnTo>
                  <a:close/>
                </a:path>
              </a:pathLst>
            </a:custGeom>
            <a:solidFill>
              <a:srgbClr val="163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57466" y="5092"/>
              <a:ext cx="1851660" cy="752475"/>
            </a:xfrm>
            <a:custGeom>
              <a:avLst/>
              <a:gdLst/>
              <a:ahLst/>
              <a:cxnLst/>
              <a:rect l="l" t="t" r="r" b="b"/>
              <a:pathLst>
                <a:path w="1851659" h="752475">
                  <a:moveTo>
                    <a:pt x="1249235" y="0"/>
                  </a:moveTo>
                  <a:lnTo>
                    <a:pt x="1188504" y="0"/>
                  </a:lnTo>
                  <a:lnTo>
                    <a:pt x="0" y="752106"/>
                  </a:lnTo>
                  <a:lnTo>
                    <a:pt x="60731" y="752106"/>
                  </a:lnTo>
                  <a:lnTo>
                    <a:pt x="1249235" y="0"/>
                  </a:lnTo>
                  <a:close/>
                </a:path>
                <a:path w="1851659" h="752475">
                  <a:moveTo>
                    <a:pt x="1550263" y="0"/>
                  </a:moveTo>
                  <a:lnTo>
                    <a:pt x="1489532" y="0"/>
                  </a:lnTo>
                  <a:lnTo>
                    <a:pt x="301015" y="752106"/>
                  </a:lnTo>
                  <a:lnTo>
                    <a:pt x="361746" y="752106"/>
                  </a:lnTo>
                  <a:lnTo>
                    <a:pt x="1550263" y="0"/>
                  </a:lnTo>
                  <a:close/>
                </a:path>
                <a:path w="1851659" h="752475">
                  <a:moveTo>
                    <a:pt x="1851279" y="0"/>
                  </a:moveTo>
                  <a:lnTo>
                    <a:pt x="1790547" y="0"/>
                  </a:lnTo>
                  <a:lnTo>
                    <a:pt x="602030" y="752106"/>
                  </a:lnTo>
                  <a:lnTo>
                    <a:pt x="662762" y="752106"/>
                  </a:lnTo>
                  <a:lnTo>
                    <a:pt x="1851279" y="0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53022" y="4217860"/>
              <a:ext cx="2389505" cy="925830"/>
            </a:xfrm>
            <a:custGeom>
              <a:avLst/>
              <a:gdLst/>
              <a:ahLst/>
              <a:cxnLst/>
              <a:rect l="l" t="t" r="r" b="b"/>
              <a:pathLst>
                <a:path w="2389504" h="925829">
                  <a:moveTo>
                    <a:pt x="1612138" y="0"/>
                  </a:moveTo>
                  <a:lnTo>
                    <a:pt x="1462887" y="0"/>
                  </a:lnTo>
                  <a:lnTo>
                    <a:pt x="0" y="925728"/>
                  </a:lnTo>
                  <a:lnTo>
                    <a:pt x="149250" y="925728"/>
                  </a:lnTo>
                  <a:lnTo>
                    <a:pt x="1612138" y="0"/>
                  </a:lnTo>
                  <a:close/>
                </a:path>
                <a:path w="2389504" h="925829">
                  <a:moveTo>
                    <a:pt x="2000605" y="0"/>
                  </a:moveTo>
                  <a:lnTo>
                    <a:pt x="1851355" y="0"/>
                  </a:lnTo>
                  <a:lnTo>
                    <a:pt x="388467" y="925728"/>
                  </a:lnTo>
                  <a:lnTo>
                    <a:pt x="537718" y="925728"/>
                  </a:lnTo>
                  <a:lnTo>
                    <a:pt x="2000605" y="0"/>
                  </a:lnTo>
                  <a:close/>
                </a:path>
                <a:path w="2389504" h="925829">
                  <a:moveTo>
                    <a:pt x="2389073" y="0"/>
                  </a:moveTo>
                  <a:lnTo>
                    <a:pt x="2239822" y="0"/>
                  </a:lnTo>
                  <a:lnTo>
                    <a:pt x="776935" y="925728"/>
                  </a:lnTo>
                  <a:lnTo>
                    <a:pt x="926185" y="925728"/>
                  </a:lnTo>
                  <a:lnTo>
                    <a:pt x="23890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9148" y="4055655"/>
              <a:ext cx="2795905" cy="1083310"/>
            </a:xfrm>
            <a:custGeom>
              <a:avLst/>
              <a:gdLst/>
              <a:ahLst/>
              <a:cxnLst/>
              <a:rect l="l" t="t" r="r" b="b"/>
              <a:pathLst>
                <a:path w="2795905" h="1083310">
                  <a:moveTo>
                    <a:pt x="1886331" y="0"/>
                  </a:moveTo>
                  <a:lnTo>
                    <a:pt x="1711883" y="0"/>
                  </a:lnTo>
                  <a:lnTo>
                    <a:pt x="0" y="1083310"/>
                  </a:lnTo>
                  <a:lnTo>
                    <a:pt x="174447" y="1083310"/>
                  </a:lnTo>
                  <a:lnTo>
                    <a:pt x="1886331" y="0"/>
                  </a:lnTo>
                  <a:close/>
                </a:path>
                <a:path w="2795905" h="1083310">
                  <a:moveTo>
                    <a:pt x="2340876" y="0"/>
                  </a:moveTo>
                  <a:lnTo>
                    <a:pt x="2166416" y="0"/>
                  </a:lnTo>
                  <a:lnTo>
                    <a:pt x="454533" y="1083310"/>
                  </a:lnTo>
                  <a:lnTo>
                    <a:pt x="628980" y="1083310"/>
                  </a:lnTo>
                  <a:lnTo>
                    <a:pt x="2340876" y="0"/>
                  </a:lnTo>
                  <a:close/>
                </a:path>
                <a:path w="2795905" h="1083310">
                  <a:moveTo>
                    <a:pt x="2795409" y="0"/>
                  </a:moveTo>
                  <a:lnTo>
                    <a:pt x="2620949" y="0"/>
                  </a:lnTo>
                  <a:lnTo>
                    <a:pt x="909066" y="1083310"/>
                  </a:lnTo>
                  <a:lnTo>
                    <a:pt x="1083525" y="1083310"/>
                  </a:lnTo>
                  <a:lnTo>
                    <a:pt x="2795409" y="0"/>
                  </a:lnTo>
                  <a:close/>
                </a:path>
              </a:pathLst>
            </a:custGeom>
            <a:solidFill>
              <a:srgbClr val="0078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124278" y="1935759"/>
            <a:ext cx="5343322" cy="1572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 marR="195580" indent="-78740">
              <a:lnSpc>
                <a:spcPct val="100000"/>
              </a:lnSpc>
              <a:spcBef>
                <a:spcPts val="100"/>
              </a:spcBef>
            </a:pPr>
            <a:r>
              <a:rPr sz="3800" spc="-114" dirty="0">
                <a:solidFill>
                  <a:srgbClr val="AE7A51"/>
                </a:solidFill>
                <a:latin typeface="Lucida Sans Unicode"/>
                <a:cs typeface="Lucida Sans Unicode"/>
              </a:rPr>
              <a:t>Segmenter</a:t>
            </a:r>
            <a:r>
              <a:rPr sz="3800" spc="-175" dirty="0">
                <a:solidFill>
                  <a:srgbClr val="AE7A51"/>
                </a:solidFill>
                <a:latin typeface="Lucida Sans Unicode"/>
                <a:cs typeface="Lucida Sans Unicode"/>
              </a:rPr>
              <a:t> </a:t>
            </a:r>
            <a:r>
              <a:rPr sz="3800" spc="-135" dirty="0">
                <a:solidFill>
                  <a:srgbClr val="AE7A51"/>
                </a:solidFill>
                <a:latin typeface="Lucida Sans Unicode"/>
                <a:cs typeface="Lucida Sans Unicode"/>
              </a:rPr>
              <a:t>des</a:t>
            </a:r>
            <a:r>
              <a:rPr sz="3800" spc="-175" dirty="0">
                <a:solidFill>
                  <a:srgbClr val="AE7A51"/>
                </a:solidFill>
                <a:latin typeface="Lucida Sans Unicode"/>
                <a:cs typeface="Lucida Sans Unicode"/>
              </a:rPr>
              <a:t> </a:t>
            </a:r>
            <a:r>
              <a:rPr sz="3800" spc="-135" dirty="0">
                <a:solidFill>
                  <a:srgbClr val="AE7A51"/>
                </a:solidFill>
                <a:latin typeface="Lucida Sans Unicode"/>
                <a:cs typeface="Lucida Sans Unicode"/>
              </a:rPr>
              <a:t>clients </a:t>
            </a:r>
            <a:r>
              <a:rPr sz="3800" spc="-235" dirty="0">
                <a:solidFill>
                  <a:srgbClr val="AE7A51"/>
                </a:solidFill>
                <a:latin typeface="Lucida Sans Unicode"/>
                <a:cs typeface="Lucida Sans Unicode"/>
              </a:rPr>
              <a:t>d’un</a:t>
            </a:r>
            <a:r>
              <a:rPr sz="3800" spc="-190" dirty="0">
                <a:solidFill>
                  <a:srgbClr val="AE7A51"/>
                </a:solidFill>
                <a:latin typeface="Lucida Sans Unicode"/>
                <a:cs typeface="Lucida Sans Unicode"/>
              </a:rPr>
              <a:t> </a:t>
            </a:r>
            <a:r>
              <a:rPr sz="3800" spc="-150" dirty="0">
                <a:solidFill>
                  <a:srgbClr val="AE7A51"/>
                </a:solidFill>
                <a:latin typeface="Lucida Sans Unicode"/>
                <a:cs typeface="Lucida Sans Unicode"/>
              </a:rPr>
              <a:t>site</a:t>
            </a:r>
            <a:r>
              <a:rPr sz="3800" spc="-190" dirty="0">
                <a:solidFill>
                  <a:srgbClr val="AE7A51"/>
                </a:solidFill>
                <a:latin typeface="Lucida Sans Unicode"/>
                <a:cs typeface="Lucida Sans Unicode"/>
              </a:rPr>
              <a:t> </a:t>
            </a:r>
            <a:r>
              <a:rPr sz="3800" spc="-310" dirty="0">
                <a:solidFill>
                  <a:srgbClr val="AE7A51"/>
                </a:solidFill>
                <a:latin typeface="Lucida Sans Unicode"/>
                <a:cs typeface="Lucida Sans Unicode"/>
              </a:rPr>
              <a:t>e-</a:t>
            </a:r>
            <a:r>
              <a:rPr sz="3800" spc="-130" dirty="0">
                <a:solidFill>
                  <a:srgbClr val="AE7A51"/>
                </a:solidFill>
                <a:latin typeface="Lucida Sans Unicode"/>
                <a:cs typeface="Lucida Sans Unicode"/>
              </a:rPr>
              <a:t>commerce</a:t>
            </a:r>
            <a:r>
              <a:rPr lang="fr-FR" sz="3800" spc="-130" dirty="0">
                <a:latin typeface="Lucida Sans Unicode"/>
                <a:cs typeface="Lucida Sans Unicode"/>
              </a:rPr>
              <a:t>    </a:t>
            </a:r>
            <a:r>
              <a:rPr lang="fr-FR" sz="1100" dirty="0" err="1">
                <a:solidFill>
                  <a:schemeClr val="tx2"/>
                </a:solidFill>
                <a:latin typeface="Calibri"/>
                <a:cs typeface="Calibri"/>
              </a:rPr>
              <a:t>Saoussan</a:t>
            </a:r>
            <a:r>
              <a:rPr lang="fr-FR" sz="1100" dirty="0">
                <a:solidFill>
                  <a:schemeClr val="tx2"/>
                </a:solidFill>
                <a:latin typeface="Calibri"/>
                <a:cs typeface="Calibri"/>
              </a:rPr>
              <a:t> EL HAOUZI </a:t>
            </a:r>
          </a:p>
          <a:p>
            <a:pPr marL="90805" marR="195580" indent="-7874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chemeClr val="tx2"/>
                </a:solidFill>
                <a:latin typeface="Calibri"/>
                <a:cs typeface="Calibri"/>
              </a:rPr>
              <a:t>Mentor</a:t>
            </a:r>
            <a:r>
              <a:rPr sz="1350" spc="-2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chemeClr val="tx2"/>
                </a:solidFill>
                <a:latin typeface="Calibri"/>
                <a:cs typeface="Calibri"/>
              </a:rPr>
              <a:t>:</a:t>
            </a:r>
            <a:r>
              <a:rPr sz="1350" spc="-2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fr-FR" sz="1350" dirty="0">
                <a:solidFill>
                  <a:schemeClr val="tx2"/>
                </a:solidFill>
                <a:latin typeface="Calibri"/>
                <a:cs typeface="Calibri"/>
              </a:rPr>
              <a:t>Romain DUFIEF</a:t>
            </a:r>
            <a:endParaRPr sz="1350" dirty="0">
              <a:solidFill>
                <a:schemeClr val="tx2"/>
              </a:solidFill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767800" y="1301837"/>
            <a:ext cx="11404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20" dirty="0"/>
              <a:t>Data</a:t>
            </a:r>
            <a:r>
              <a:rPr sz="1400" spc="-85" dirty="0"/>
              <a:t> </a:t>
            </a:r>
            <a:r>
              <a:rPr sz="1400" spc="-40" dirty="0"/>
              <a:t>scientist </a:t>
            </a:r>
            <a:r>
              <a:rPr sz="1400" spc="-20" dirty="0"/>
              <a:t>Projet</a:t>
            </a:r>
            <a:r>
              <a:rPr sz="1400" spc="-70" dirty="0"/>
              <a:t> </a:t>
            </a:r>
            <a:r>
              <a:rPr sz="1400" spc="-50" dirty="0"/>
              <a:t>5</a:t>
            </a:r>
            <a:endParaRPr sz="1400"/>
          </a:p>
        </p:txBody>
      </p:sp>
      <p:grpSp>
        <p:nvGrpSpPr>
          <p:cNvPr id="15" name="object 15"/>
          <p:cNvGrpSpPr/>
          <p:nvPr/>
        </p:nvGrpSpPr>
        <p:grpSpPr>
          <a:xfrm>
            <a:off x="199825" y="202699"/>
            <a:ext cx="8732520" cy="4733290"/>
            <a:chOff x="199825" y="202699"/>
            <a:chExt cx="8732520" cy="473329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7025" y="4610625"/>
              <a:ext cx="324949" cy="3249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825" y="202699"/>
              <a:ext cx="814075" cy="4781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C4A15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757099" y="2309399"/>
            <a:ext cx="4387215" cy="2834640"/>
            <a:chOff x="4757099" y="2309399"/>
            <a:chExt cx="4387215" cy="2834640"/>
          </a:xfrm>
        </p:grpSpPr>
        <p:sp>
          <p:nvSpPr>
            <p:cNvPr id="4" name="object 4"/>
            <p:cNvSpPr/>
            <p:nvPr/>
          </p:nvSpPr>
          <p:spPr>
            <a:xfrm>
              <a:off x="4757099" y="2309399"/>
              <a:ext cx="4387215" cy="2834640"/>
            </a:xfrm>
            <a:custGeom>
              <a:avLst/>
              <a:gdLst/>
              <a:ahLst/>
              <a:cxnLst/>
              <a:rect l="l" t="t" r="r" b="b"/>
              <a:pathLst>
                <a:path w="4387215" h="2834640">
                  <a:moveTo>
                    <a:pt x="4386899" y="2834099"/>
                  </a:moveTo>
                  <a:lnTo>
                    <a:pt x="0" y="2834099"/>
                  </a:lnTo>
                  <a:lnTo>
                    <a:pt x="4386899" y="0"/>
                  </a:lnTo>
                  <a:lnTo>
                    <a:pt x="4386899" y="283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94185" y="3961117"/>
              <a:ext cx="2910205" cy="1182370"/>
            </a:xfrm>
            <a:custGeom>
              <a:avLst/>
              <a:gdLst/>
              <a:ahLst/>
              <a:cxnLst/>
              <a:rect l="l" t="t" r="r" b="b"/>
              <a:pathLst>
                <a:path w="2910204" h="1182370">
                  <a:moveTo>
                    <a:pt x="1963762" y="0"/>
                  </a:moveTo>
                  <a:lnTo>
                    <a:pt x="1868385" y="0"/>
                  </a:lnTo>
                  <a:lnTo>
                    <a:pt x="0" y="1182344"/>
                  </a:lnTo>
                  <a:lnTo>
                    <a:pt x="95377" y="1182344"/>
                  </a:lnTo>
                  <a:lnTo>
                    <a:pt x="1963762" y="0"/>
                  </a:lnTo>
                  <a:close/>
                </a:path>
                <a:path w="2910204" h="1182370">
                  <a:moveTo>
                    <a:pt x="2436952" y="0"/>
                  </a:moveTo>
                  <a:lnTo>
                    <a:pt x="2341575" y="0"/>
                  </a:lnTo>
                  <a:lnTo>
                    <a:pt x="473189" y="1182344"/>
                  </a:lnTo>
                  <a:lnTo>
                    <a:pt x="568566" y="1182344"/>
                  </a:lnTo>
                  <a:lnTo>
                    <a:pt x="2436952" y="0"/>
                  </a:lnTo>
                  <a:close/>
                </a:path>
                <a:path w="2910204" h="1182370">
                  <a:moveTo>
                    <a:pt x="2910141" y="0"/>
                  </a:moveTo>
                  <a:lnTo>
                    <a:pt x="2814764" y="0"/>
                  </a:lnTo>
                  <a:lnTo>
                    <a:pt x="946378" y="1182344"/>
                  </a:lnTo>
                  <a:lnTo>
                    <a:pt x="1041768" y="1182344"/>
                  </a:lnTo>
                  <a:lnTo>
                    <a:pt x="2910141" y="0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99148" y="12"/>
            <a:ext cx="2795905" cy="1083310"/>
          </a:xfrm>
          <a:custGeom>
            <a:avLst/>
            <a:gdLst/>
            <a:ahLst/>
            <a:cxnLst/>
            <a:rect l="l" t="t" r="r" b="b"/>
            <a:pathLst>
              <a:path w="2795905" h="1083310">
                <a:moveTo>
                  <a:pt x="1886331" y="0"/>
                </a:moveTo>
                <a:lnTo>
                  <a:pt x="1711883" y="0"/>
                </a:lnTo>
                <a:lnTo>
                  <a:pt x="0" y="1083310"/>
                </a:lnTo>
                <a:lnTo>
                  <a:pt x="174447" y="1083310"/>
                </a:lnTo>
                <a:lnTo>
                  <a:pt x="1886331" y="0"/>
                </a:lnTo>
                <a:close/>
              </a:path>
              <a:path w="2795905" h="1083310">
                <a:moveTo>
                  <a:pt x="2340876" y="0"/>
                </a:moveTo>
                <a:lnTo>
                  <a:pt x="2166416" y="0"/>
                </a:lnTo>
                <a:lnTo>
                  <a:pt x="454533" y="1083310"/>
                </a:lnTo>
                <a:lnTo>
                  <a:pt x="628980" y="1083310"/>
                </a:lnTo>
                <a:lnTo>
                  <a:pt x="2340876" y="0"/>
                </a:lnTo>
                <a:close/>
              </a:path>
              <a:path w="2795905" h="1083310">
                <a:moveTo>
                  <a:pt x="2795409" y="0"/>
                </a:moveTo>
                <a:lnTo>
                  <a:pt x="2620949" y="0"/>
                </a:lnTo>
                <a:lnTo>
                  <a:pt x="909066" y="1083310"/>
                </a:lnTo>
                <a:lnTo>
                  <a:pt x="1083525" y="1083310"/>
                </a:lnTo>
                <a:lnTo>
                  <a:pt x="2795409" y="0"/>
                </a:lnTo>
                <a:close/>
              </a:path>
            </a:pathLst>
          </a:custGeom>
          <a:solidFill>
            <a:srgbClr val="233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172" rIns="0" bIns="0" rtlCol="0">
            <a:spAutoFit/>
          </a:bodyPr>
          <a:lstStyle/>
          <a:p>
            <a:pPr marL="2058670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solidFill>
                  <a:srgbClr val="233944"/>
                </a:solidFill>
                <a:latin typeface="Arial"/>
                <a:cs typeface="Arial"/>
              </a:rPr>
              <a:t>Sommaire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2987" y="1693148"/>
            <a:ext cx="4266565" cy="2052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695" indent="-467995">
              <a:lnSpc>
                <a:spcPct val="100000"/>
              </a:lnSpc>
              <a:spcBef>
                <a:spcPts val="100"/>
              </a:spcBef>
              <a:buAutoNum type="alphaUcPeriod"/>
              <a:tabLst>
                <a:tab pos="480695" algn="l"/>
              </a:tabLst>
            </a:pPr>
            <a:r>
              <a:rPr sz="1900" b="1" spc="-10" dirty="0">
                <a:solidFill>
                  <a:srgbClr val="D9D9D9"/>
                </a:solidFill>
                <a:latin typeface="Arial"/>
                <a:cs typeface="Arial"/>
              </a:rPr>
              <a:t>Problématique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D9D9D9"/>
              </a:buClr>
              <a:buFont typeface="Arial"/>
              <a:buAutoNum type="alphaUcPeriod"/>
            </a:pPr>
            <a:endParaRPr sz="1900">
              <a:latin typeface="Arial"/>
              <a:cs typeface="Arial"/>
            </a:endParaRPr>
          </a:p>
          <a:p>
            <a:pPr marL="480695" indent="-448309">
              <a:lnSpc>
                <a:spcPct val="100000"/>
              </a:lnSpc>
              <a:buAutoNum type="alphaUcPeriod"/>
              <a:tabLst>
                <a:tab pos="480695" algn="l"/>
              </a:tabLst>
            </a:pPr>
            <a:r>
              <a:rPr sz="1900" b="1" spc="-30" dirty="0">
                <a:solidFill>
                  <a:srgbClr val="D9D9D9"/>
                </a:solidFill>
                <a:latin typeface="Arial"/>
                <a:cs typeface="Arial"/>
              </a:rPr>
              <a:t>Nettoyage</a:t>
            </a:r>
            <a:r>
              <a:rPr sz="1900" b="1" spc="-5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D9D9D9"/>
                </a:solidFill>
                <a:latin typeface="Arial"/>
                <a:cs typeface="Arial"/>
              </a:rPr>
              <a:t>et</a:t>
            </a:r>
            <a:r>
              <a:rPr sz="1900" b="1" spc="-4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900" b="1" spc="-65" dirty="0">
                <a:solidFill>
                  <a:srgbClr val="D9D9D9"/>
                </a:solidFill>
                <a:latin typeface="Arial"/>
                <a:cs typeface="Arial"/>
              </a:rPr>
              <a:t>analyse</a:t>
            </a:r>
            <a:r>
              <a:rPr sz="1900" b="1" spc="-4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900" b="1" spc="-65" dirty="0">
                <a:solidFill>
                  <a:srgbClr val="D9D9D9"/>
                </a:solidFill>
                <a:latin typeface="Arial"/>
                <a:cs typeface="Arial"/>
              </a:rPr>
              <a:t>des</a:t>
            </a:r>
            <a:r>
              <a:rPr sz="1900" b="1" spc="-4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900" b="1" spc="-50" dirty="0">
                <a:solidFill>
                  <a:srgbClr val="D9D9D9"/>
                </a:solidFill>
                <a:latin typeface="Arial"/>
                <a:cs typeface="Arial"/>
              </a:rPr>
              <a:t>données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D9D9D9"/>
              </a:buClr>
              <a:buFont typeface="Arial"/>
              <a:buAutoNum type="alphaUcPeriod"/>
            </a:pPr>
            <a:endParaRPr sz="1900">
              <a:latin typeface="Arial"/>
              <a:cs typeface="Arial"/>
            </a:endParaRPr>
          </a:p>
          <a:p>
            <a:pPr marL="480695" indent="-451484">
              <a:lnSpc>
                <a:spcPct val="100000"/>
              </a:lnSpc>
              <a:buAutoNum type="alphaUcPeriod"/>
              <a:tabLst>
                <a:tab pos="480695" algn="l"/>
              </a:tabLst>
            </a:pPr>
            <a:r>
              <a:rPr sz="1900" b="1" spc="-10" dirty="0">
                <a:solidFill>
                  <a:srgbClr val="D9D9D9"/>
                </a:solidFill>
                <a:latin typeface="Arial"/>
                <a:cs typeface="Arial"/>
              </a:rPr>
              <a:t>Segmentation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D9D9D9"/>
              </a:buClr>
              <a:buFont typeface="Arial"/>
              <a:buAutoNum type="alphaUcPeriod"/>
            </a:pPr>
            <a:endParaRPr sz="1900">
              <a:latin typeface="Arial"/>
              <a:cs typeface="Arial"/>
            </a:endParaRPr>
          </a:p>
          <a:p>
            <a:pPr marL="480695" indent="-458470">
              <a:lnSpc>
                <a:spcPct val="100000"/>
              </a:lnSpc>
              <a:buAutoNum type="alphaUcPeriod"/>
              <a:tabLst>
                <a:tab pos="480695" algn="l"/>
              </a:tabLst>
            </a:pPr>
            <a:r>
              <a:rPr sz="1900" b="1" spc="-55" dirty="0">
                <a:solidFill>
                  <a:srgbClr val="D9D9D9"/>
                </a:solidFill>
                <a:latin typeface="Arial"/>
                <a:cs typeface="Arial"/>
              </a:rPr>
              <a:t>Maintenance</a:t>
            </a:r>
            <a:r>
              <a:rPr sz="1900" b="1" spc="-6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900" b="1" spc="-45" dirty="0">
                <a:solidFill>
                  <a:srgbClr val="D9D9D9"/>
                </a:solidFill>
                <a:latin typeface="Arial"/>
                <a:cs typeface="Arial"/>
              </a:rPr>
              <a:t>du</a:t>
            </a:r>
            <a:r>
              <a:rPr sz="1900" b="1" spc="-6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D9D9D9"/>
                </a:solidFill>
                <a:latin typeface="Arial"/>
                <a:cs typeface="Arial"/>
              </a:rPr>
              <a:t>modèle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7025" y="4610625"/>
            <a:ext cx="324949" cy="3249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4003" rIns="0" bIns="0" rtlCol="0">
            <a:spAutoFit/>
          </a:bodyPr>
          <a:lstStyle/>
          <a:p>
            <a:pPr marL="641350">
              <a:lnSpc>
                <a:spcPct val="100000"/>
              </a:lnSpc>
              <a:spcBef>
                <a:spcPts val="100"/>
              </a:spcBef>
            </a:pPr>
            <a:r>
              <a:rPr sz="3000" spc="-100" dirty="0"/>
              <a:t>Problématique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92175" y="1615597"/>
            <a:ext cx="4948555" cy="1948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417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AE7A51"/>
                </a:solidFill>
                <a:latin typeface="Calibri"/>
                <a:cs typeface="Calibri"/>
              </a:rPr>
              <a:t>Olist,</a:t>
            </a:r>
            <a:r>
              <a:rPr sz="1600" spc="-55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7A51"/>
                </a:solidFill>
                <a:latin typeface="Calibri"/>
                <a:cs typeface="Calibri"/>
              </a:rPr>
              <a:t>entreprise</a:t>
            </a:r>
            <a:r>
              <a:rPr sz="1600" spc="-50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7A51"/>
                </a:solidFill>
                <a:latin typeface="Calibri"/>
                <a:cs typeface="Calibri"/>
              </a:rPr>
              <a:t>brésilienne</a:t>
            </a:r>
            <a:r>
              <a:rPr sz="1600" spc="-50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7A51"/>
                </a:solidFill>
                <a:latin typeface="Calibri"/>
                <a:cs typeface="Calibri"/>
              </a:rPr>
              <a:t>proposant</a:t>
            </a:r>
            <a:r>
              <a:rPr sz="1600" spc="-55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7A51"/>
                </a:solidFill>
                <a:latin typeface="Calibri"/>
                <a:cs typeface="Calibri"/>
              </a:rPr>
              <a:t>des</a:t>
            </a:r>
            <a:r>
              <a:rPr sz="1600" spc="-50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7A51"/>
                </a:solidFill>
                <a:latin typeface="Calibri"/>
                <a:cs typeface="Calibri"/>
              </a:rPr>
              <a:t>solutions</a:t>
            </a:r>
            <a:r>
              <a:rPr sz="1600" spc="-50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AE7A51"/>
                </a:solidFill>
                <a:latin typeface="Calibri"/>
                <a:cs typeface="Calibri"/>
              </a:rPr>
              <a:t>de </a:t>
            </a:r>
            <a:r>
              <a:rPr sz="1600" spc="-10" dirty="0">
                <a:solidFill>
                  <a:srgbClr val="AE7A51"/>
                </a:solidFill>
                <a:latin typeface="Calibri"/>
                <a:cs typeface="Calibri"/>
              </a:rPr>
              <a:t>ventes</a:t>
            </a:r>
            <a:r>
              <a:rPr sz="1600" spc="-30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7A51"/>
                </a:solidFill>
                <a:latin typeface="Calibri"/>
                <a:cs typeface="Calibri"/>
              </a:rPr>
              <a:t>sur</a:t>
            </a:r>
            <a:r>
              <a:rPr sz="1600" spc="-30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7A51"/>
                </a:solidFill>
                <a:latin typeface="Calibri"/>
                <a:cs typeface="Calibri"/>
              </a:rPr>
              <a:t>des</a:t>
            </a:r>
            <a:r>
              <a:rPr sz="1600" spc="-25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7A51"/>
                </a:solidFill>
                <a:latin typeface="Calibri"/>
                <a:cs typeface="Calibri"/>
              </a:rPr>
              <a:t>marketplace</a:t>
            </a:r>
            <a:r>
              <a:rPr sz="1600" spc="-30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7A51"/>
                </a:solidFill>
                <a:latin typeface="Calibri"/>
                <a:cs typeface="Calibri"/>
              </a:rPr>
              <a:t>en</a:t>
            </a:r>
            <a:r>
              <a:rPr sz="1600" spc="-25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7A51"/>
                </a:solidFill>
                <a:latin typeface="Calibri"/>
                <a:cs typeface="Calibri"/>
              </a:rPr>
              <a:t>ligne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600">
              <a:latin typeface="Calibri"/>
              <a:cs typeface="Calibri"/>
            </a:endParaRPr>
          </a:p>
          <a:p>
            <a:pPr marL="469900" marR="5080" indent="-336550">
              <a:lnSpc>
                <a:spcPct val="150000"/>
              </a:lnSpc>
              <a:buFont typeface="Arial MT"/>
              <a:buChar char="●"/>
              <a:tabLst>
                <a:tab pos="469900" algn="l"/>
              </a:tabLst>
            </a:pPr>
            <a:r>
              <a:rPr sz="1400" spc="-10" dirty="0">
                <a:solidFill>
                  <a:srgbClr val="233944"/>
                </a:solidFill>
                <a:latin typeface="Calibri"/>
                <a:cs typeface="Calibri"/>
              </a:rPr>
              <a:t>Proposer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3944"/>
                </a:solidFill>
                <a:latin typeface="Calibri"/>
                <a:cs typeface="Calibri"/>
              </a:rPr>
              <a:t>une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3944"/>
                </a:solidFill>
                <a:latin typeface="Calibri"/>
                <a:cs typeface="Calibri"/>
              </a:rPr>
              <a:t>segmentation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3944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3944"/>
                </a:solidFill>
                <a:latin typeface="Calibri"/>
                <a:cs typeface="Calibri"/>
              </a:rPr>
              <a:t>clients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3944"/>
                </a:solidFill>
                <a:latin typeface="Calibri"/>
                <a:cs typeface="Calibri"/>
              </a:rPr>
              <a:t>en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3944"/>
                </a:solidFill>
                <a:latin typeface="Calibri"/>
                <a:cs typeface="Calibri"/>
              </a:rPr>
              <a:t>vue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3944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3944"/>
                </a:solidFill>
                <a:latin typeface="Calibri"/>
                <a:cs typeface="Calibri"/>
              </a:rPr>
              <a:t>campagnes publicitaires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3944"/>
                </a:solidFill>
                <a:latin typeface="Calibri"/>
                <a:cs typeface="Calibri"/>
              </a:rPr>
              <a:t>quotidiennes.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Clr>
                <a:srgbClr val="233944"/>
              </a:buClr>
              <a:buFont typeface="Arial MT"/>
              <a:buChar char="●"/>
            </a:pPr>
            <a:endParaRPr sz="1400">
              <a:latin typeface="Calibri"/>
              <a:cs typeface="Calibri"/>
            </a:endParaRPr>
          </a:p>
          <a:p>
            <a:pPr marL="469265" indent="-33591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400" spc="-10" dirty="0">
                <a:solidFill>
                  <a:srgbClr val="233944"/>
                </a:solidFill>
                <a:latin typeface="Calibri"/>
                <a:cs typeface="Calibri"/>
              </a:rPr>
              <a:t>Proposer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3944"/>
                </a:solidFill>
                <a:latin typeface="Calibri"/>
                <a:cs typeface="Calibri"/>
              </a:rPr>
              <a:t>un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3944"/>
                </a:solidFill>
                <a:latin typeface="Calibri"/>
                <a:cs typeface="Calibri"/>
              </a:rPr>
              <a:t>contrat</a:t>
            </a:r>
            <a:r>
              <a:rPr sz="1400" spc="-3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3944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3944"/>
                </a:solidFill>
                <a:latin typeface="Calibri"/>
                <a:cs typeface="Calibri"/>
              </a:rPr>
              <a:t>maintenance</a:t>
            </a:r>
            <a:r>
              <a:rPr sz="1400" spc="-3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3944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3944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3944"/>
                </a:solidFill>
                <a:latin typeface="Calibri"/>
                <a:cs typeface="Calibri"/>
              </a:rPr>
              <a:t>segmentation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60353" y="555176"/>
            <a:ext cx="3272154" cy="4380865"/>
            <a:chOff x="5660353" y="555176"/>
            <a:chExt cx="3272154" cy="4380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0353" y="555176"/>
              <a:ext cx="2572522" cy="12582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7025" y="4610625"/>
              <a:ext cx="324949" cy="3249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4218137" y="1217375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1147137" y="780899"/>
                  </a:moveTo>
                  <a:lnTo>
                    <a:pt x="0" y="780899"/>
                  </a:lnTo>
                  <a:lnTo>
                    <a:pt x="258961" y="390449"/>
                  </a:lnTo>
                  <a:lnTo>
                    <a:pt x="0" y="0"/>
                  </a:lnTo>
                  <a:lnTo>
                    <a:pt x="1147137" y="0"/>
                  </a:lnTo>
                  <a:lnTo>
                    <a:pt x="1406099" y="390449"/>
                  </a:lnTo>
                  <a:lnTo>
                    <a:pt x="1147137" y="7808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18137" y="1217375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0" y="0"/>
                  </a:moveTo>
                  <a:lnTo>
                    <a:pt x="1147137" y="0"/>
                  </a:lnTo>
                  <a:lnTo>
                    <a:pt x="1406099" y="390449"/>
                  </a:lnTo>
                  <a:lnTo>
                    <a:pt x="1147137" y="780899"/>
                  </a:lnTo>
                  <a:lnTo>
                    <a:pt x="0" y="780899"/>
                  </a:lnTo>
                  <a:lnTo>
                    <a:pt x="258961" y="390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AE7A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3100" y="259534"/>
            <a:ext cx="4427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5" dirty="0">
                <a:latin typeface="Arial"/>
                <a:cs typeface="Arial"/>
              </a:rPr>
              <a:t>Préparation</a:t>
            </a:r>
            <a:r>
              <a:rPr sz="3000" b="1" spc="-135" dirty="0">
                <a:latin typeface="Arial"/>
                <a:cs typeface="Arial"/>
              </a:rPr>
              <a:t> </a:t>
            </a:r>
            <a:r>
              <a:rPr sz="3000" b="1" spc="-65" dirty="0">
                <a:latin typeface="Arial"/>
                <a:cs typeface="Arial"/>
              </a:rPr>
              <a:t>des</a:t>
            </a:r>
            <a:r>
              <a:rPr sz="3000" b="1" spc="-130" dirty="0">
                <a:latin typeface="Arial"/>
                <a:cs typeface="Arial"/>
              </a:rPr>
              <a:t> </a:t>
            </a:r>
            <a:r>
              <a:rPr sz="3000" b="1" spc="-65" dirty="0">
                <a:latin typeface="Arial"/>
                <a:cs typeface="Arial"/>
              </a:rPr>
              <a:t>données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1037" y="906095"/>
            <a:ext cx="16941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33944"/>
                </a:solidFill>
                <a:latin typeface="Calibri"/>
                <a:cs typeface="Calibri"/>
              </a:rPr>
              <a:t>On</a:t>
            </a:r>
            <a:r>
              <a:rPr sz="1300" spc="-2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33944"/>
                </a:solidFill>
                <a:latin typeface="Calibri"/>
                <a:cs typeface="Calibri"/>
              </a:rPr>
              <a:t>dispose</a:t>
            </a:r>
            <a:r>
              <a:rPr sz="1300" spc="-1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33944"/>
                </a:solidFill>
                <a:latin typeface="Calibri"/>
                <a:cs typeface="Calibri"/>
              </a:rPr>
              <a:t>de</a:t>
            </a:r>
            <a:r>
              <a:rPr sz="1300" spc="-1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33944"/>
                </a:solidFill>
                <a:latin typeface="Calibri"/>
                <a:cs typeface="Calibri"/>
              </a:rPr>
              <a:t>8</a:t>
            </a:r>
            <a:r>
              <a:rPr sz="1300" spc="-2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33944"/>
                </a:solidFill>
                <a:latin typeface="Calibri"/>
                <a:cs typeface="Calibri"/>
              </a:rPr>
              <a:t>datasets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6087" y="1221887"/>
            <a:ext cx="3823970" cy="790575"/>
            <a:chOff x="576087" y="1221887"/>
            <a:chExt cx="3823970" cy="790575"/>
          </a:xfrm>
        </p:grpSpPr>
        <p:sp>
          <p:nvSpPr>
            <p:cNvPr id="8" name="object 8"/>
            <p:cNvSpPr/>
            <p:nvPr/>
          </p:nvSpPr>
          <p:spPr>
            <a:xfrm>
              <a:off x="580850" y="1226725"/>
              <a:ext cx="1358265" cy="781050"/>
            </a:xfrm>
            <a:custGeom>
              <a:avLst/>
              <a:gdLst/>
              <a:ahLst/>
              <a:cxnLst/>
              <a:rect l="l" t="t" r="r" b="b"/>
              <a:pathLst>
                <a:path w="1358264" h="781050">
                  <a:moveTo>
                    <a:pt x="1086519" y="780749"/>
                  </a:moveTo>
                  <a:lnTo>
                    <a:pt x="0" y="780749"/>
                  </a:lnTo>
                  <a:lnTo>
                    <a:pt x="0" y="0"/>
                  </a:lnTo>
                  <a:lnTo>
                    <a:pt x="1086519" y="0"/>
                  </a:lnTo>
                  <a:lnTo>
                    <a:pt x="1358149" y="390374"/>
                  </a:lnTo>
                  <a:lnTo>
                    <a:pt x="1086519" y="78074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0850" y="1226725"/>
              <a:ext cx="1358265" cy="781050"/>
            </a:xfrm>
            <a:custGeom>
              <a:avLst/>
              <a:gdLst/>
              <a:ahLst/>
              <a:cxnLst/>
              <a:rect l="l" t="t" r="r" b="b"/>
              <a:pathLst>
                <a:path w="1358264" h="781050">
                  <a:moveTo>
                    <a:pt x="0" y="780749"/>
                  </a:moveTo>
                  <a:lnTo>
                    <a:pt x="0" y="0"/>
                  </a:lnTo>
                  <a:lnTo>
                    <a:pt x="1086519" y="0"/>
                  </a:lnTo>
                  <a:lnTo>
                    <a:pt x="1358149" y="390374"/>
                  </a:lnTo>
                  <a:lnTo>
                    <a:pt x="1086519" y="780749"/>
                  </a:lnTo>
                  <a:lnTo>
                    <a:pt x="0" y="780749"/>
                  </a:lnTo>
                  <a:close/>
                </a:path>
              </a:pathLst>
            </a:custGeom>
            <a:ln w="9524">
              <a:solidFill>
                <a:srgbClr val="AE7A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88912" y="1226650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1147137" y="780899"/>
                  </a:moveTo>
                  <a:lnTo>
                    <a:pt x="0" y="780899"/>
                  </a:lnTo>
                  <a:lnTo>
                    <a:pt x="258962" y="390449"/>
                  </a:lnTo>
                  <a:lnTo>
                    <a:pt x="0" y="0"/>
                  </a:lnTo>
                  <a:lnTo>
                    <a:pt x="1147137" y="0"/>
                  </a:lnTo>
                  <a:lnTo>
                    <a:pt x="1406099" y="390449"/>
                  </a:lnTo>
                  <a:lnTo>
                    <a:pt x="1147137" y="7808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88912" y="1226650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0" y="0"/>
                  </a:moveTo>
                  <a:lnTo>
                    <a:pt x="1147137" y="0"/>
                  </a:lnTo>
                  <a:lnTo>
                    <a:pt x="1406099" y="390449"/>
                  </a:lnTo>
                  <a:lnTo>
                    <a:pt x="1147137" y="780899"/>
                  </a:lnTo>
                  <a:lnTo>
                    <a:pt x="0" y="780899"/>
                  </a:lnTo>
                  <a:lnTo>
                    <a:pt x="258962" y="390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AE7A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58600" y="1338695"/>
            <a:ext cx="7099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Réduction</a:t>
            </a:r>
            <a:r>
              <a:rPr sz="1000" spc="-5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du</a:t>
            </a:r>
            <a:r>
              <a:rPr sz="1000" dirty="0">
                <a:latin typeface="Calibri"/>
                <a:cs typeface="Calibri"/>
              </a:rPr>
              <a:t> nombre</a:t>
            </a:r>
            <a:r>
              <a:rPr sz="1000" spc="-4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de</a:t>
            </a:r>
            <a:r>
              <a:rPr sz="1000" spc="-10" dirty="0">
                <a:latin typeface="Calibri"/>
                <a:cs typeface="Calibri"/>
              </a:rPr>
              <a:t> catégories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51925" y="1212612"/>
            <a:ext cx="1416050" cy="790575"/>
            <a:chOff x="1751925" y="1212612"/>
            <a:chExt cx="1416050" cy="790575"/>
          </a:xfrm>
        </p:grpSpPr>
        <p:sp>
          <p:nvSpPr>
            <p:cNvPr id="14" name="object 14"/>
            <p:cNvSpPr/>
            <p:nvPr/>
          </p:nvSpPr>
          <p:spPr>
            <a:xfrm>
              <a:off x="1756687" y="1217375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1147137" y="780899"/>
                  </a:moveTo>
                  <a:lnTo>
                    <a:pt x="0" y="780899"/>
                  </a:lnTo>
                  <a:lnTo>
                    <a:pt x="258962" y="390449"/>
                  </a:lnTo>
                  <a:lnTo>
                    <a:pt x="0" y="0"/>
                  </a:lnTo>
                  <a:lnTo>
                    <a:pt x="1147137" y="0"/>
                  </a:lnTo>
                  <a:lnTo>
                    <a:pt x="1406099" y="390449"/>
                  </a:lnTo>
                  <a:lnTo>
                    <a:pt x="1147137" y="7808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56687" y="1217375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0" y="0"/>
                  </a:moveTo>
                  <a:lnTo>
                    <a:pt x="1147137" y="0"/>
                  </a:lnTo>
                  <a:lnTo>
                    <a:pt x="1406099" y="390449"/>
                  </a:lnTo>
                  <a:lnTo>
                    <a:pt x="1147137" y="780899"/>
                  </a:lnTo>
                  <a:lnTo>
                    <a:pt x="0" y="780899"/>
                  </a:lnTo>
                  <a:lnTo>
                    <a:pt x="258962" y="390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AE7A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04375" y="1329420"/>
            <a:ext cx="9645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Merge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50" dirty="0">
                <a:latin typeface="Calibri"/>
                <a:cs typeface="Calibri"/>
              </a:rPr>
              <a:t>7</a:t>
            </a:r>
            <a:r>
              <a:rPr sz="1000" spc="-10" dirty="0">
                <a:latin typeface="Calibri"/>
                <a:cs typeface="Calibri"/>
              </a:rPr>
              <a:t> dataset,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jointure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50" dirty="0">
                <a:latin typeface="Calibri"/>
                <a:cs typeface="Calibri"/>
              </a:rPr>
              <a:t>à</a:t>
            </a:r>
            <a:r>
              <a:rPr sz="1000" spc="-10" dirty="0">
                <a:latin typeface="Calibri"/>
                <a:cs typeface="Calibri"/>
              </a:rPr>
              <a:t> droite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82575" y="1245294"/>
            <a:ext cx="82676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Calibri"/>
                <a:cs typeface="Calibri"/>
              </a:rPr>
              <a:t>Valeurs manquantes</a:t>
            </a:r>
            <a:r>
              <a:rPr sz="1000" spc="3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de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orders</a:t>
            </a:r>
            <a:r>
              <a:rPr sz="1000" b="1" spc="-5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et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order_review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29200" y="1212612"/>
            <a:ext cx="1416050" cy="790575"/>
            <a:chOff x="5429200" y="1212612"/>
            <a:chExt cx="1416050" cy="790575"/>
          </a:xfrm>
        </p:grpSpPr>
        <p:sp>
          <p:nvSpPr>
            <p:cNvPr id="19" name="object 19"/>
            <p:cNvSpPr/>
            <p:nvPr/>
          </p:nvSpPr>
          <p:spPr>
            <a:xfrm>
              <a:off x="5433962" y="1217375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1147138" y="780899"/>
                  </a:moveTo>
                  <a:lnTo>
                    <a:pt x="0" y="780899"/>
                  </a:lnTo>
                  <a:lnTo>
                    <a:pt x="258961" y="390449"/>
                  </a:lnTo>
                  <a:lnTo>
                    <a:pt x="0" y="0"/>
                  </a:lnTo>
                  <a:lnTo>
                    <a:pt x="1147138" y="0"/>
                  </a:lnTo>
                  <a:lnTo>
                    <a:pt x="1406099" y="390449"/>
                  </a:lnTo>
                  <a:lnTo>
                    <a:pt x="1147138" y="7808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33962" y="1217375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0" y="0"/>
                  </a:moveTo>
                  <a:lnTo>
                    <a:pt x="1147138" y="0"/>
                  </a:lnTo>
                  <a:lnTo>
                    <a:pt x="1406099" y="390449"/>
                  </a:lnTo>
                  <a:lnTo>
                    <a:pt x="1147138" y="780899"/>
                  </a:lnTo>
                  <a:lnTo>
                    <a:pt x="0" y="780899"/>
                  </a:lnTo>
                  <a:lnTo>
                    <a:pt x="258961" y="390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AE7A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17200" y="1285319"/>
            <a:ext cx="913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Calibri"/>
                <a:cs typeface="Calibri"/>
              </a:rPr>
              <a:t>Conservation</a:t>
            </a:r>
            <a:r>
              <a:rPr sz="1000" spc="2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des</a:t>
            </a:r>
            <a:r>
              <a:rPr sz="1000" spc="-10" dirty="0">
                <a:latin typeface="Calibri"/>
                <a:cs typeface="Calibri"/>
              </a:rPr>
              <a:t> commandes livrées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0650" y="843062"/>
            <a:ext cx="1854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33944"/>
                </a:solidFill>
                <a:latin typeface="Georgia"/>
                <a:cs typeface="Georgia"/>
              </a:rPr>
              <a:t>Etapes</a:t>
            </a:r>
            <a:r>
              <a:rPr sz="1400" b="1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233944"/>
                </a:solidFill>
                <a:latin typeface="Georgia"/>
                <a:cs typeface="Georgia"/>
              </a:rPr>
              <a:t>du</a:t>
            </a:r>
            <a:r>
              <a:rPr sz="1400" b="1" spc="-45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233944"/>
                </a:solidFill>
                <a:latin typeface="Georgia"/>
                <a:cs typeface="Georgia"/>
              </a:rPr>
              <a:t>nettoyage</a:t>
            </a:r>
            <a:endParaRPr sz="14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90075" y="3283137"/>
            <a:ext cx="8742045" cy="1652905"/>
            <a:chOff x="190075" y="3283137"/>
            <a:chExt cx="8742045" cy="165290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7025" y="4610625"/>
              <a:ext cx="324949" cy="32494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75" y="4457400"/>
              <a:ext cx="814075" cy="4781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47449" y="3287900"/>
              <a:ext cx="1369695" cy="781050"/>
            </a:xfrm>
            <a:custGeom>
              <a:avLst/>
              <a:gdLst/>
              <a:ahLst/>
              <a:cxnLst/>
              <a:rect l="l" t="t" r="r" b="b"/>
              <a:pathLst>
                <a:path w="1369695" h="781050">
                  <a:moveTo>
                    <a:pt x="1095299" y="780749"/>
                  </a:moveTo>
                  <a:lnTo>
                    <a:pt x="0" y="780749"/>
                  </a:lnTo>
                  <a:lnTo>
                    <a:pt x="0" y="0"/>
                  </a:lnTo>
                  <a:lnTo>
                    <a:pt x="1095299" y="0"/>
                  </a:lnTo>
                  <a:lnTo>
                    <a:pt x="1369124" y="390374"/>
                  </a:lnTo>
                  <a:lnTo>
                    <a:pt x="1095299" y="780749"/>
                  </a:lnTo>
                  <a:close/>
                </a:path>
              </a:pathLst>
            </a:custGeom>
            <a:solidFill>
              <a:srgbClr val="D955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7449" y="3287900"/>
              <a:ext cx="1369695" cy="781050"/>
            </a:xfrm>
            <a:custGeom>
              <a:avLst/>
              <a:gdLst/>
              <a:ahLst/>
              <a:cxnLst/>
              <a:rect l="l" t="t" r="r" b="b"/>
              <a:pathLst>
                <a:path w="1369695" h="781050">
                  <a:moveTo>
                    <a:pt x="0" y="780749"/>
                  </a:moveTo>
                  <a:lnTo>
                    <a:pt x="0" y="0"/>
                  </a:lnTo>
                  <a:lnTo>
                    <a:pt x="1095299" y="0"/>
                  </a:lnTo>
                  <a:lnTo>
                    <a:pt x="1369124" y="390374"/>
                  </a:lnTo>
                  <a:lnTo>
                    <a:pt x="1095299" y="780749"/>
                  </a:lnTo>
                  <a:lnTo>
                    <a:pt x="0" y="780749"/>
                  </a:lnTo>
                  <a:close/>
                </a:path>
              </a:pathLst>
            </a:custGeom>
            <a:ln w="9524">
              <a:solidFill>
                <a:srgbClr val="233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03600" y="3287900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1147137" y="780899"/>
                  </a:moveTo>
                  <a:lnTo>
                    <a:pt x="0" y="780899"/>
                  </a:lnTo>
                  <a:lnTo>
                    <a:pt x="258962" y="390449"/>
                  </a:lnTo>
                  <a:lnTo>
                    <a:pt x="0" y="0"/>
                  </a:lnTo>
                  <a:lnTo>
                    <a:pt x="1147137" y="0"/>
                  </a:lnTo>
                  <a:lnTo>
                    <a:pt x="1406099" y="390449"/>
                  </a:lnTo>
                  <a:lnTo>
                    <a:pt x="1147137" y="780899"/>
                  </a:lnTo>
                  <a:close/>
                </a:path>
              </a:pathLst>
            </a:custGeom>
            <a:solidFill>
              <a:srgbClr val="D955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3600" y="3287900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0" y="0"/>
                  </a:moveTo>
                  <a:lnTo>
                    <a:pt x="1147137" y="0"/>
                  </a:lnTo>
                  <a:lnTo>
                    <a:pt x="1406099" y="390449"/>
                  </a:lnTo>
                  <a:lnTo>
                    <a:pt x="1147137" y="780899"/>
                  </a:lnTo>
                  <a:lnTo>
                    <a:pt x="0" y="780899"/>
                  </a:lnTo>
                  <a:lnTo>
                    <a:pt x="258962" y="390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3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20475" y="2970150"/>
            <a:ext cx="27692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33944"/>
                </a:solidFill>
                <a:latin typeface="Georgia"/>
                <a:cs typeface="Georgia"/>
              </a:rPr>
              <a:t>Etapes</a:t>
            </a:r>
            <a:r>
              <a:rPr sz="1400" b="1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233944"/>
                </a:solidFill>
                <a:latin typeface="Georgia"/>
                <a:cs typeface="Georgia"/>
              </a:rPr>
              <a:t>du</a:t>
            </a:r>
            <a:r>
              <a:rPr sz="1400" b="1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400" b="1" dirty="0">
                <a:solidFill>
                  <a:srgbClr val="233944"/>
                </a:solidFill>
                <a:latin typeface="Georgia"/>
                <a:cs typeface="Georgia"/>
              </a:rPr>
              <a:t>feature</a:t>
            </a:r>
            <a:r>
              <a:rPr sz="1400" b="1" spc="-60" dirty="0">
                <a:solidFill>
                  <a:srgbClr val="233944"/>
                </a:solidFill>
                <a:latin typeface="Georgia"/>
                <a:cs typeface="Georgia"/>
              </a:rPr>
              <a:t> </a:t>
            </a:r>
            <a:r>
              <a:rPr sz="1400" b="1" spc="-10" dirty="0">
                <a:solidFill>
                  <a:srgbClr val="233944"/>
                </a:solidFill>
                <a:latin typeface="Georgia"/>
                <a:cs typeface="Georgia"/>
              </a:rPr>
              <a:t>engineering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35586" y="3431969"/>
            <a:ext cx="7175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Nombre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de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produits</a:t>
            </a:r>
            <a:r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par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commandes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1950" y="3461082"/>
            <a:ext cx="8940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Nombre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jours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depuis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dernier achat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764525" y="1221887"/>
            <a:ext cx="1416050" cy="790575"/>
            <a:chOff x="6764525" y="1221887"/>
            <a:chExt cx="1416050" cy="790575"/>
          </a:xfrm>
        </p:grpSpPr>
        <p:sp>
          <p:nvSpPr>
            <p:cNvPr id="34" name="object 34"/>
            <p:cNvSpPr/>
            <p:nvPr/>
          </p:nvSpPr>
          <p:spPr>
            <a:xfrm>
              <a:off x="6769287" y="1226650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1147138" y="780899"/>
                  </a:moveTo>
                  <a:lnTo>
                    <a:pt x="0" y="780899"/>
                  </a:lnTo>
                  <a:lnTo>
                    <a:pt x="258961" y="390449"/>
                  </a:lnTo>
                  <a:lnTo>
                    <a:pt x="0" y="0"/>
                  </a:lnTo>
                  <a:lnTo>
                    <a:pt x="1147138" y="0"/>
                  </a:lnTo>
                  <a:lnTo>
                    <a:pt x="1406099" y="390449"/>
                  </a:lnTo>
                  <a:lnTo>
                    <a:pt x="1147138" y="780899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69287" y="1226650"/>
              <a:ext cx="1406525" cy="781050"/>
            </a:xfrm>
            <a:custGeom>
              <a:avLst/>
              <a:gdLst/>
              <a:ahLst/>
              <a:cxnLst/>
              <a:rect l="l" t="t" r="r" b="b"/>
              <a:pathLst>
                <a:path w="1406525" h="781050">
                  <a:moveTo>
                    <a:pt x="0" y="0"/>
                  </a:moveTo>
                  <a:lnTo>
                    <a:pt x="1147138" y="0"/>
                  </a:lnTo>
                  <a:lnTo>
                    <a:pt x="1406099" y="390449"/>
                  </a:lnTo>
                  <a:lnTo>
                    <a:pt x="1147138" y="780899"/>
                  </a:lnTo>
                  <a:lnTo>
                    <a:pt x="0" y="780899"/>
                  </a:lnTo>
                  <a:lnTo>
                    <a:pt x="258961" y="390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33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101275" y="1370720"/>
            <a:ext cx="6883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Dataset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agrégé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à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la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maille</a:t>
            </a:r>
            <a:r>
              <a:rPr sz="10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client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99449" y="2366999"/>
            <a:ext cx="4139751" cy="2209524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018499" y="4276338"/>
            <a:ext cx="1821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Dataset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après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agrégation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98849" y="2055390"/>
            <a:ext cx="1017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De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73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 14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catégories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3875" y="1306145"/>
            <a:ext cx="1104900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Calibri"/>
                <a:cs typeface="Calibri"/>
              </a:rPr>
              <a:t>Suppression</a:t>
            </a:r>
            <a:r>
              <a:rPr sz="1000" spc="2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des</a:t>
            </a:r>
            <a:r>
              <a:rPr sz="1000" spc="-10" dirty="0">
                <a:latin typeface="Calibri"/>
                <a:cs typeface="Calibri"/>
              </a:rPr>
              <a:t> duplicatas</a:t>
            </a:r>
            <a:r>
              <a:rPr sz="1000" spc="2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et</a:t>
            </a:r>
            <a:r>
              <a:rPr sz="1000" spc="-10" dirty="0">
                <a:latin typeface="Calibri"/>
                <a:cs typeface="Calibri"/>
              </a:rPr>
              <a:t> corrections</a:t>
            </a:r>
            <a:r>
              <a:rPr sz="1000" dirty="0">
                <a:latin typeface="Calibri"/>
                <a:cs typeface="Calibri"/>
              </a:rPr>
              <a:t> des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villes </a:t>
            </a:r>
            <a:r>
              <a:rPr sz="1000" dirty="0">
                <a:latin typeface="Calibri"/>
                <a:cs typeface="Calibri"/>
              </a:rPr>
              <a:t>dans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geolocation</a:t>
            </a:r>
            <a:endParaRPr sz="1000">
              <a:latin typeface="Calibri"/>
              <a:cs typeface="Calibri"/>
            </a:endParaRPr>
          </a:p>
          <a:p>
            <a:pPr marL="12700" marR="159385">
              <a:lnSpc>
                <a:spcPct val="100000"/>
              </a:lnSpc>
              <a:spcBef>
                <a:spcPts val="475"/>
              </a:spcBef>
            </a:pPr>
            <a:r>
              <a:rPr sz="900" dirty="0">
                <a:latin typeface="Calibri"/>
                <a:cs typeface="Calibri"/>
              </a:rPr>
              <a:t>261831 </a:t>
            </a:r>
            <a:r>
              <a:rPr sz="900" spc="-10" dirty="0">
                <a:latin typeface="Calibri"/>
                <a:cs typeface="Calibri"/>
              </a:rPr>
              <a:t>doublons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35" dirty="0">
                <a:latin typeface="Calibri"/>
                <a:cs typeface="Calibri"/>
              </a:rPr>
              <a:t>et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retrait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des</a:t>
            </a:r>
            <a:r>
              <a:rPr sz="900" spc="-10" dirty="0">
                <a:latin typeface="Calibri"/>
                <a:cs typeface="Calibri"/>
              </a:rPr>
              <a:t> accents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11250" y="2022628"/>
            <a:ext cx="9886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/>
                <a:cs typeface="Calibri"/>
              </a:rPr>
              <a:t>Suppression </a:t>
            </a:r>
            <a:r>
              <a:rPr sz="900" dirty="0">
                <a:latin typeface="Calibri"/>
                <a:cs typeface="Calibri"/>
              </a:rPr>
              <a:t>de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3420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commandes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16075" y="1975620"/>
            <a:ext cx="9620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Moins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5%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pour </a:t>
            </a:r>
            <a:r>
              <a:rPr sz="1000" spc="-10" dirty="0">
                <a:latin typeface="Calibri"/>
                <a:cs typeface="Calibri"/>
              </a:rPr>
              <a:t>orders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et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90%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35" dirty="0">
                <a:latin typeface="Calibri"/>
                <a:cs typeface="Calibri"/>
              </a:rPr>
              <a:t>et</a:t>
            </a:r>
            <a:r>
              <a:rPr sz="1000" dirty="0">
                <a:latin typeface="Calibri"/>
                <a:cs typeface="Calibri"/>
              </a:rPr>
              <a:t> 60%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dans </a:t>
            </a:r>
            <a:r>
              <a:rPr sz="1000" spc="-10" dirty="0">
                <a:latin typeface="Calibri"/>
                <a:cs typeface="Calibri"/>
              </a:rPr>
              <a:t>orders_review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sur</a:t>
            </a:r>
            <a:r>
              <a:rPr sz="1000" dirty="0">
                <a:latin typeface="Calibri"/>
                <a:cs typeface="Calibri"/>
              </a:rPr>
              <a:t> les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commentaires </a:t>
            </a:r>
            <a:r>
              <a:rPr sz="1000" dirty="0">
                <a:latin typeface="Calibri"/>
                <a:cs typeface="Calibri"/>
              </a:rPr>
              <a:t>et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leur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titre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2175" y="1048374"/>
              <a:ext cx="2553249" cy="29541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088174" y="1128250"/>
              <a:ext cx="2290445" cy="1374140"/>
            </a:xfrm>
            <a:custGeom>
              <a:avLst/>
              <a:gdLst/>
              <a:ahLst/>
              <a:cxnLst/>
              <a:rect l="l" t="t" r="r" b="b"/>
              <a:pathLst>
                <a:path w="2290445" h="1374139">
                  <a:moveTo>
                    <a:pt x="577476" y="1373699"/>
                  </a:moveTo>
                  <a:lnTo>
                    <a:pt x="0" y="686849"/>
                  </a:lnTo>
                  <a:lnTo>
                    <a:pt x="577476" y="0"/>
                  </a:lnTo>
                  <a:lnTo>
                    <a:pt x="577476" y="251270"/>
                  </a:lnTo>
                  <a:lnTo>
                    <a:pt x="2289899" y="251270"/>
                  </a:lnTo>
                  <a:lnTo>
                    <a:pt x="2289899" y="1122429"/>
                  </a:lnTo>
                  <a:lnTo>
                    <a:pt x="577476" y="1122429"/>
                  </a:lnTo>
                  <a:lnTo>
                    <a:pt x="577476" y="13736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88174" y="1128250"/>
              <a:ext cx="2290445" cy="1374140"/>
            </a:xfrm>
            <a:custGeom>
              <a:avLst/>
              <a:gdLst/>
              <a:ahLst/>
              <a:cxnLst/>
              <a:rect l="l" t="t" r="r" b="b"/>
              <a:pathLst>
                <a:path w="2290445" h="1374139">
                  <a:moveTo>
                    <a:pt x="0" y="686849"/>
                  </a:moveTo>
                  <a:lnTo>
                    <a:pt x="577476" y="0"/>
                  </a:lnTo>
                  <a:lnTo>
                    <a:pt x="577476" y="251270"/>
                  </a:lnTo>
                  <a:lnTo>
                    <a:pt x="2289899" y="251270"/>
                  </a:lnTo>
                  <a:lnTo>
                    <a:pt x="2289899" y="1122429"/>
                  </a:lnTo>
                  <a:lnTo>
                    <a:pt x="577476" y="1122429"/>
                  </a:lnTo>
                  <a:lnTo>
                    <a:pt x="577476" y="1373699"/>
                  </a:lnTo>
                  <a:lnTo>
                    <a:pt x="0" y="686849"/>
                  </a:lnTo>
                  <a:close/>
                </a:path>
              </a:pathLst>
            </a:custGeom>
            <a:ln w="9524">
              <a:solidFill>
                <a:srgbClr val="AE7A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4878" rIns="0" bIns="0" rtlCol="0">
            <a:spAutoFit/>
          </a:bodyPr>
          <a:lstStyle/>
          <a:p>
            <a:pPr marL="353060">
              <a:lnSpc>
                <a:spcPct val="100000"/>
              </a:lnSpc>
              <a:spcBef>
                <a:spcPts val="100"/>
              </a:spcBef>
            </a:pPr>
            <a:r>
              <a:rPr sz="3000" b="1" spc="-35" dirty="0">
                <a:latin typeface="Arial"/>
                <a:cs typeface="Arial"/>
              </a:rPr>
              <a:t>Analyse</a:t>
            </a:r>
            <a:r>
              <a:rPr sz="3000" b="1" spc="-3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de</a:t>
            </a:r>
            <a:r>
              <a:rPr sz="3000" b="1" spc="-3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la</a:t>
            </a:r>
            <a:r>
              <a:rPr sz="3000" b="1" spc="-25" dirty="0">
                <a:latin typeface="Arial"/>
                <a:cs typeface="Arial"/>
              </a:rPr>
              <a:t> </a:t>
            </a:r>
            <a:r>
              <a:rPr sz="3000" b="1" spc="-114" dirty="0">
                <a:latin typeface="Arial"/>
                <a:cs typeface="Arial"/>
              </a:rPr>
              <a:t>récence</a:t>
            </a:r>
            <a:r>
              <a:rPr sz="3000" b="1" spc="-3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et</a:t>
            </a:r>
            <a:r>
              <a:rPr sz="3000" b="1" spc="-25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la</a:t>
            </a:r>
            <a:r>
              <a:rPr sz="3000" b="1" spc="-30" dirty="0">
                <a:latin typeface="Arial"/>
                <a:cs typeface="Arial"/>
              </a:rPr>
              <a:t> </a:t>
            </a:r>
            <a:r>
              <a:rPr sz="3000" b="1" spc="-35" dirty="0">
                <a:latin typeface="Arial"/>
                <a:cs typeface="Arial"/>
              </a:rPr>
              <a:t>fréquence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22812" y="2883187"/>
            <a:ext cx="4921250" cy="1967864"/>
            <a:chOff x="4222812" y="2883187"/>
            <a:chExt cx="4921250" cy="1967864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7424" y="3049100"/>
              <a:ext cx="116575" cy="18013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27574" y="2887950"/>
              <a:ext cx="1947545" cy="1214120"/>
            </a:xfrm>
            <a:custGeom>
              <a:avLst/>
              <a:gdLst/>
              <a:ahLst/>
              <a:cxnLst/>
              <a:rect l="l" t="t" r="r" b="b"/>
              <a:pathLst>
                <a:path w="1947545" h="1214120">
                  <a:moveTo>
                    <a:pt x="1051819" y="1213799"/>
                  </a:moveTo>
                  <a:lnTo>
                    <a:pt x="1051819" y="991777"/>
                  </a:lnTo>
                  <a:lnTo>
                    <a:pt x="0" y="991777"/>
                  </a:lnTo>
                  <a:lnTo>
                    <a:pt x="0" y="222022"/>
                  </a:lnTo>
                  <a:lnTo>
                    <a:pt x="1051819" y="222022"/>
                  </a:lnTo>
                  <a:lnTo>
                    <a:pt x="1051819" y="0"/>
                  </a:lnTo>
                  <a:lnTo>
                    <a:pt x="1947299" y="606899"/>
                  </a:lnTo>
                  <a:lnTo>
                    <a:pt x="1051819" y="12137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27574" y="2887950"/>
              <a:ext cx="1947545" cy="1214120"/>
            </a:xfrm>
            <a:custGeom>
              <a:avLst/>
              <a:gdLst/>
              <a:ahLst/>
              <a:cxnLst/>
              <a:rect l="l" t="t" r="r" b="b"/>
              <a:pathLst>
                <a:path w="1947545" h="1214120">
                  <a:moveTo>
                    <a:pt x="1947299" y="606899"/>
                  </a:moveTo>
                  <a:lnTo>
                    <a:pt x="1051819" y="1213799"/>
                  </a:lnTo>
                  <a:lnTo>
                    <a:pt x="1051819" y="991777"/>
                  </a:lnTo>
                  <a:lnTo>
                    <a:pt x="0" y="991777"/>
                  </a:lnTo>
                  <a:lnTo>
                    <a:pt x="0" y="222022"/>
                  </a:lnTo>
                  <a:lnTo>
                    <a:pt x="1051819" y="222022"/>
                  </a:lnTo>
                  <a:lnTo>
                    <a:pt x="1051819" y="0"/>
                  </a:lnTo>
                  <a:lnTo>
                    <a:pt x="1947299" y="606899"/>
                  </a:lnTo>
                  <a:close/>
                </a:path>
              </a:pathLst>
            </a:custGeom>
            <a:ln w="9524">
              <a:solidFill>
                <a:srgbClr val="AE7A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86196" y="1443195"/>
            <a:ext cx="1777364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17500" algn="l"/>
              </a:tabLst>
            </a:pPr>
            <a:r>
              <a:rPr sz="1000" b="1" spc="-30" dirty="0">
                <a:latin typeface="Arial"/>
                <a:cs typeface="Arial"/>
              </a:rPr>
              <a:t>Constante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augmentation</a:t>
            </a:r>
            <a:endParaRPr sz="1000">
              <a:latin typeface="Arial"/>
              <a:cs typeface="Arial"/>
            </a:endParaRPr>
          </a:p>
          <a:p>
            <a:pPr marL="317500" marR="247650" indent="-305435">
              <a:lnSpc>
                <a:spcPct val="100000"/>
              </a:lnSpc>
              <a:buFont typeface="Arial MT"/>
              <a:buChar char="●"/>
              <a:tabLst>
                <a:tab pos="317500" algn="l"/>
              </a:tabLst>
            </a:pPr>
            <a:r>
              <a:rPr sz="1000" b="1" spc="-45" dirty="0">
                <a:latin typeface="Arial"/>
                <a:cs typeface="Arial"/>
              </a:rPr>
              <a:t>Cycle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avec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pic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de </a:t>
            </a:r>
            <a:r>
              <a:rPr sz="1000" b="1" spc="-40" dirty="0">
                <a:latin typeface="Arial"/>
                <a:cs typeface="Arial"/>
              </a:rPr>
              <a:t>commandes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en </a:t>
            </a:r>
            <a:r>
              <a:rPr sz="1000" b="1" spc="-20" dirty="0">
                <a:latin typeface="Arial"/>
                <a:cs typeface="Arial"/>
              </a:rPr>
              <a:t>novembre-</a:t>
            </a:r>
            <a:r>
              <a:rPr sz="1000" b="1" spc="-35" dirty="0">
                <a:latin typeface="Arial"/>
                <a:cs typeface="Arial"/>
              </a:rPr>
              <a:t>décembre</a:t>
            </a:r>
            <a:endParaRPr sz="1000">
              <a:latin typeface="Arial"/>
              <a:cs typeface="Arial"/>
            </a:endParaRPr>
          </a:p>
          <a:p>
            <a:pPr marL="317500" indent="-304800">
              <a:lnSpc>
                <a:spcPct val="100000"/>
              </a:lnSpc>
              <a:buFont typeface="Arial MT"/>
              <a:buChar char="●"/>
              <a:tabLst>
                <a:tab pos="317500" algn="l"/>
              </a:tabLst>
            </a:pPr>
            <a:r>
              <a:rPr sz="1000" b="1" spc="-55" dirty="0">
                <a:latin typeface="Arial"/>
                <a:cs typeface="Arial"/>
              </a:rPr>
              <a:t>Gros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creux</a:t>
            </a:r>
            <a:r>
              <a:rPr sz="1000" b="1" spc="-10" dirty="0">
                <a:latin typeface="Arial"/>
                <a:cs typeface="Arial"/>
              </a:rPr>
              <a:t> en septembre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5905" y="3183136"/>
            <a:ext cx="15690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marR="5080" indent="-31305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25120" algn="l"/>
              </a:tabLst>
            </a:pPr>
            <a:r>
              <a:rPr sz="1100" dirty="0">
                <a:latin typeface="Tahoma"/>
                <a:cs typeface="Tahoma"/>
              </a:rPr>
              <a:t>3%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clients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ont </a:t>
            </a:r>
            <a:r>
              <a:rPr sz="1100" dirty="0">
                <a:latin typeface="Tahoma"/>
                <a:cs typeface="Tahoma"/>
              </a:rPr>
              <a:t>passés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commandes </a:t>
            </a:r>
            <a:r>
              <a:rPr sz="1100" dirty="0">
                <a:latin typeface="Tahoma"/>
                <a:cs typeface="Tahoma"/>
              </a:rPr>
              <a:t>plus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d’une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fois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0075" y="997389"/>
            <a:ext cx="8742045" cy="3938270"/>
            <a:chOff x="190075" y="997389"/>
            <a:chExt cx="8742045" cy="393827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075" y="4457400"/>
              <a:ext cx="814075" cy="4781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07025" y="4610625"/>
              <a:ext cx="324949" cy="3249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9825" y="997389"/>
              <a:ext cx="3734749" cy="31487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1035099" y="3863199"/>
              <a:ext cx="3086735" cy="664210"/>
            </a:xfrm>
            <a:custGeom>
              <a:avLst/>
              <a:gdLst/>
              <a:ahLst/>
              <a:cxnLst/>
              <a:rect l="l" t="t" r="r" b="b"/>
              <a:pathLst>
                <a:path w="3086735" h="664210">
                  <a:moveTo>
                    <a:pt x="2975697" y="664199"/>
                  </a:moveTo>
                  <a:lnTo>
                    <a:pt x="0" y="664199"/>
                  </a:lnTo>
                  <a:lnTo>
                    <a:pt x="0" y="110702"/>
                  </a:lnTo>
                  <a:lnTo>
                    <a:pt x="8699" y="67612"/>
                  </a:lnTo>
                  <a:lnTo>
                    <a:pt x="32423" y="32423"/>
                  </a:lnTo>
                  <a:lnTo>
                    <a:pt x="67611" y="8699"/>
                  </a:lnTo>
                  <a:lnTo>
                    <a:pt x="110702" y="0"/>
                  </a:lnTo>
                  <a:lnTo>
                    <a:pt x="3086399" y="0"/>
                  </a:lnTo>
                  <a:lnTo>
                    <a:pt x="3086399" y="553497"/>
                  </a:lnTo>
                  <a:lnTo>
                    <a:pt x="3077700" y="596587"/>
                  </a:lnTo>
                  <a:lnTo>
                    <a:pt x="3053976" y="631776"/>
                  </a:lnTo>
                  <a:lnTo>
                    <a:pt x="3018787" y="655500"/>
                  </a:lnTo>
                  <a:lnTo>
                    <a:pt x="2975697" y="6641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5074" y="3863199"/>
              <a:ext cx="3086735" cy="664210"/>
            </a:xfrm>
            <a:custGeom>
              <a:avLst/>
              <a:gdLst/>
              <a:ahLst/>
              <a:cxnLst/>
              <a:rect l="l" t="t" r="r" b="b"/>
              <a:pathLst>
                <a:path w="3086735" h="664210">
                  <a:moveTo>
                    <a:pt x="110727" y="0"/>
                  </a:moveTo>
                  <a:lnTo>
                    <a:pt x="3086425" y="0"/>
                  </a:lnTo>
                  <a:lnTo>
                    <a:pt x="3086425" y="553497"/>
                  </a:lnTo>
                  <a:lnTo>
                    <a:pt x="3077726" y="596587"/>
                  </a:lnTo>
                  <a:lnTo>
                    <a:pt x="3054001" y="631776"/>
                  </a:lnTo>
                  <a:lnTo>
                    <a:pt x="3018813" y="655500"/>
                  </a:lnTo>
                  <a:lnTo>
                    <a:pt x="2975723" y="664199"/>
                  </a:lnTo>
                  <a:lnTo>
                    <a:pt x="25" y="664199"/>
                  </a:lnTo>
                  <a:lnTo>
                    <a:pt x="25" y="110702"/>
                  </a:lnTo>
                  <a:lnTo>
                    <a:pt x="8725" y="67612"/>
                  </a:lnTo>
                  <a:lnTo>
                    <a:pt x="32449" y="32423"/>
                  </a:lnTo>
                  <a:lnTo>
                    <a:pt x="67637" y="8699"/>
                  </a:lnTo>
                  <a:lnTo>
                    <a:pt x="110727" y="0"/>
                  </a:lnTo>
                  <a:close/>
                </a:path>
              </a:pathLst>
            </a:custGeom>
            <a:ln w="9524">
              <a:solidFill>
                <a:srgbClr val="233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91299" y="3723225"/>
              <a:ext cx="3444875" cy="833119"/>
            </a:xfrm>
            <a:custGeom>
              <a:avLst/>
              <a:gdLst/>
              <a:ahLst/>
              <a:cxnLst/>
              <a:rect l="l" t="t" r="r" b="b"/>
              <a:pathLst>
                <a:path w="3444875" h="833120">
                  <a:moveTo>
                    <a:pt x="3305796" y="832799"/>
                  </a:moveTo>
                  <a:lnTo>
                    <a:pt x="0" y="832799"/>
                  </a:lnTo>
                  <a:lnTo>
                    <a:pt x="0" y="138802"/>
                  </a:lnTo>
                  <a:lnTo>
                    <a:pt x="7076" y="94930"/>
                  </a:lnTo>
                  <a:lnTo>
                    <a:pt x="26780" y="56827"/>
                  </a:lnTo>
                  <a:lnTo>
                    <a:pt x="56827" y="26780"/>
                  </a:lnTo>
                  <a:lnTo>
                    <a:pt x="94930" y="7076"/>
                  </a:lnTo>
                  <a:lnTo>
                    <a:pt x="138802" y="0"/>
                  </a:lnTo>
                  <a:lnTo>
                    <a:pt x="3444599" y="0"/>
                  </a:lnTo>
                  <a:lnTo>
                    <a:pt x="3444599" y="693997"/>
                  </a:lnTo>
                  <a:lnTo>
                    <a:pt x="3437523" y="737869"/>
                  </a:lnTo>
                  <a:lnTo>
                    <a:pt x="3417819" y="775972"/>
                  </a:lnTo>
                  <a:lnTo>
                    <a:pt x="3387772" y="806019"/>
                  </a:lnTo>
                  <a:lnTo>
                    <a:pt x="3349669" y="825723"/>
                  </a:lnTo>
                  <a:lnTo>
                    <a:pt x="3305796" y="8327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91271" y="3723225"/>
              <a:ext cx="3444875" cy="833119"/>
            </a:xfrm>
            <a:custGeom>
              <a:avLst/>
              <a:gdLst/>
              <a:ahLst/>
              <a:cxnLst/>
              <a:rect l="l" t="t" r="r" b="b"/>
              <a:pathLst>
                <a:path w="3444875" h="833120">
                  <a:moveTo>
                    <a:pt x="138831" y="0"/>
                  </a:moveTo>
                  <a:lnTo>
                    <a:pt x="3444628" y="0"/>
                  </a:lnTo>
                  <a:lnTo>
                    <a:pt x="3444628" y="693997"/>
                  </a:lnTo>
                  <a:lnTo>
                    <a:pt x="3437552" y="737869"/>
                  </a:lnTo>
                  <a:lnTo>
                    <a:pt x="3417847" y="775972"/>
                  </a:lnTo>
                  <a:lnTo>
                    <a:pt x="3387800" y="806019"/>
                  </a:lnTo>
                  <a:lnTo>
                    <a:pt x="3349698" y="825723"/>
                  </a:lnTo>
                  <a:lnTo>
                    <a:pt x="3305825" y="832799"/>
                  </a:lnTo>
                  <a:lnTo>
                    <a:pt x="28" y="832799"/>
                  </a:lnTo>
                  <a:lnTo>
                    <a:pt x="28" y="138802"/>
                  </a:lnTo>
                  <a:lnTo>
                    <a:pt x="7104" y="94930"/>
                  </a:lnTo>
                  <a:lnTo>
                    <a:pt x="26809" y="56827"/>
                  </a:lnTo>
                  <a:lnTo>
                    <a:pt x="56856" y="26780"/>
                  </a:lnTo>
                  <a:lnTo>
                    <a:pt x="94958" y="7076"/>
                  </a:lnTo>
                  <a:lnTo>
                    <a:pt x="138831" y="0"/>
                  </a:lnTo>
                  <a:close/>
                </a:path>
              </a:pathLst>
            </a:custGeom>
            <a:ln w="9524">
              <a:solidFill>
                <a:srgbClr val="233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8302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Analyse</a:t>
            </a:r>
            <a:r>
              <a:rPr spc="-155" dirty="0"/>
              <a:t> </a:t>
            </a:r>
            <a:r>
              <a:rPr spc="-130" dirty="0"/>
              <a:t>monétaire</a:t>
            </a:r>
            <a:r>
              <a:rPr spc="-150" dirty="0"/>
              <a:t> </a:t>
            </a:r>
            <a:r>
              <a:rPr spc="-80" dirty="0"/>
              <a:t>et</a:t>
            </a:r>
            <a:r>
              <a:rPr spc="-150" dirty="0"/>
              <a:t> </a:t>
            </a:r>
            <a:r>
              <a:rPr spc="-80" dirty="0"/>
              <a:t>analyse</a:t>
            </a:r>
            <a:r>
              <a:rPr spc="-150" dirty="0"/>
              <a:t> </a:t>
            </a:r>
            <a:r>
              <a:rPr spc="-105" dirty="0"/>
              <a:t>de</a:t>
            </a:r>
            <a:r>
              <a:rPr spc="-150" dirty="0"/>
              <a:t> </a:t>
            </a:r>
            <a:r>
              <a:rPr dirty="0"/>
              <a:t>la</a:t>
            </a:r>
            <a:r>
              <a:rPr spc="-150" dirty="0"/>
              <a:t> </a:t>
            </a:r>
            <a:r>
              <a:rPr spc="-80" dirty="0"/>
              <a:t>satisfaction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90075" y="910299"/>
            <a:ext cx="8742045" cy="4025900"/>
            <a:chOff x="190075" y="910299"/>
            <a:chExt cx="8742045" cy="40259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075" y="4457400"/>
              <a:ext cx="814075" cy="4781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7025" y="4610625"/>
              <a:ext cx="324949" cy="3249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699" y="910299"/>
              <a:ext cx="3621299" cy="28634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6774" y="910299"/>
              <a:ext cx="3153650" cy="27839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77175" y="3930637"/>
            <a:ext cx="26670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latin typeface="Arial MT"/>
                <a:cs typeface="Arial MT"/>
              </a:rPr>
              <a:t>La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médiane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montants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totaux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dépensés </a:t>
            </a:r>
            <a:r>
              <a:rPr sz="1100" dirty="0">
                <a:latin typeface="Arial MT"/>
                <a:cs typeface="Arial MT"/>
              </a:rPr>
              <a:t>par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 est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 111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Reals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spc="-30" dirty="0">
                <a:latin typeface="Arial MT"/>
                <a:cs typeface="Arial MT"/>
              </a:rPr>
              <a:t>Le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max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atteint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16000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Reals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environ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1600" y="3761137"/>
            <a:ext cx="30753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312420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58% </a:t>
            </a:r>
            <a:r>
              <a:rPr sz="1100" spc="-10" dirty="0">
                <a:latin typeface="Arial MT"/>
                <a:cs typeface="Arial MT"/>
              </a:rPr>
              <a:t>des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ont noté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5</a:t>
            </a:r>
            <a:endParaRPr sz="1100">
              <a:latin typeface="Arial MT"/>
              <a:cs typeface="Arial MT"/>
            </a:endParaRPr>
          </a:p>
          <a:p>
            <a:pPr marL="469265" indent="-312420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moins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1%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noté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spc="-25" dirty="0">
                <a:latin typeface="Arial MT"/>
                <a:cs typeface="Arial MT"/>
              </a:rPr>
              <a:t>Les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sont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plutôt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satisfaits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services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Olist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6827" y="-13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C4A15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756785" y="2308860"/>
            <a:ext cx="4387215" cy="2834640"/>
            <a:chOff x="4757099" y="2309399"/>
            <a:chExt cx="4387215" cy="2834640"/>
          </a:xfrm>
        </p:grpSpPr>
        <p:sp>
          <p:nvSpPr>
            <p:cNvPr id="4" name="object 4"/>
            <p:cNvSpPr/>
            <p:nvPr/>
          </p:nvSpPr>
          <p:spPr>
            <a:xfrm>
              <a:off x="4757099" y="2309399"/>
              <a:ext cx="4387215" cy="2834640"/>
            </a:xfrm>
            <a:custGeom>
              <a:avLst/>
              <a:gdLst/>
              <a:ahLst/>
              <a:cxnLst/>
              <a:rect l="l" t="t" r="r" b="b"/>
              <a:pathLst>
                <a:path w="4387215" h="2834640">
                  <a:moveTo>
                    <a:pt x="4386899" y="2834099"/>
                  </a:moveTo>
                  <a:lnTo>
                    <a:pt x="0" y="2834099"/>
                  </a:lnTo>
                  <a:lnTo>
                    <a:pt x="4386899" y="0"/>
                  </a:lnTo>
                  <a:lnTo>
                    <a:pt x="4386899" y="283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94185" y="3961117"/>
              <a:ext cx="2910205" cy="1182370"/>
            </a:xfrm>
            <a:custGeom>
              <a:avLst/>
              <a:gdLst/>
              <a:ahLst/>
              <a:cxnLst/>
              <a:rect l="l" t="t" r="r" b="b"/>
              <a:pathLst>
                <a:path w="2910204" h="1182370">
                  <a:moveTo>
                    <a:pt x="1963762" y="0"/>
                  </a:moveTo>
                  <a:lnTo>
                    <a:pt x="1868385" y="0"/>
                  </a:lnTo>
                  <a:lnTo>
                    <a:pt x="0" y="1182344"/>
                  </a:lnTo>
                  <a:lnTo>
                    <a:pt x="95377" y="1182344"/>
                  </a:lnTo>
                  <a:lnTo>
                    <a:pt x="1963762" y="0"/>
                  </a:lnTo>
                  <a:close/>
                </a:path>
                <a:path w="2910204" h="1182370">
                  <a:moveTo>
                    <a:pt x="2436952" y="0"/>
                  </a:moveTo>
                  <a:lnTo>
                    <a:pt x="2341575" y="0"/>
                  </a:lnTo>
                  <a:lnTo>
                    <a:pt x="473189" y="1182344"/>
                  </a:lnTo>
                  <a:lnTo>
                    <a:pt x="568566" y="1182344"/>
                  </a:lnTo>
                  <a:lnTo>
                    <a:pt x="2436952" y="0"/>
                  </a:lnTo>
                  <a:close/>
                </a:path>
                <a:path w="2910204" h="1182370">
                  <a:moveTo>
                    <a:pt x="2910141" y="0"/>
                  </a:moveTo>
                  <a:lnTo>
                    <a:pt x="2814764" y="0"/>
                  </a:lnTo>
                  <a:lnTo>
                    <a:pt x="946378" y="1182344"/>
                  </a:lnTo>
                  <a:lnTo>
                    <a:pt x="1041768" y="1182344"/>
                  </a:lnTo>
                  <a:lnTo>
                    <a:pt x="2910141" y="0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99148" y="12"/>
            <a:ext cx="2795905" cy="1083310"/>
          </a:xfrm>
          <a:custGeom>
            <a:avLst/>
            <a:gdLst/>
            <a:ahLst/>
            <a:cxnLst/>
            <a:rect l="l" t="t" r="r" b="b"/>
            <a:pathLst>
              <a:path w="2795905" h="1083310">
                <a:moveTo>
                  <a:pt x="1886331" y="0"/>
                </a:moveTo>
                <a:lnTo>
                  <a:pt x="1711883" y="0"/>
                </a:lnTo>
                <a:lnTo>
                  <a:pt x="0" y="1083310"/>
                </a:lnTo>
                <a:lnTo>
                  <a:pt x="174447" y="1083310"/>
                </a:lnTo>
                <a:lnTo>
                  <a:pt x="1886331" y="0"/>
                </a:lnTo>
                <a:close/>
              </a:path>
              <a:path w="2795905" h="1083310">
                <a:moveTo>
                  <a:pt x="2340876" y="0"/>
                </a:moveTo>
                <a:lnTo>
                  <a:pt x="2166416" y="0"/>
                </a:lnTo>
                <a:lnTo>
                  <a:pt x="454533" y="1083310"/>
                </a:lnTo>
                <a:lnTo>
                  <a:pt x="628980" y="1083310"/>
                </a:lnTo>
                <a:lnTo>
                  <a:pt x="2340876" y="0"/>
                </a:lnTo>
                <a:close/>
              </a:path>
              <a:path w="2795905" h="1083310">
                <a:moveTo>
                  <a:pt x="2795409" y="0"/>
                </a:moveTo>
                <a:lnTo>
                  <a:pt x="2620949" y="0"/>
                </a:lnTo>
                <a:lnTo>
                  <a:pt x="909066" y="1083310"/>
                </a:lnTo>
                <a:lnTo>
                  <a:pt x="1083525" y="1083310"/>
                </a:lnTo>
                <a:lnTo>
                  <a:pt x="2795409" y="0"/>
                </a:lnTo>
                <a:close/>
              </a:path>
            </a:pathLst>
          </a:custGeom>
          <a:solidFill>
            <a:srgbClr val="233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1147" rIns="0" bIns="0" rtlCol="0">
            <a:spAutoFit/>
          </a:bodyPr>
          <a:lstStyle/>
          <a:p>
            <a:pPr marL="2219960">
              <a:lnSpc>
                <a:spcPct val="100000"/>
              </a:lnSpc>
              <a:spcBef>
                <a:spcPts val="100"/>
              </a:spcBef>
            </a:pPr>
            <a:r>
              <a:rPr sz="3200" b="1" spc="-150" dirty="0">
                <a:solidFill>
                  <a:srgbClr val="233944"/>
                </a:solidFill>
                <a:latin typeface="Arial"/>
                <a:cs typeface="Arial"/>
              </a:rPr>
              <a:t>Processus</a:t>
            </a:r>
            <a:r>
              <a:rPr sz="3200" b="1" spc="-75" dirty="0">
                <a:solidFill>
                  <a:srgbClr val="233944"/>
                </a:solidFill>
                <a:latin typeface="Arial"/>
                <a:cs typeface="Arial"/>
              </a:rPr>
              <a:t> </a:t>
            </a:r>
            <a:r>
              <a:rPr sz="3200" b="1" spc="-30" dirty="0">
                <a:solidFill>
                  <a:srgbClr val="233944"/>
                </a:solidFill>
                <a:latin typeface="Arial"/>
                <a:cs typeface="Arial"/>
              </a:rPr>
              <a:t>pour</a:t>
            </a:r>
            <a:r>
              <a:rPr sz="3200" b="1" spc="-75" dirty="0">
                <a:solidFill>
                  <a:srgbClr val="233944"/>
                </a:solidFill>
                <a:latin typeface="Arial"/>
                <a:cs typeface="Arial"/>
              </a:rPr>
              <a:t> </a:t>
            </a:r>
            <a:r>
              <a:rPr sz="3200" b="1" spc="50" dirty="0">
                <a:solidFill>
                  <a:srgbClr val="233944"/>
                </a:solidFill>
                <a:latin typeface="Arial"/>
                <a:cs typeface="Arial"/>
              </a:rPr>
              <a:t>la</a:t>
            </a:r>
            <a:r>
              <a:rPr sz="3200" b="1" spc="-75" dirty="0">
                <a:solidFill>
                  <a:srgbClr val="233944"/>
                </a:solidFill>
                <a:latin typeface="Arial"/>
                <a:cs typeface="Arial"/>
              </a:rPr>
              <a:t> </a:t>
            </a:r>
            <a:r>
              <a:rPr sz="3200" b="1" spc="-20" dirty="0">
                <a:solidFill>
                  <a:srgbClr val="233944"/>
                </a:solidFill>
                <a:latin typeface="Arial"/>
                <a:cs typeface="Arial"/>
              </a:rPr>
              <a:t>segmentation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075" y="4457400"/>
            <a:ext cx="814075" cy="4781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7025" y="4610625"/>
            <a:ext cx="324949" cy="32494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177550" y="3083032"/>
            <a:ext cx="1713230" cy="1337310"/>
          </a:xfrm>
          <a:custGeom>
            <a:avLst/>
            <a:gdLst/>
            <a:ahLst/>
            <a:cxnLst/>
            <a:rect l="l" t="t" r="r" b="b"/>
            <a:pathLst>
              <a:path w="1713229" h="1337310">
                <a:moveTo>
                  <a:pt x="1652725" y="1337215"/>
                </a:moveTo>
                <a:lnTo>
                  <a:pt x="59973" y="1337215"/>
                </a:lnTo>
                <a:lnTo>
                  <a:pt x="36629" y="1332502"/>
                </a:lnTo>
                <a:lnTo>
                  <a:pt x="17566" y="1319649"/>
                </a:lnTo>
                <a:lnTo>
                  <a:pt x="4713" y="1300585"/>
                </a:lnTo>
                <a:lnTo>
                  <a:pt x="0" y="1277240"/>
                </a:lnTo>
                <a:lnTo>
                  <a:pt x="0" y="59973"/>
                </a:lnTo>
                <a:lnTo>
                  <a:pt x="4713" y="36629"/>
                </a:lnTo>
                <a:lnTo>
                  <a:pt x="17566" y="17565"/>
                </a:lnTo>
                <a:lnTo>
                  <a:pt x="36629" y="4713"/>
                </a:lnTo>
                <a:lnTo>
                  <a:pt x="59973" y="0"/>
                </a:lnTo>
                <a:lnTo>
                  <a:pt x="1652725" y="0"/>
                </a:lnTo>
                <a:lnTo>
                  <a:pt x="1695133" y="17565"/>
                </a:lnTo>
                <a:lnTo>
                  <a:pt x="1712699" y="59973"/>
                </a:lnTo>
                <a:lnTo>
                  <a:pt x="1712699" y="1277240"/>
                </a:lnTo>
                <a:lnTo>
                  <a:pt x="1707986" y="1300585"/>
                </a:lnTo>
                <a:lnTo>
                  <a:pt x="1695133" y="1319649"/>
                </a:lnTo>
                <a:lnTo>
                  <a:pt x="1676070" y="1332502"/>
                </a:lnTo>
                <a:lnTo>
                  <a:pt x="1652725" y="1337215"/>
                </a:lnTo>
                <a:close/>
              </a:path>
            </a:pathLst>
          </a:custGeom>
          <a:solidFill>
            <a:srgbClr val="163E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85821" y="2402136"/>
            <a:ext cx="7891946" cy="534035"/>
            <a:chOff x="947254" y="2333617"/>
            <a:chExt cx="7245350" cy="534035"/>
          </a:xfrm>
        </p:grpSpPr>
        <p:sp>
          <p:nvSpPr>
            <p:cNvPr id="12" name="object 12"/>
            <p:cNvSpPr/>
            <p:nvPr/>
          </p:nvSpPr>
          <p:spPr>
            <a:xfrm>
              <a:off x="5058359" y="2405925"/>
              <a:ext cx="3133725" cy="358140"/>
            </a:xfrm>
            <a:custGeom>
              <a:avLst/>
              <a:gdLst/>
              <a:ahLst/>
              <a:cxnLst/>
              <a:rect l="l" t="t" r="r" b="b"/>
              <a:pathLst>
                <a:path w="3133725" h="358139">
                  <a:moveTo>
                    <a:pt x="3133610" y="33185"/>
                  </a:moveTo>
                  <a:lnTo>
                    <a:pt x="3111868" y="838"/>
                  </a:lnTo>
                  <a:lnTo>
                    <a:pt x="3103930" y="0"/>
                  </a:lnTo>
                  <a:lnTo>
                    <a:pt x="2080806" y="301409"/>
                  </a:lnTo>
                  <a:lnTo>
                    <a:pt x="2080120" y="301777"/>
                  </a:lnTo>
                  <a:lnTo>
                    <a:pt x="2079447" y="301409"/>
                  </a:lnTo>
                  <a:lnTo>
                    <a:pt x="1056322" y="0"/>
                  </a:lnTo>
                  <a:lnTo>
                    <a:pt x="1049997" y="673"/>
                  </a:lnTo>
                  <a:lnTo>
                    <a:pt x="1043673" y="0"/>
                  </a:lnTo>
                  <a:lnTo>
                    <a:pt x="20548" y="301409"/>
                  </a:lnTo>
                  <a:lnTo>
                    <a:pt x="10388" y="306768"/>
                  </a:lnTo>
                  <a:lnTo>
                    <a:pt x="3327" y="315315"/>
                  </a:lnTo>
                  <a:lnTo>
                    <a:pt x="0" y="325894"/>
                  </a:lnTo>
                  <a:lnTo>
                    <a:pt x="1028" y="337337"/>
                  </a:lnTo>
                  <a:lnTo>
                    <a:pt x="6413" y="347497"/>
                  </a:lnTo>
                  <a:lnTo>
                    <a:pt x="14986" y="354558"/>
                  </a:lnTo>
                  <a:lnTo>
                    <a:pt x="25590" y="357911"/>
                  </a:lnTo>
                  <a:lnTo>
                    <a:pt x="37045" y="356908"/>
                  </a:lnTo>
                  <a:lnTo>
                    <a:pt x="1049997" y="58508"/>
                  </a:lnTo>
                  <a:lnTo>
                    <a:pt x="2062949" y="356908"/>
                  </a:lnTo>
                  <a:lnTo>
                    <a:pt x="2074405" y="357911"/>
                  </a:lnTo>
                  <a:lnTo>
                    <a:pt x="2080120" y="356108"/>
                  </a:lnTo>
                  <a:lnTo>
                    <a:pt x="2085848" y="357911"/>
                  </a:lnTo>
                  <a:lnTo>
                    <a:pt x="2097303" y="356908"/>
                  </a:lnTo>
                  <a:lnTo>
                    <a:pt x="3113062" y="57670"/>
                  </a:lnTo>
                  <a:lnTo>
                    <a:pt x="3123222" y="52298"/>
                  </a:lnTo>
                  <a:lnTo>
                    <a:pt x="3130283" y="43751"/>
                  </a:lnTo>
                  <a:lnTo>
                    <a:pt x="3133610" y="3318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05188" y="2405925"/>
              <a:ext cx="2096135" cy="358140"/>
            </a:xfrm>
            <a:custGeom>
              <a:avLst/>
              <a:gdLst/>
              <a:ahLst/>
              <a:cxnLst/>
              <a:rect l="l" t="t" r="r" b="b"/>
              <a:pathLst>
                <a:path w="2096135" h="358139">
                  <a:moveTo>
                    <a:pt x="2095881" y="325894"/>
                  </a:moveTo>
                  <a:lnTo>
                    <a:pt x="2092553" y="315315"/>
                  </a:lnTo>
                  <a:lnTo>
                    <a:pt x="2085492" y="306768"/>
                  </a:lnTo>
                  <a:lnTo>
                    <a:pt x="2075332" y="301409"/>
                  </a:lnTo>
                  <a:lnTo>
                    <a:pt x="1052207" y="0"/>
                  </a:lnTo>
                  <a:lnTo>
                    <a:pt x="1047940" y="457"/>
                  </a:lnTo>
                  <a:lnTo>
                    <a:pt x="1043673" y="0"/>
                  </a:lnTo>
                  <a:lnTo>
                    <a:pt x="20548" y="301409"/>
                  </a:lnTo>
                  <a:lnTo>
                    <a:pt x="10388" y="306768"/>
                  </a:lnTo>
                  <a:lnTo>
                    <a:pt x="3327" y="315315"/>
                  </a:lnTo>
                  <a:lnTo>
                    <a:pt x="0" y="325894"/>
                  </a:lnTo>
                  <a:lnTo>
                    <a:pt x="1028" y="337337"/>
                  </a:lnTo>
                  <a:lnTo>
                    <a:pt x="6426" y="347497"/>
                  </a:lnTo>
                  <a:lnTo>
                    <a:pt x="14998" y="354558"/>
                  </a:lnTo>
                  <a:lnTo>
                    <a:pt x="25590" y="357911"/>
                  </a:lnTo>
                  <a:lnTo>
                    <a:pt x="37045" y="356908"/>
                  </a:lnTo>
                  <a:lnTo>
                    <a:pt x="1047940" y="59105"/>
                  </a:lnTo>
                  <a:lnTo>
                    <a:pt x="2058835" y="356908"/>
                  </a:lnTo>
                  <a:lnTo>
                    <a:pt x="2070290" y="357911"/>
                  </a:lnTo>
                  <a:lnTo>
                    <a:pt x="2080882" y="354558"/>
                  </a:lnTo>
                  <a:lnTo>
                    <a:pt x="2089454" y="347497"/>
                  </a:lnTo>
                  <a:lnTo>
                    <a:pt x="2094852" y="337337"/>
                  </a:lnTo>
                  <a:lnTo>
                    <a:pt x="2095881" y="325894"/>
                  </a:lnTo>
                  <a:close/>
                </a:path>
              </a:pathLst>
            </a:custGeom>
            <a:solidFill>
              <a:srgbClr val="3D4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52004" y="2405925"/>
              <a:ext cx="2096135" cy="358140"/>
            </a:xfrm>
            <a:custGeom>
              <a:avLst/>
              <a:gdLst/>
              <a:ahLst/>
              <a:cxnLst/>
              <a:rect l="l" t="t" r="r" b="b"/>
              <a:pathLst>
                <a:path w="2096135" h="358139">
                  <a:moveTo>
                    <a:pt x="2095881" y="325894"/>
                  </a:moveTo>
                  <a:lnTo>
                    <a:pt x="2092553" y="315315"/>
                  </a:lnTo>
                  <a:lnTo>
                    <a:pt x="2085492" y="306768"/>
                  </a:lnTo>
                  <a:lnTo>
                    <a:pt x="2075332" y="301409"/>
                  </a:lnTo>
                  <a:lnTo>
                    <a:pt x="1052207" y="0"/>
                  </a:lnTo>
                  <a:lnTo>
                    <a:pt x="1047940" y="457"/>
                  </a:lnTo>
                  <a:lnTo>
                    <a:pt x="1043673" y="0"/>
                  </a:lnTo>
                  <a:lnTo>
                    <a:pt x="20561" y="301409"/>
                  </a:lnTo>
                  <a:lnTo>
                    <a:pt x="10388" y="306768"/>
                  </a:lnTo>
                  <a:lnTo>
                    <a:pt x="3340" y="315315"/>
                  </a:lnTo>
                  <a:lnTo>
                    <a:pt x="0" y="325894"/>
                  </a:lnTo>
                  <a:lnTo>
                    <a:pt x="1028" y="337337"/>
                  </a:lnTo>
                  <a:lnTo>
                    <a:pt x="6426" y="347497"/>
                  </a:lnTo>
                  <a:lnTo>
                    <a:pt x="14998" y="354558"/>
                  </a:lnTo>
                  <a:lnTo>
                    <a:pt x="25603" y="357911"/>
                  </a:lnTo>
                  <a:lnTo>
                    <a:pt x="37058" y="356908"/>
                  </a:lnTo>
                  <a:lnTo>
                    <a:pt x="1047940" y="59105"/>
                  </a:lnTo>
                  <a:lnTo>
                    <a:pt x="2058835" y="356908"/>
                  </a:lnTo>
                  <a:lnTo>
                    <a:pt x="2070290" y="357911"/>
                  </a:lnTo>
                  <a:lnTo>
                    <a:pt x="2080895" y="354558"/>
                  </a:lnTo>
                  <a:lnTo>
                    <a:pt x="2089467" y="347497"/>
                  </a:lnTo>
                  <a:lnTo>
                    <a:pt x="2094852" y="337337"/>
                  </a:lnTo>
                  <a:lnTo>
                    <a:pt x="2095881" y="325894"/>
                  </a:lnTo>
                  <a:close/>
                </a:path>
              </a:pathLst>
            </a:custGeom>
            <a:solidFill>
              <a:srgbClr val="163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52016" y="2405916"/>
              <a:ext cx="1073785" cy="358140"/>
            </a:xfrm>
            <a:custGeom>
              <a:avLst/>
              <a:gdLst/>
              <a:ahLst/>
              <a:cxnLst/>
              <a:rect l="l" t="t" r="r" b="b"/>
              <a:pathLst>
                <a:path w="1073785" h="358139">
                  <a:moveTo>
                    <a:pt x="1028" y="337338"/>
                  </a:moveTo>
                  <a:lnTo>
                    <a:pt x="0" y="325894"/>
                  </a:lnTo>
                  <a:lnTo>
                    <a:pt x="3329" y="315320"/>
                  </a:lnTo>
                  <a:lnTo>
                    <a:pt x="10388" y="306772"/>
                  </a:lnTo>
                  <a:lnTo>
                    <a:pt x="20549" y="301407"/>
                  </a:lnTo>
                  <a:lnTo>
                    <a:pt x="1036308" y="2169"/>
                  </a:lnTo>
                  <a:lnTo>
                    <a:pt x="1043673" y="0"/>
                  </a:lnTo>
                  <a:lnTo>
                    <a:pt x="1051606" y="842"/>
                  </a:lnTo>
                  <a:lnTo>
                    <a:pt x="1058361" y="4512"/>
                  </a:lnTo>
                  <a:lnTo>
                    <a:pt x="1065116" y="8182"/>
                  </a:lnTo>
                  <a:lnTo>
                    <a:pt x="1070140" y="14378"/>
                  </a:lnTo>
                  <a:lnTo>
                    <a:pt x="1072328" y="21738"/>
                  </a:lnTo>
                  <a:lnTo>
                    <a:pt x="1073357" y="33183"/>
                  </a:lnTo>
                  <a:lnTo>
                    <a:pt x="1070028" y="43757"/>
                  </a:lnTo>
                  <a:lnTo>
                    <a:pt x="1062969" y="52304"/>
                  </a:lnTo>
                  <a:lnTo>
                    <a:pt x="1052808" y="57669"/>
                  </a:lnTo>
                  <a:lnTo>
                    <a:pt x="37049" y="356907"/>
                  </a:lnTo>
                  <a:lnTo>
                    <a:pt x="25591" y="357911"/>
                  </a:lnTo>
                  <a:lnTo>
                    <a:pt x="14996" y="354564"/>
                  </a:lnTo>
                  <a:lnTo>
                    <a:pt x="6422" y="347497"/>
                  </a:lnTo>
                  <a:lnTo>
                    <a:pt x="1028" y="337338"/>
                  </a:lnTo>
                  <a:close/>
                </a:path>
              </a:pathLst>
            </a:custGeom>
            <a:ln w="9524">
              <a:solidFill>
                <a:srgbClr val="163E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2394" y="2624467"/>
              <a:ext cx="197422" cy="1791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5581" y="2634262"/>
              <a:ext cx="197422" cy="2332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4999" y="2333617"/>
              <a:ext cx="197422" cy="1978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43571" y="2333617"/>
              <a:ext cx="197422" cy="19780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1412" y="2333617"/>
              <a:ext cx="197422" cy="19780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35984" y="2627719"/>
              <a:ext cx="197422" cy="19780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292025" y="3080112"/>
            <a:ext cx="1395095" cy="52133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33350" marR="5080" indent="-38100">
              <a:lnSpc>
                <a:spcPct val="102299"/>
              </a:lnSpc>
              <a:spcBef>
                <a:spcPts val="70"/>
              </a:spcBef>
            </a:pP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Sélection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des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variables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pour</a:t>
            </a:r>
            <a:r>
              <a:rPr sz="1100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la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 segmentation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Ici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prendra</a:t>
            </a:r>
            <a:r>
              <a:rPr sz="1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43946" y="3575920"/>
            <a:ext cx="92519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17500" algn="l"/>
              </a:tabLst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Récence</a:t>
            </a:r>
            <a:endParaRPr sz="100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buFont typeface="Arial MT"/>
              <a:buChar char="●"/>
              <a:tabLst>
                <a:tab pos="317500" algn="l"/>
              </a:tabLst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Fréquence</a:t>
            </a:r>
            <a:endParaRPr sz="100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buFont typeface="Arial MT"/>
              <a:buChar char="●"/>
              <a:tabLst>
                <a:tab pos="317500" algn="l"/>
              </a:tabLst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Montant</a:t>
            </a:r>
            <a:endParaRPr sz="100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buFont typeface="Arial MT"/>
              <a:buChar char="●"/>
              <a:tabLst>
                <a:tab pos="317500" algn="l"/>
              </a:tabLst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Satisfaction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88890" y="3025952"/>
            <a:ext cx="90170" cy="59690"/>
          </a:xfrm>
          <a:custGeom>
            <a:avLst/>
            <a:gdLst/>
            <a:ahLst/>
            <a:cxnLst/>
            <a:rect l="l" t="t" r="r" b="b"/>
            <a:pathLst>
              <a:path w="90169" h="59689">
                <a:moveTo>
                  <a:pt x="89999" y="59602"/>
                </a:moveTo>
                <a:lnTo>
                  <a:pt x="0" y="59602"/>
                </a:lnTo>
                <a:lnTo>
                  <a:pt x="44999" y="0"/>
                </a:lnTo>
                <a:lnTo>
                  <a:pt x="89999" y="59602"/>
                </a:lnTo>
                <a:close/>
              </a:path>
            </a:pathLst>
          </a:custGeom>
          <a:solidFill>
            <a:srgbClr val="163E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27770" y="3261139"/>
            <a:ext cx="1713230" cy="859790"/>
          </a:xfrm>
          <a:custGeom>
            <a:avLst/>
            <a:gdLst/>
            <a:ahLst/>
            <a:cxnLst/>
            <a:rect l="l" t="t" r="r" b="b"/>
            <a:pathLst>
              <a:path w="1713229" h="859789">
                <a:moveTo>
                  <a:pt x="1674140" y="859747"/>
                </a:moveTo>
                <a:lnTo>
                  <a:pt x="38559" y="859747"/>
                </a:lnTo>
                <a:lnTo>
                  <a:pt x="23550" y="856717"/>
                </a:lnTo>
                <a:lnTo>
                  <a:pt x="11293" y="848453"/>
                </a:lnTo>
                <a:lnTo>
                  <a:pt x="3030" y="836197"/>
                </a:lnTo>
                <a:lnTo>
                  <a:pt x="0" y="821187"/>
                </a:lnTo>
                <a:lnTo>
                  <a:pt x="0" y="38559"/>
                </a:lnTo>
                <a:lnTo>
                  <a:pt x="3030" y="23550"/>
                </a:lnTo>
                <a:lnTo>
                  <a:pt x="11293" y="11293"/>
                </a:lnTo>
                <a:lnTo>
                  <a:pt x="23550" y="3030"/>
                </a:lnTo>
                <a:lnTo>
                  <a:pt x="38559" y="0"/>
                </a:lnTo>
                <a:lnTo>
                  <a:pt x="1674140" y="0"/>
                </a:lnTo>
                <a:lnTo>
                  <a:pt x="1709764" y="23803"/>
                </a:lnTo>
                <a:lnTo>
                  <a:pt x="1712699" y="38559"/>
                </a:lnTo>
                <a:lnTo>
                  <a:pt x="1712699" y="821187"/>
                </a:lnTo>
                <a:lnTo>
                  <a:pt x="1709669" y="836197"/>
                </a:lnTo>
                <a:lnTo>
                  <a:pt x="1701406" y="848453"/>
                </a:lnTo>
                <a:lnTo>
                  <a:pt x="1689149" y="856717"/>
                </a:lnTo>
                <a:lnTo>
                  <a:pt x="1674140" y="859747"/>
                </a:lnTo>
                <a:close/>
              </a:path>
            </a:pathLst>
          </a:custGeom>
          <a:solidFill>
            <a:srgbClr val="3D4594"/>
          </a:solidFill>
        </p:spPr>
        <p:txBody>
          <a:bodyPr wrap="square" lIns="0" tIns="0" rIns="0" bIns="0" rtlCol="0"/>
          <a:lstStyle/>
          <a:p>
            <a:pPr marL="452120" marR="5080" indent="-440055">
              <a:lnSpc>
                <a:spcPct val="117200"/>
              </a:lnSpc>
              <a:spcBef>
                <a:spcPts val="100"/>
              </a:spcBef>
            </a:pPr>
            <a:r>
              <a:rPr lang="fr-FR" sz="1050" spc="-10" dirty="0">
                <a:solidFill>
                  <a:schemeClr val="bg2"/>
                </a:solidFill>
                <a:latin typeface="Roboto"/>
                <a:cs typeface="Roboto"/>
              </a:rPr>
              <a:t>Application</a:t>
            </a:r>
            <a:r>
              <a:rPr lang="fr-FR" sz="1050" spc="25" dirty="0">
                <a:solidFill>
                  <a:schemeClr val="bg2"/>
                </a:solidFill>
                <a:latin typeface="Roboto"/>
                <a:cs typeface="Roboto"/>
              </a:rPr>
              <a:t> </a:t>
            </a:r>
            <a:r>
              <a:rPr lang="fr-FR" sz="1050" dirty="0">
                <a:solidFill>
                  <a:schemeClr val="bg2"/>
                </a:solidFill>
                <a:latin typeface="Roboto"/>
                <a:cs typeface="Roboto"/>
              </a:rPr>
              <a:t>de</a:t>
            </a:r>
            <a:r>
              <a:rPr lang="fr-FR" sz="1050" spc="30" dirty="0">
                <a:solidFill>
                  <a:schemeClr val="bg2"/>
                </a:solidFill>
                <a:latin typeface="Roboto"/>
                <a:cs typeface="Roboto"/>
              </a:rPr>
              <a:t> </a:t>
            </a:r>
            <a:r>
              <a:rPr lang="fr-FR" sz="1050" spc="-20" dirty="0">
                <a:solidFill>
                  <a:schemeClr val="bg2"/>
                </a:solidFill>
                <a:latin typeface="Roboto"/>
                <a:cs typeface="Roboto"/>
              </a:rPr>
              <a:t>l’algorithme</a:t>
            </a:r>
            <a:r>
              <a:rPr lang="fr-FR" sz="1050" spc="25" dirty="0">
                <a:solidFill>
                  <a:schemeClr val="bg2"/>
                </a:solidFill>
                <a:latin typeface="Roboto"/>
                <a:cs typeface="Roboto"/>
              </a:rPr>
              <a:t> </a:t>
            </a:r>
            <a:r>
              <a:rPr lang="fr-FR" sz="1050" spc="-50" dirty="0">
                <a:solidFill>
                  <a:schemeClr val="bg2"/>
                </a:solidFill>
                <a:latin typeface="Roboto"/>
                <a:cs typeface="Roboto"/>
              </a:rPr>
              <a:t>:</a:t>
            </a:r>
            <a:r>
              <a:rPr lang="fr-FR" sz="1050" spc="500" dirty="0">
                <a:solidFill>
                  <a:schemeClr val="bg2"/>
                </a:solidFill>
                <a:latin typeface="Roboto"/>
                <a:cs typeface="Roboto"/>
              </a:rPr>
              <a:t> </a:t>
            </a:r>
            <a:r>
              <a:rPr lang="fr-FR" sz="1050" spc="-10" dirty="0" err="1">
                <a:solidFill>
                  <a:schemeClr val="bg2"/>
                </a:solidFill>
                <a:latin typeface="Roboto"/>
                <a:cs typeface="Roboto"/>
              </a:rPr>
              <a:t>Kmeans</a:t>
            </a:r>
            <a:endParaRPr lang="fr-FR" sz="1050" dirty="0">
              <a:solidFill>
                <a:schemeClr val="bg2"/>
              </a:solidFill>
              <a:latin typeface="Roboto"/>
              <a:cs typeface="Roboto"/>
            </a:endParaRPr>
          </a:p>
          <a:p>
            <a:pPr marL="68580" marR="59690" indent="397510">
              <a:lnSpc>
                <a:spcPct val="117200"/>
              </a:lnSpc>
            </a:pPr>
            <a:r>
              <a:rPr lang="fr-FR" sz="1050" spc="-10" dirty="0" err="1">
                <a:solidFill>
                  <a:schemeClr val="bg2"/>
                </a:solidFill>
                <a:latin typeface="Roboto"/>
                <a:cs typeface="Roboto"/>
              </a:rPr>
              <a:t>Dbscan</a:t>
            </a:r>
            <a:r>
              <a:rPr lang="fr-FR" sz="1050" spc="500" dirty="0">
                <a:solidFill>
                  <a:schemeClr val="bg2"/>
                </a:solidFill>
                <a:latin typeface="Roboto"/>
                <a:cs typeface="Roboto"/>
              </a:rPr>
              <a:t> </a:t>
            </a:r>
            <a:r>
              <a:rPr lang="fr-FR" sz="1050" spc="-10" dirty="0" err="1">
                <a:solidFill>
                  <a:schemeClr val="bg2"/>
                </a:solidFill>
                <a:latin typeface="Roboto"/>
                <a:cs typeface="Roboto"/>
              </a:rPr>
              <a:t>Agglomerative</a:t>
            </a:r>
            <a:r>
              <a:rPr lang="fr-FR" sz="1050" dirty="0">
                <a:solidFill>
                  <a:schemeClr val="bg2"/>
                </a:solidFill>
                <a:latin typeface="Roboto"/>
                <a:cs typeface="Roboto"/>
              </a:rPr>
              <a:t> </a:t>
            </a:r>
            <a:r>
              <a:rPr lang="fr-FR" sz="1050" spc="-10" dirty="0">
                <a:solidFill>
                  <a:schemeClr val="bg2"/>
                </a:solidFill>
                <a:latin typeface="Roboto"/>
                <a:cs typeface="Roboto"/>
              </a:rPr>
              <a:t>Clustering</a:t>
            </a:r>
            <a:endParaRPr lang="fr-FR" sz="1050" dirty="0">
              <a:solidFill>
                <a:schemeClr val="bg2"/>
              </a:solidFill>
              <a:latin typeface="Roboto"/>
              <a:cs typeface="Roboto"/>
            </a:endParaRPr>
          </a:p>
          <a:p>
            <a:pPr marL="452120" marR="5080" indent="-440055">
              <a:lnSpc>
                <a:spcPct val="117200"/>
              </a:lnSpc>
              <a:spcBef>
                <a:spcPts val="100"/>
              </a:spcBef>
            </a:pPr>
            <a:endParaRPr lang="fr-FR" sz="1800" dirty="0">
              <a:latin typeface="Roboto"/>
              <a:cs typeface="Robot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39300" y="3182615"/>
            <a:ext cx="90170" cy="82550"/>
          </a:xfrm>
          <a:custGeom>
            <a:avLst/>
            <a:gdLst/>
            <a:ahLst/>
            <a:cxnLst/>
            <a:rect l="l" t="t" r="r" b="b"/>
            <a:pathLst>
              <a:path w="90170" h="82550">
                <a:moveTo>
                  <a:pt x="89999" y="82491"/>
                </a:moveTo>
                <a:lnTo>
                  <a:pt x="0" y="82491"/>
                </a:lnTo>
                <a:lnTo>
                  <a:pt x="44999" y="0"/>
                </a:lnTo>
                <a:lnTo>
                  <a:pt x="89999" y="82491"/>
                </a:lnTo>
                <a:close/>
              </a:path>
            </a:pathLst>
          </a:custGeom>
          <a:solidFill>
            <a:srgbClr val="3D45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40193" y="1295463"/>
            <a:ext cx="1713230" cy="767080"/>
          </a:xfrm>
          <a:custGeom>
            <a:avLst/>
            <a:gdLst/>
            <a:ahLst/>
            <a:cxnLst/>
            <a:rect l="l" t="t" r="r" b="b"/>
            <a:pathLst>
              <a:path w="1713230" h="767080">
                <a:moveTo>
                  <a:pt x="1712696" y="23177"/>
                </a:moveTo>
                <a:lnTo>
                  <a:pt x="1709369" y="15163"/>
                </a:lnTo>
                <a:lnTo>
                  <a:pt x="1697532" y="3327"/>
                </a:lnTo>
                <a:lnTo>
                  <a:pt x="1689506" y="0"/>
                </a:lnTo>
                <a:lnTo>
                  <a:pt x="31546" y="0"/>
                </a:lnTo>
                <a:lnTo>
                  <a:pt x="19265" y="2476"/>
                </a:lnTo>
                <a:lnTo>
                  <a:pt x="9232" y="9245"/>
                </a:lnTo>
                <a:lnTo>
                  <a:pt x="2476" y="19265"/>
                </a:lnTo>
                <a:lnTo>
                  <a:pt x="0" y="31546"/>
                </a:lnTo>
                <a:lnTo>
                  <a:pt x="0" y="671944"/>
                </a:lnTo>
                <a:lnTo>
                  <a:pt x="2476" y="684225"/>
                </a:lnTo>
                <a:lnTo>
                  <a:pt x="9232" y="694258"/>
                </a:lnTo>
                <a:lnTo>
                  <a:pt x="19265" y="701014"/>
                </a:lnTo>
                <a:lnTo>
                  <a:pt x="31546" y="703503"/>
                </a:lnTo>
                <a:lnTo>
                  <a:pt x="814260" y="703503"/>
                </a:lnTo>
                <a:lnTo>
                  <a:pt x="856322" y="766597"/>
                </a:lnTo>
                <a:lnTo>
                  <a:pt x="898372" y="703503"/>
                </a:lnTo>
                <a:lnTo>
                  <a:pt x="1681149" y="703503"/>
                </a:lnTo>
                <a:lnTo>
                  <a:pt x="1693430" y="701014"/>
                </a:lnTo>
                <a:lnTo>
                  <a:pt x="1703451" y="694258"/>
                </a:lnTo>
                <a:lnTo>
                  <a:pt x="1710220" y="684225"/>
                </a:lnTo>
                <a:lnTo>
                  <a:pt x="1712696" y="671944"/>
                </a:lnTo>
                <a:lnTo>
                  <a:pt x="1712696" y="23177"/>
                </a:lnTo>
                <a:close/>
              </a:path>
            </a:pathLst>
          </a:custGeom>
          <a:solidFill>
            <a:srgbClr val="163E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425512" y="1400093"/>
            <a:ext cx="1142365" cy="364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7025" marR="5080" indent="-314960">
              <a:lnSpc>
                <a:spcPct val="102299"/>
              </a:lnSpc>
              <a:spcBef>
                <a:spcPts val="70"/>
              </a:spcBef>
            </a:pP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Standardisation</a:t>
            </a:r>
            <a:r>
              <a:rPr sz="1100" spc="7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des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données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093241" y="1295462"/>
            <a:ext cx="1939734" cy="1106844"/>
          </a:xfrm>
          <a:custGeom>
            <a:avLst/>
            <a:gdLst/>
            <a:ahLst/>
            <a:cxnLst/>
            <a:rect l="l" t="t" r="r" b="b"/>
            <a:pathLst>
              <a:path w="1713229" h="767080">
                <a:moveTo>
                  <a:pt x="1712696" y="23177"/>
                </a:moveTo>
                <a:lnTo>
                  <a:pt x="1709369" y="15163"/>
                </a:lnTo>
                <a:lnTo>
                  <a:pt x="1697545" y="3327"/>
                </a:lnTo>
                <a:lnTo>
                  <a:pt x="1689519" y="0"/>
                </a:lnTo>
                <a:lnTo>
                  <a:pt x="31546" y="0"/>
                </a:lnTo>
                <a:lnTo>
                  <a:pt x="19265" y="2476"/>
                </a:lnTo>
                <a:lnTo>
                  <a:pt x="9245" y="9245"/>
                </a:lnTo>
                <a:lnTo>
                  <a:pt x="2476" y="19265"/>
                </a:lnTo>
                <a:lnTo>
                  <a:pt x="0" y="31546"/>
                </a:lnTo>
                <a:lnTo>
                  <a:pt x="0" y="671944"/>
                </a:lnTo>
                <a:lnTo>
                  <a:pt x="2476" y="684225"/>
                </a:lnTo>
                <a:lnTo>
                  <a:pt x="9245" y="694258"/>
                </a:lnTo>
                <a:lnTo>
                  <a:pt x="19265" y="701014"/>
                </a:lnTo>
                <a:lnTo>
                  <a:pt x="31546" y="703503"/>
                </a:lnTo>
                <a:lnTo>
                  <a:pt x="814260" y="703503"/>
                </a:lnTo>
                <a:lnTo>
                  <a:pt x="856322" y="766597"/>
                </a:lnTo>
                <a:lnTo>
                  <a:pt x="898372" y="703503"/>
                </a:lnTo>
                <a:lnTo>
                  <a:pt x="1681149" y="703503"/>
                </a:lnTo>
                <a:lnTo>
                  <a:pt x="1693430" y="701014"/>
                </a:lnTo>
                <a:lnTo>
                  <a:pt x="1703463" y="694258"/>
                </a:lnTo>
                <a:lnTo>
                  <a:pt x="1710220" y="684225"/>
                </a:lnTo>
                <a:lnTo>
                  <a:pt x="1712696" y="671944"/>
                </a:lnTo>
                <a:lnTo>
                  <a:pt x="1712696" y="23177"/>
                </a:lnTo>
                <a:close/>
              </a:path>
            </a:pathLst>
          </a:custGeom>
          <a:solidFill>
            <a:srgbClr val="3D45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241099" y="1295449"/>
            <a:ext cx="1791875" cy="999056"/>
          </a:xfrm>
          <a:prstGeom prst="rect">
            <a:avLst/>
          </a:prstGeom>
          <a:solidFill>
            <a:srgbClr val="3D4594"/>
          </a:solidFill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lang="fr-FR" sz="1050" spc="-10" dirty="0">
                <a:solidFill>
                  <a:srgbClr val="FFFFFF"/>
                </a:solidFill>
                <a:latin typeface="Calibri"/>
                <a:cs typeface="Calibri"/>
              </a:rPr>
              <a:t>Échantillonnage</a:t>
            </a:r>
            <a:r>
              <a:rPr lang="fr-FR"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lang="fr-FR"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dirty="0">
                <a:solidFill>
                  <a:srgbClr val="FFFFFF"/>
                </a:solidFill>
                <a:latin typeface="Calibri"/>
                <a:cs typeface="Calibri"/>
              </a:rPr>
              <a:t>calcul</a:t>
            </a:r>
            <a:r>
              <a:rPr lang="fr-FR"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spc="-25" dirty="0">
                <a:solidFill>
                  <a:srgbClr val="FFFFFF"/>
                </a:solidFill>
                <a:latin typeface="Calibri"/>
                <a:cs typeface="Calibri"/>
              </a:rPr>
              <a:t>du</a:t>
            </a:r>
            <a:r>
              <a:rPr lang="fr-FR" sz="10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spc="-10" dirty="0">
                <a:solidFill>
                  <a:srgbClr val="FFFFFF"/>
                </a:solidFill>
                <a:latin typeface="Calibri"/>
                <a:cs typeface="Calibri"/>
              </a:rPr>
              <a:t>coefficient</a:t>
            </a:r>
            <a:r>
              <a:rPr lang="fr-FR" sz="10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lang="fr-FR" sz="10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spc="-10" dirty="0">
                <a:solidFill>
                  <a:srgbClr val="FFFFFF"/>
                </a:solidFill>
                <a:latin typeface="Calibri"/>
                <a:cs typeface="Calibri"/>
              </a:rPr>
              <a:t>silhouette</a:t>
            </a:r>
            <a:r>
              <a:rPr lang="fr-FR" sz="10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spc="-2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lang="fr-FR" sz="10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spc="-10" dirty="0">
                <a:solidFill>
                  <a:srgbClr val="FFFFFF"/>
                </a:solidFill>
                <a:latin typeface="Calibri"/>
                <a:cs typeface="Calibri"/>
              </a:rPr>
              <a:t>méthode</a:t>
            </a:r>
            <a:r>
              <a:rPr lang="fr-FR"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dirty="0">
                <a:solidFill>
                  <a:srgbClr val="FFFFFF"/>
                </a:solidFill>
                <a:latin typeface="Calibri"/>
                <a:cs typeface="Calibri"/>
              </a:rPr>
              <a:t>du</a:t>
            </a:r>
            <a:r>
              <a:rPr lang="fr-FR"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dirty="0">
                <a:solidFill>
                  <a:srgbClr val="FFFFFF"/>
                </a:solidFill>
                <a:latin typeface="Calibri"/>
                <a:cs typeface="Calibri"/>
              </a:rPr>
              <a:t>coude</a:t>
            </a:r>
            <a:r>
              <a:rPr lang="fr-FR" sz="1050" spc="-20" dirty="0">
                <a:solidFill>
                  <a:srgbClr val="FFFFFF"/>
                </a:solidFill>
                <a:latin typeface="Calibri"/>
                <a:cs typeface="Calibri"/>
              </a:rPr>
              <a:t> pour</a:t>
            </a:r>
            <a:r>
              <a:rPr lang="fr-FR" sz="10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spc="-10" dirty="0">
                <a:solidFill>
                  <a:srgbClr val="FFFFFF"/>
                </a:solidFill>
                <a:latin typeface="Calibri"/>
                <a:cs typeface="Calibri"/>
              </a:rPr>
              <a:t>déterminer </a:t>
            </a:r>
            <a:r>
              <a:rPr lang="fr-FR" sz="1050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lang="fr-FR" sz="1050" spc="-10" dirty="0">
                <a:solidFill>
                  <a:srgbClr val="FFFFFF"/>
                </a:solidFill>
                <a:latin typeface="Calibri"/>
                <a:cs typeface="Calibri"/>
              </a:rPr>
              <a:t> nombre </a:t>
            </a:r>
            <a:r>
              <a:rPr lang="fr-FR" sz="1050" spc="-2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lang="fr-FR" sz="10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fr-FR" sz="1050" spc="-10" dirty="0">
                <a:solidFill>
                  <a:srgbClr val="FFFFFF"/>
                </a:solidFill>
                <a:latin typeface="Calibri"/>
                <a:cs typeface="Calibri"/>
              </a:rPr>
              <a:t>clusters</a:t>
            </a:r>
            <a:endParaRPr lang="fr-FR" sz="1050" dirty="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391089" y="1281603"/>
            <a:ext cx="1836700" cy="767080"/>
          </a:xfrm>
          <a:custGeom>
            <a:avLst/>
            <a:gdLst/>
            <a:ahLst/>
            <a:cxnLst/>
            <a:rect l="l" t="t" r="r" b="b"/>
            <a:pathLst>
              <a:path w="1713229" h="767080">
                <a:moveTo>
                  <a:pt x="1712709" y="23177"/>
                </a:moveTo>
                <a:lnTo>
                  <a:pt x="1709381" y="15163"/>
                </a:lnTo>
                <a:lnTo>
                  <a:pt x="1697545" y="3327"/>
                </a:lnTo>
                <a:lnTo>
                  <a:pt x="1689519" y="0"/>
                </a:lnTo>
                <a:lnTo>
                  <a:pt x="31559" y="0"/>
                </a:lnTo>
                <a:lnTo>
                  <a:pt x="19278" y="2476"/>
                </a:lnTo>
                <a:lnTo>
                  <a:pt x="9245" y="9245"/>
                </a:lnTo>
                <a:lnTo>
                  <a:pt x="2489" y="19265"/>
                </a:lnTo>
                <a:lnTo>
                  <a:pt x="0" y="31546"/>
                </a:lnTo>
                <a:lnTo>
                  <a:pt x="0" y="671944"/>
                </a:lnTo>
                <a:lnTo>
                  <a:pt x="2489" y="684225"/>
                </a:lnTo>
                <a:lnTo>
                  <a:pt x="9245" y="694258"/>
                </a:lnTo>
                <a:lnTo>
                  <a:pt x="19278" y="701014"/>
                </a:lnTo>
                <a:lnTo>
                  <a:pt x="31559" y="703503"/>
                </a:lnTo>
                <a:lnTo>
                  <a:pt x="814260" y="703503"/>
                </a:lnTo>
                <a:lnTo>
                  <a:pt x="856335" y="766597"/>
                </a:lnTo>
                <a:lnTo>
                  <a:pt x="898385" y="703503"/>
                </a:lnTo>
                <a:lnTo>
                  <a:pt x="1681149" y="703503"/>
                </a:lnTo>
                <a:lnTo>
                  <a:pt x="1693430" y="701014"/>
                </a:lnTo>
                <a:lnTo>
                  <a:pt x="1703463" y="694258"/>
                </a:lnTo>
                <a:lnTo>
                  <a:pt x="1710232" y="684225"/>
                </a:lnTo>
                <a:lnTo>
                  <a:pt x="1712709" y="671944"/>
                </a:lnTo>
                <a:lnTo>
                  <a:pt x="1712709" y="2317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pPr marL="400685" marR="5080" indent="-388620" algn="ctr">
              <a:lnSpc>
                <a:spcPct val="117200"/>
              </a:lnSpc>
              <a:spcBef>
                <a:spcPts val="100"/>
              </a:spcBef>
            </a:pPr>
            <a:r>
              <a:rPr lang="fr-FR" sz="1050" spc="-10" dirty="0">
                <a:solidFill>
                  <a:srgbClr val="5E5E5E"/>
                </a:solidFill>
                <a:latin typeface="Roboto"/>
                <a:cs typeface="Roboto"/>
              </a:rPr>
              <a:t>Visualisation </a:t>
            </a:r>
            <a:r>
              <a:rPr lang="fr-FR" sz="1050" dirty="0">
                <a:solidFill>
                  <a:srgbClr val="5E5E5E"/>
                </a:solidFill>
                <a:latin typeface="Roboto"/>
                <a:cs typeface="Roboto"/>
              </a:rPr>
              <a:t>et</a:t>
            </a:r>
            <a:r>
              <a:rPr lang="fr-FR" sz="1050" spc="-5" dirty="0">
                <a:solidFill>
                  <a:srgbClr val="5E5E5E"/>
                </a:solidFill>
                <a:latin typeface="Roboto"/>
                <a:cs typeface="Roboto"/>
              </a:rPr>
              <a:t> </a:t>
            </a:r>
            <a:r>
              <a:rPr lang="fr-FR" sz="1050" spc="-10" dirty="0">
                <a:solidFill>
                  <a:srgbClr val="5E5E5E"/>
                </a:solidFill>
                <a:latin typeface="Roboto"/>
                <a:cs typeface="Roboto"/>
              </a:rPr>
              <a:t>interprétation</a:t>
            </a:r>
            <a:r>
              <a:rPr lang="fr-FR" sz="1050" spc="500" dirty="0">
                <a:solidFill>
                  <a:srgbClr val="5E5E5E"/>
                </a:solidFill>
                <a:latin typeface="Roboto"/>
                <a:cs typeface="Roboto"/>
              </a:rPr>
              <a:t> </a:t>
            </a:r>
            <a:r>
              <a:rPr lang="fr-FR" sz="1050" dirty="0">
                <a:solidFill>
                  <a:srgbClr val="5E5E5E"/>
                </a:solidFill>
                <a:latin typeface="Roboto"/>
                <a:cs typeface="Roboto"/>
              </a:rPr>
              <a:t>des</a:t>
            </a:r>
            <a:r>
              <a:rPr lang="fr-FR" sz="1050" spc="-15" dirty="0">
                <a:solidFill>
                  <a:srgbClr val="5E5E5E"/>
                </a:solidFill>
                <a:latin typeface="Roboto"/>
                <a:cs typeface="Roboto"/>
              </a:rPr>
              <a:t> </a:t>
            </a:r>
            <a:r>
              <a:rPr lang="fr-FR" sz="1050" spc="-10" dirty="0">
                <a:solidFill>
                  <a:srgbClr val="5E5E5E"/>
                </a:solidFill>
                <a:latin typeface="Roboto"/>
                <a:cs typeface="Roboto"/>
              </a:rPr>
              <a:t>clusters</a:t>
            </a:r>
            <a:endParaRPr lang="fr-FR" sz="1050" dirty="0">
              <a:latin typeface="Roboto"/>
              <a:cs typeface="Robot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533520" y="3210894"/>
            <a:ext cx="1713230" cy="703580"/>
          </a:xfrm>
          <a:custGeom>
            <a:avLst/>
            <a:gdLst/>
            <a:ahLst/>
            <a:cxnLst/>
            <a:rect l="l" t="t" r="r" b="b"/>
            <a:pathLst>
              <a:path w="1713229" h="703579">
                <a:moveTo>
                  <a:pt x="1681147" y="703499"/>
                </a:moveTo>
                <a:lnTo>
                  <a:pt x="31551" y="703499"/>
                </a:lnTo>
                <a:lnTo>
                  <a:pt x="19270" y="701020"/>
                </a:lnTo>
                <a:lnTo>
                  <a:pt x="9241" y="694258"/>
                </a:lnTo>
                <a:lnTo>
                  <a:pt x="2479" y="684229"/>
                </a:lnTo>
                <a:lnTo>
                  <a:pt x="0" y="671947"/>
                </a:lnTo>
                <a:lnTo>
                  <a:pt x="0" y="31551"/>
                </a:lnTo>
                <a:lnTo>
                  <a:pt x="2479" y="19270"/>
                </a:lnTo>
                <a:lnTo>
                  <a:pt x="9241" y="9241"/>
                </a:lnTo>
                <a:lnTo>
                  <a:pt x="19270" y="2479"/>
                </a:lnTo>
                <a:lnTo>
                  <a:pt x="31551" y="0"/>
                </a:lnTo>
                <a:lnTo>
                  <a:pt x="1689515" y="0"/>
                </a:lnTo>
                <a:lnTo>
                  <a:pt x="1697541" y="3324"/>
                </a:lnTo>
                <a:lnTo>
                  <a:pt x="1709375" y="15158"/>
                </a:lnTo>
                <a:lnTo>
                  <a:pt x="1712699" y="23183"/>
                </a:lnTo>
                <a:lnTo>
                  <a:pt x="1712699" y="671947"/>
                </a:lnTo>
                <a:lnTo>
                  <a:pt x="1710220" y="684229"/>
                </a:lnTo>
                <a:lnTo>
                  <a:pt x="1703458" y="694258"/>
                </a:lnTo>
                <a:lnTo>
                  <a:pt x="1693429" y="701020"/>
                </a:lnTo>
                <a:lnTo>
                  <a:pt x="1681147" y="7034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691932" y="3374819"/>
            <a:ext cx="1349375" cy="14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685" marR="5080" indent="-388620">
              <a:lnSpc>
                <a:spcPct val="117200"/>
              </a:lnSpc>
              <a:spcBef>
                <a:spcPts val="100"/>
              </a:spcBef>
            </a:pPr>
            <a:r>
              <a:rPr lang="fr-FR" sz="800" spc="-10" dirty="0">
                <a:solidFill>
                  <a:srgbClr val="5E5E5E"/>
                </a:solidFill>
                <a:latin typeface="Roboto"/>
                <a:cs typeface="Roboto"/>
              </a:rPr>
              <a:t>Recommandations business</a:t>
            </a:r>
            <a:endParaRPr sz="800" dirty="0">
              <a:latin typeface="Roboto"/>
              <a:cs typeface="Robot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387798" y="3111231"/>
            <a:ext cx="73098" cy="69558"/>
          </a:xfrm>
          <a:custGeom>
            <a:avLst/>
            <a:gdLst/>
            <a:ahLst/>
            <a:cxnLst/>
            <a:rect l="l" t="t" r="r" b="b"/>
            <a:pathLst>
              <a:path w="90170" h="67944">
                <a:moveTo>
                  <a:pt x="89999" y="67499"/>
                </a:moveTo>
                <a:lnTo>
                  <a:pt x="0" y="67499"/>
                </a:lnTo>
                <a:lnTo>
                  <a:pt x="44999" y="0"/>
                </a:lnTo>
                <a:lnTo>
                  <a:pt x="89999" y="674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4978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z="3000" spc="-110" dirty="0"/>
              <a:t>Clustering</a:t>
            </a:r>
            <a:r>
              <a:rPr sz="3000" spc="-150" dirty="0"/>
              <a:t> </a:t>
            </a:r>
            <a:r>
              <a:rPr sz="3000" spc="-145" dirty="0"/>
              <a:t>hiérarchique</a:t>
            </a:r>
            <a:r>
              <a:rPr sz="3000" spc="-150" dirty="0"/>
              <a:t> </a:t>
            </a:r>
            <a:r>
              <a:rPr sz="3000" spc="-145" dirty="0"/>
              <a:t>sur</a:t>
            </a:r>
            <a:r>
              <a:rPr sz="3000" spc="-150" dirty="0"/>
              <a:t> </a:t>
            </a:r>
            <a:r>
              <a:rPr sz="3000" spc="-65" dirty="0"/>
              <a:t>les</a:t>
            </a:r>
            <a:r>
              <a:rPr sz="3000" spc="-150" dirty="0"/>
              <a:t> </a:t>
            </a:r>
            <a:r>
              <a:rPr sz="3000" spc="-110" dirty="0"/>
              <a:t>variables</a:t>
            </a:r>
            <a:r>
              <a:rPr sz="3000" spc="-150" dirty="0"/>
              <a:t> </a:t>
            </a:r>
            <a:r>
              <a:rPr sz="3000" spc="-25" dirty="0"/>
              <a:t>RFM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190075" y="888075"/>
            <a:ext cx="8742045" cy="4048125"/>
            <a:chOff x="190075" y="888075"/>
            <a:chExt cx="8742045" cy="40481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7025" y="4610625"/>
              <a:ext cx="324949" cy="3249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75" y="4457399"/>
              <a:ext cx="814075" cy="4781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8025" y="888075"/>
              <a:ext cx="3698999" cy="387277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42074" y="1384253"/>
            <a:ext cx="2845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32740" algn="l"/>
              </a:tabLst>
            </a:pPr>
            <a:r>
              <a:rPr sz="1200" spc="-10" dirty="0">
                <a:latin typeface="Calibri"/>
                <a:cs typeface="Calibri"/>
              </a:rPr>
              <a:t>Variable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Récence,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Fréquence,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Monétaire</a:t>
            </a:r>
            <a:endParaRPr sz="1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buFont typeface="Arial MT"/>
              <a:buChar char="●"/>
              <a:tabLst>
                <a:tab pos="332740" algn="l"/>
              </a:tabLst>
            </a:pPr>
            <a:r>
              <a:rPr sz="1200" spc="-10" dirty="0">
                <a:latin typeface="Calibri"/>
                <a:cs typeface="Calibri"/>
              </a:rPr>
              <a:t>Échantillon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10000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individus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7599" y="2452122"/>
            <a:ext cx="3827779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675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32740" algn="l"/>
              </a:tabLst>
            </a:pPr>
            <a:r>
              <a:rPr sz="1200" dirty="0">
                <a:latin typeface="Calibri"/>
                <a:cs typeface="Calibri"/>
              </a:rPr>
              <a:t>Model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lourd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calcul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qui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nécessite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échantillon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qui </a:t>
            </a:r>
            <a:r>
              <a:rPr sz="1200" spc="-10" dirty="0">
                <a:latin typeface="Calibri"/>
                <a:cs typeface="Calibri"/>
              </a:rPr>
              <a:t>fausse </a:t>
            </a:r>
            <a:r>
              <a:rPr sz="1200" dirty="0">
                <a:latin typeface="Calibri"/>
                <a:cs typeface="Calibri"/>
              </a:rPr>
              <a:t>la</a:t>
            </a:r>
            <a:r>
              <a:rPr sz="1200" spc="-10" dirty="0">
                <a:latin typeface="Calibri"/>
                <a:cs typeface="Calibri"/>
              </a:rPr>
              <a:t> segmentation.</a:t>
            </a:r>
            <a:endParaRPr sz="1200">
              <a:latin typeface="Calibri"/>
              <a:cs typeface="Calibri"/>
            </a:endParaRPr>
          </a:p>
          <a:p>
            <a:pPr marL="332740" marR="197485" indent="-320675">
              <a:lnSpc>
                <a:spcPct val="114999"/>
              </a:lnSpc>
              <a:buFont typeface="Arial MT"/>
              <a:buChar char="●"/>
              <a:tabLst>
                <a:tab pos="332740" algn="l"/>
              </a:tabLst>
            </a:pPr>
            <a:r>
              <a:rPr sz="1200" dirty="0">
                <a:latin typeface="Calibri"/>
                <a:cs typeface="Calibri"/>
              </a:rPr>
              <a:t>Les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clusters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sont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équilibrés,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nous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passons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9 </a:t>
            </a:r>
            <a:r>
              <a:rPr sz="1200" spc="-10" dirty="0">
                <a:latin typeface="Calibri"/>
                <a:cs typeface="Calibri"/>
              </a:rPr>
              <a:t>clients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à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7000</a:t>
            </a:r>
            <a:r>
              <a:rPr sz="1200" spc="-20" dirty="0">
                <a:latin typeface="Calibri"/>
                <a:cs typeface="Calibri"/>
              </a:rPr>
              <a:t> env.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1087649" y="3677475"/>
              <a:ext cx="4159250" cy="657225"/>
            </a:xfrm>
            <a:custGeom>
              <a:avLst/>
              <a:gdLst/>
              <a:ahLst/>
              <a:cxnLst/>
              <a:rect l="l" t="t" r="r" b="b"/>
              <a:pathLst>
                <a:path w="4159250" h="657225">
                  <a:moveTo>
                    <a:pt x="4159199" y="656699"/>
                  </a:moveTo>
                  <a:lnTo>
                    <a:pt x="0" y="656699"/>
                  </a:lnTo>
                  <a:lnTo>
                    <a:pt x="0" y="0"/>
                  </a:lnTo>
                  <a:lnTo>
                    <a:pt x="3870022" y="0"/>
                  </a:lnTo>
                  <a:lnTo>
                    <a:pt x="4159199" y="289177"/>
                  </a:lnTo>
                  <a:lnTo>
                    <a:pt x="4159199" y="656699"/>
                  </a:lnTo>
                  <a:close/>
                </a:path>
              </a:pathLst>
            </a:custGeom>
            <a:solidFill>
              <a:srgbClr val="0078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87649" y="3677475"/>
              <a:ext cx="4159250" cy="657225"/>
            </a:xfrm>
            <a:custGeom>
              <a:avLst/>
              <a:gdLst/>
              <a:ahLst/>
              <a:cxnLst/>
              <a:rect l="l" t="t" r="r" b="b"/>
              <a:pathLst>
                <a:path w="4159250" h="657225">
                  <a:moveTo>
                    <a:pt x="0" y="0"/>
                  </a:moveTo>
                  <a:lnTo>
                    <a:pt x="3870022" y="0"/>
                  </a:lnTo>
                  <a:lnTo>
                    <a:pt x="4159199" y="289177"/>
                  </a:lnTo>
                  <a:lnTo>
                    <a:pt x="4159199" y="656699"/>
                  </a:lnTo>
                  <a:lnTo>
                    <a:pt x="0" y="656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78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51375" y="281735"/>
            <a:ext cx="71894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10" dirty="0"/>
              <a:t>Clustering</a:t>
            </a:r>
            <a:r>
              <a:rPr sz="3000" spc="-155" dirty="0"/>
              <a:t> </a:t>
            </a:r>
            <a:r>
              <a:rPr sz="3000" spc="-85" dirty="0"/>
              <a:t>à</a:t>
            </a:r>
            <a:r>
              <a:rPr sz="3000" spc="-150" dirty="0"/>
              <a:t> </a:t>
            </a:r>
            <a:r>
              <a:rPr sz="3000" spc="-125" dirty="0"/>
              <a:t>densité</a:t>
            </a:r>
            <a:r>
              <a:rPr sz="3000" spc="-150" dirty="0"/>
              <a:t> </a:t>
            </a:r>
            <a:r>
              <a:rPr sz="3000" spc="-145" dirty="0"/>
              <a:t>sur</a:t>
            </a:r>
            <a:r>
              <a:rPr sz="3000" spc="-150" dirty="0"/>
              <a:t> </a:t>
            </a:r>
            <a:r>
              <a:rPr sz="3000" spc="-65" dirty="0"/>
              <a:t>les</a:t>
            </a:r>
            <a:r>
              <a:rPr sz="3000" spc="-155" dirty="0"/>
              <a:t> </a:t>
            </a:r>
            <a:r>
              <a:rPr sz="3000" spc="-110" dirty="0"/>
              <a:t>variables</a:t>
            </a:r>
            <a:r>
              <a:rPr sz="3000" spc="-150" dirty="0"/>
              <a:t> </a:t>
            </a:r>
            <a:r>
              <a:rPr sz="3000" spc="-25" dirty="0"/>
              <a:t>RFM</a:t>
            </a:r>
            <a:endParaRPr sz="30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925" y="1850450"/>
            <a:ext cx="2697350" cy="16513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</a:t>
            </a:r>
            <a:r>
              <a:rPr spc="-30" dirty="0"/>
              <a:t> </a:t>
            </a:r>
            <a:r>
              <a:rPr spc="-10" dirty="0"/>
              <a:t>travail</a:t>
            </a:r>
            <a:r>
              <a:rPr lang="fr-FR" spc="-10" dirty="0"/>
              <a:t>le</a:t>
            </a:r>
            <a:r>
              <a:rPr spc="-30" dirty="0"/>
              <a:t> </a:t>
            </a:r>
            <a:r>
              <a:rPr spc="-10" dirty="0"/>
              <a:t>encore</a:t>
            </a:r>
            <a:r>
              <a:rPr spc="-25" dirty="0"/>
              <a:t> </a:t>
            </a:r>
            <a:r>
              <a:rPr dirty="0"/>
              <a:t>avec</a:t>
            </a:r>
            <a:r>
              <a:rPr spc="-30" dirty="0"/>
              <a:t> </a:t>
            </a:r>
            <a:r>
              <a:rPr dirty="0"/>
              <a:t>un</a:t>
            </a:r>
            <a:r>
              <a:rPr spc="-25" dirty="0"/>
              <a:t> </a:t>
            </a:r>
            <a:r>
              <a:rPr dirty="0"/>
              <a:t>échantillon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10</a:t>
            </a:r>
            <a:r>
              <a:rPr spc="-25" dirty="0"/>
              <a:t> </a:t>
            </a:r>
            <a:r>
              <a:rPr dirty="0"/>
              <a:t>000</a:t>
            </a:r>
            <a:r>
              <a:rPr spc="-30" dirty="0"/>
              <a:t> </a:t>
            </a:r>
            <a:r>
              <a:rPr spc="-10" dirty="0"/>
              <a:t>individus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pc="-10" dirty="0"/>
          </a:p>
          <a:p>
            <a:pPr marL="247015" marR="2858135">
              <a:lnSpc>
                <a:spcPct val="100000"/>
              </a:lnSpc>
            </a:pPr>
            <a:r>
              <a:rPr sz="900" spc="-10" dirty="0"/>
              <a:t>Détermination</a:t>
            </a:r>
            <a:r>
              <a:rPr sz="900" dirty="0"/>
              <a:t> du</a:t>
            </a:r>
            <a:r>
              <a:rPr sz="900" spc="5" dirty="0"/>
              <a:t> </a:t>
            </a:r>
            <a:r>
              <a:rPr sz="900" spc="-10" dirty="0"/>
              <a:t>nombre</a:t>
            </a:r>
            <a:r>
              <a:rPr sz="900" spc="5" dirty="0"/>
              <a:t> </a:t>
            </a:r>
            <a:r>
              <a:rPr sz="900" spc="-10" dirty="0"/>
              <a:t>optimal</a:t>
            </a:r>
            <a:r>
              <a:rPr sz="900" spc="5" dirty="0"/>
              <a:t> </a:t>
            </a:r>
            <a:r>
              <a:rPr sz="900" spc="-20" dirty="0"/>
              <a:t>pour</a:t>
            </a:r>
            <a:r>
              <a:rPr sz="900" spc="500" dirty="0"/>
              <a:t> </a:t>
            </a:r>
            <a:r>
              <a:rPr sz="900" spc="-10" dirty="0"/>
              <a:t>epsilon,</a:t>
            </a:r>
            <a:r>
              <a:rPr sz="900" spc="-5" dirty="0"/>
              <a:t> </a:t>
            </a:r>
            <a:r>
              <a:rPr sz="900" dirty="0"/>
              <a:t>la </a:t>
            </a:r>
            <a:r>
              <a:rPr sz="900" spc="-10" dirty="0"/>
              <a:t>distance</a:t>
            </a:r>
            <a:r>
              <a:rPr sz="900" spc="-5" dirty="0"/>
              <a:t> </a:t>
            </a:r>
            <a:r>
              <a:rPr sz="900" spc="-10" dirty="0"/>
              <a:t>entre</a:t>
            </a:r>
            <a:r>
              <a:rPr sz="900" dirty="0"/>
              <a:t> deux</a:t>
            </a:r>
            <a:r>
              <a:rPr sz="900" spc="-5" dirty="0"/>
              <a:t> </a:t>
            </a:r>
            <a:r>
              <a:rPr sz="900" spc="-10" dirty="0"/>
              <a:t>points</a:t>
            </a:r>
            <a:r>
              <a:rPr sz="900" dirty="0"/>
              <a:t> </a:t>
            </a:r>
            <a:r>
              <a:rPr sz="900" spc="-20" dirty="0"/>
              <a:t>d’un</a:t>
            </a:r>
            <a:r>
              <a:rPr sz="900" spc="500" dirty="0"/>
              <a:t> </a:t>
            </a:r>
            <a:r>
              <a:rPr sz="900" dirty="0"/>
              <a:t>même</a:t>
            </a:r>
            <a:r>
              <a:rPr sz="900" spc="-45" dirty="0"/>
              <a:t> </a:t>
            </a:r>
            <a:r>
              <a:rPr sz="900" spc="-10" dirty="0"/>
              <a:t>cluster.</a:t>
            </a:r>
            <a:endParaRPr sz="900" dirty="0"/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900" dirty="0"/>
          </a:p>
          <a:p>
            <a:pPr marL="3339465" marR="5080" indent="-320675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3339465" algn="l"/>
              </a:tabLst>
            </a:pPr>
            <a:r>
              <a:rPr spc="-10" dirty="0">
                <a:solidFill>
                  <a:srgbClr val="00786B"/>
                </a:solidFill>
              </a:rPr>
              <a:t>Paramètres</a:t>
            </a:r>
            <a:r>
              <a:rPr spc="-35" dirty="0">
                <a:solidFill>
                  <a:srgbClr val="00786B"/>
                </a:solidFill>
              </a:rPr>
              <a:t> </a:t>
            </a:r>
            <a:r>
              <a:rPr dirty="0">
                <a:solidFill>
                  <a:srgbClr val="00786B"/>
                </a:solidFill>
              </a:rPr>
              <a:t>:</a:t>
            </a:r>
            <a:r>
              <a:rPr spc="-35" dirty="0">
                <a:solidFill>
                  <a:srgbClr val="00786B"/>
                </a:solidFill>
              </a:rPr>
              <a:t> </a:t>
            </a:r>
            <a:r>
              <a:rPr dirty="0">
                <a:solidFill>
                  <a:srgbClr val="00786B"/>
                </a:solidFill>
              </a:rPr>
              <a:t>epsilon</a:t>
            </a:r>
            <a:r>
              <a:rPr spc="-35" dirty="0">
                <a:solidFill>
                  <a:srgbClr val="00786B"/>
                </a:solidFill>
              </a:rPr>
              <a:t> </a:t>
            </a:r>
            <a:r>
              <a:rPr dirty="0">
                <a:solidFill>
                  <a:srgbClr val="00786B"/>
                </a:solidFill>
              </a:rPr>
              <a:t>=</a:t>
            </a:r>
            <a:r>
              <a:rPr spc="-35" dirty="0">
                <a:solidFill>
                  <a:srgbClr val="00786B"/>
                </a:solidFill>
              </a:rPr>
              <a:t> </a:t>
            </a:r>
            <a:r>
              <a:rPr spc="-10" dirty="0">
                <a:solidFill>
                  <a:srgbClr val="00786B"/>
                </a:solidFill>
              </a:rPr>
              <a:t>0.04; min_samples</a:t>
            </a:r>
            <a:r>
              <a:rPr spc="-15" dirty="0">
                <a:solidFill>
                  <a:srgbClr val="00786B"/>
                </a:solidFill>
              </a:rPr>
              <a:t> </a:t>
            </a:r>
            <a:r>
              <a:rPr dirty="0">
                <a:solidFill>
                  <a:srgbClr val="00786B"/>
                </a:solidFill>
              </a:rPr>
              <a:t>=</a:t>
            </a:r>
            <a:r>
              <a:rPr spc="-10" dirty="0">
                <a:solidFill>
                  <a:srgbClr val="00786B"/>
                </a:solidFill>
              </a:rPr>
              <a:t> </a:t>
            </a:r>
            <a:r>
              <a:rPr spc="-25" dirty="0">
                <a:solidFill>
                  <a:srgbClr val="00786B"/>
                </a:solidFill>
              </a:rPr>
              <a:t>20</a:t>
            </a:r>
          </a:p>
          <a:p>
            <a:pPr marL="3339465" marR="419734" indent="-320675">
              <a:lnSpc>
                <a:spcPct val="100000"/>
              </a:lnSpc>
              <a:buFont typeface="Arial MT"/>
              <a:buChar char="●"/>
              <a:tabLst>
                <a:tab pos="3339465" algn="l"/>
              </a:tabLst>
            </a:pPr>
            <a:r>
              <a:rPr dirty="0">
                <a:solidFill>
                  <a:srgbClr val="00786B"/>
                </a:solidFill>
              </a:rPr>
              <a:t>On</a:t>
            </a:r>
            <a:r>
              <a:rPr spc="-30" dirty="0">
                <a:solidFill>
                  <a:srgbClr val="00786B"/>
                </a:solidFill>
              </a:rPr>
              <a:t> </a:t>
            </a:r>
            <a:r>
              <a:rPr dirty="0">
                <a:solidFill>
                  <a:srgbClr val="00786B"/>
                </a:solidFill>
              </a:rPr>
              <a:t>trouve</a:t>
            </a:r>
            <a:r>
              <a:rPr spc="-30" dirty="0">
                <a:solidFill>
                  <a:srgbClr val="00786B"/>
                </a:solidFill>
              </a:rPr>
              <a:t> </a:t>
            </a:r>
            <a:r>
              <a:rPr dirty="0">
                <a:solidFill>
                  <a:srgbClr val="00786B"/>
                </a:solidFill>
              </a:rPr>
              <a:t>près</a:t>
            </a:r>
            <a:r>
              <a:rPr spc="-30" dirty="0">
                <a:solidFill>
                  <a:srgbClr val="00786B"/>
                </a:solidFill>
              </a:rPr>
              <a:t> </a:t>
            </a:r>
            <a:r>
              <a:rPr dirty="0">
                <a:solidFill>
                  <a:srgbClr val="00786B"/>
                </a:solidFill>
              </a:rPr>
              <a:t>de</a:t>
            </a:r>
            <a:r>
              <a:rPr spc="-30" dirty="0">
                <a:solidFill>
                  <a:srgbClr val="00786B"/>
                </a:solidFill>
              </a:rPr>
              <a:t> </a:t>
            </a:r>
            <a:r>
              <a:rPr spc="-25" dirty="0">
                <a:solidFill>
                  <a:srgbClr val="00786B"/>
                </a:solidFill>
              </a:rPr>
              <a:t>22 </a:t>
            </a:r>
            <a:r>
              <a:rPr spc="-10" dirty="0">
                <a:solidFill>
                  <a:srgbClr val="00786B"/>
                </a:solidFill>
              </a:rPr>
              <a:t>clusters</a:t>
            </a:r>
          </a:p>
          <a:p>
            <a:pPr marL="3339465" marR="29209" indent="-320675">
              <a:lnSpc>
                <a:spcPct val="100000"/>
              </a:lnSpc>
              <a:buFont typeface="Arial MT"/>
              <a:buChar char="●"/>
              <a:tabLst>
                <a:tab pos="3339465" algn="l"/>
              </a:tabLst>
            </a:pPr>
            <a:r>
              <a:rPr dirty="0">
                <a:solidFill>
                  <a:srgbClr val="00786B"/>
                </a:solidFill>
              </a:rPr>
              <a:t>Sur</a:t>
            </a:r>
            <a:r>
              <a:rPr spc="-25" dirty="0">
                <a:solidFill>
                  <a:srgbClr val="00786B"/>
                </a:solidFill>
              </a:rPr>
              <a:t> </a:t>
            </a:r>
            <a:r>
              <a:rPr dirty="0">
                <a:solidFill>
                  <a:srgbClr val="00786B"/>
                </a:solidFill>
              </a:rPr>
              <a:t>10</a:t>
            </a:r>
            <a:r>
              <a:rPr spc="-25" dirty="0">
                <a:solidFill>
                  <a:srgbClr val="00786B"/>
                </a:solidFill>
              </a:rPr>
              <a:t> </a:t>
            </a:r>
            <a:r>
              <a:rPr dirty="0">
                <a:solidFill>
                  <a:srgbClr val="00786B"/>
                </a:solidFill>
              </a:rPr>
              <a:t>000</a:t>
            </a:r>
            <a:r>
              <a:rPr spc="-25" dirty="0">
                <a:solidFill>
                  <a:srgbClr val="00786B"/>
                </a:solidFill>
              </a:rPr>
              <a:t> </a:t>
            </a:r>
            <a:r>
              <a:rPr spc="-10" dirty="0">
                <a:solidFill>
                  <a:srgbClr val="00786B"/>
                </a:solidFill>
              </a:rPr>
              <a:t>clients</a:t>
            </a:r>
            <a:r>
              <a:rPr spc="-25" dirty="0">
                <a:solidFill>
                  <a:srgbClr val="00786B"/>
                </a:solidFill>
              </a:rPr>
              <a:t> </a:t>
            </a:r>
            <a:r>
              <a:rPr dirty="0">
                <a:solidFill>
                  <a:srgbClr val="00786B"/>
                </a:solidFill>
              </a:rPr>
              <a:t>7271</a:t>
            </a:r>
            <a:r>
              <a:rPr spc="-25" dirty="0">
                <a:solidFill>
                  <a:srgbClr val="00786B"/>
                </a:solidFill>
              </a:rPr>
              <a:t> env </a:t>
            </a:r>
            <a:r>
              <a:rPr dirty="0">
                <a:solidFill>
                  <a:srgbClr val="00786B"/>
                </a:solidFill>
              </a:rPr>
              <a:t>sont</a:t>
            </a:r>
            <a:r>
              <a:rPr spc="-35" dirty="0">
                <a:solidFill>
                  <a:srgbClr val="00786B"/>
                </a:solidFill>
              </a:rPr>
              <a:t> </a:t>
            </a:r>
            <a:r>
              <a:rPr dirty="0">
                <a:solidFill>
                  <a:srgbClr val="00786B"/>
                </a:solidFill>
              </a:rPr>
              <a:t>non</a:t>
            </a:r>
            <a:r>
              <a:rPr spc="-30" dirty="0">
                <a:solidFill>
                  <a:srgbClr val="00786B"/>
                </a:solidFill>
              </a:rPr>
              <a:t> </a:t>
            </a:r>
            <a:r>
              <a:rPr spc="-10" dirty="0">
                <a:solidFill>
                  <a:srgbClr val="00786B"/>
                </a:solidFill>
              </a:rPr>
              <a:t>classés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9525" y="3763938"/>
            <a:ext cx="39262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9D9D9"/>
                </a:solidFill>
                <a:latin typeface="Calibri"/>
                <a:cs typeface="Calibri"/>
              </a:rPr>
              <a:t>Model</a:t>
            </a:r>
            <a:r>
              <a:rPr sz="1400" spc="-3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D9D9D9"/>
                </a:solidFill>
                <a:latin typeface="Calibri"/>
                <a:cs typeface="Calibri"/>
              </a:rPr>
              <a:t>non</a:t>
            </a:r>
            <a:r>
              <a:rPr sz="1400" spc="-3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D9D9D9"/>
                </a:solidFill>
                <a:latin typeface="Calibri"/>
                <a:cs typeface="Calibri"/>
              </a:rPr>
              <a:t>utilisable</a:t>
            </a:r>
            <a:r>
              <a:rPr sz="1400" spc="-3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D9D9D9"/>
                </a:solidFill>
                <a:latin typeface="Calibri"/>
                <a:cs typeface="Calibri"/>
              </a:rPr>
              <a:t>pour</a:t>
            </a:r>
            <a:r>
              <a:rPr sz="1400" spc="-3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D9D9D9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D9D9D9"/>
                </a:solidFill>
                <a:latin typeface="Calibri"/>
                <a:cs typeface="Calibri"/>
              </a:rPr>
              <a:t>segmentation.</a:t>
            </a:r>
            <a:r>
              <a:rPr sz="1400" spc="-3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D9D9D9"/>
                </a:solidFill>
                <a:latin typeface="Calibri"/>
                <a:cs typeface="Calibri"/>
              </a:rPr>
              <a:t>Il</a:t>
            </a:r>
            <a:r>
              <a:rPr sz="1400" spc="-3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D9D9D9"/>
                </a:solidFill>
                <a:latin typeface="Calibri"/>
                <a:cs typeface="Calibri"/>
              </a:rPr>
              <a:t>n’est</a:t>
            </a:r>
            <a:r>
              <a:rPr sz="1400" spc="-3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D9D9D9"/>
                </a:solidFill>
                <a:latin typeface="Calibri"/>
                <a:cs typeface="Calibri"/>
              </a:rPr>
              <a:t>pas </a:t>
            </a:r>
            <a:r>
              <a:rPr sz="1400" spc="-10" dirty="0">
                <a:solidFill>
                  <a:srgbClr val="D9D9D9"/>
                </a:solidFill>
                <a:latin typeface="Calibri"/>
                <a:cs typeface="Calibri"/>
              </a:rPr>
              <a:t>pertinent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0075" y="1007900"/>
            <a:ext cx="8742045" cy="3928110"/>
            <a:chOff x="190075" y="1007900"/>
            <a:chExt cx="8742045" cy="392811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75" y="4457400"/>
              <a:ext cx="814075" cy="4781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07025" y="4610625"/>
              <a:ext cx="324949" cy="3249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2250" y="1007900"/>
              <a:ext cx="3170250" cy="31276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48525" y="2946725"/>
              <a:ext cx="307975" cy="0"/>
            </a:xfrm>
            <a:custGeom>
              <a:avLst/>
              <a:gdLst/>
              <a:ahLst/>
              <a:cxnLst/>
              <a:rect l="l" t="t" r="r" b="b"/>
              <a:pathLst>
                <a:path w="307975">
                  <a:moveTo>
                    <a:pt x="0" y="0"/>
                  </a:moveTo>
                  <a:lnTo>
                    <a:pt x="307949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56475" y="2930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56475" y="29309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6375" y="925089"/>
              <a:ext cx="3526849" cy="25487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91700" y="3685549"/>
              <a:ext cx="2287270" cy="325120"/>
            </a:xfrm>
            <a:custGeom>
              <a:avLst/>
              <a:gdLst/>
              <a:ahLst/>
              <a:cxnLst/>
              <a:rect l="l" t="t" r="r" b="b"/>
              <a:pathLst>
                <a:path w="2287270" h="325120">
                  <a:moveTo>
                    <a:pt x="2232748" y="324899"/>
                  </a:moveTo>
                  <a:lnTo>
                    <a:pt x="0" y="324899"/>
                  </a:lnTo>
                  <a:lnTo>
                    <a:pt x="0" y="54151"/>
                  </a:lnTo>
                  <a:lnTo>
                    <a:pt x="4255" y="33073"/>
                  </a:lnTo>
                  <a:lnTo>
                    <a:pt x="15860" y="15860"/>
                  </a:lnTo>
                  <a:lnTo>
                    <a:pt x="33073" y="4255"/>
                  </a:lnTo>
                  <a:lnTo>
                    <a:pt x="54151" y="0"/>
                  </a:lnTo>
                  <a:lnTo>
                    <a:pt x="2286899" y="0"/>
                  </a:lnTo>
                  <a:lnTo>
                    <a:pt x="2286899" y="270748"/>
                  </a:lnTo>
                  <a:lnTo>
                    <a:pt x="2282644" y="291826"/>
                  </a:lnTo>
                  <a:lnTo>
                    <a:pt x="2271039" y="309039"/>
                  </a:lnTo>
                  <a:lnTo>
                    <a:pt x="2253826" y="320644"/>
                  </a:lnTo>
                  <a:lnTo>
                    <a:pt x="2232748" y="324899"/>
                  </a:lnTo>
                  <a:close/>
                </a:path>
              </a:pathLst>
            </a:custGeom>
            <a:solidFill>
              <a:srgbClr val="0078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91681" y="3685549"/>
              <a:ext cx="2287270" cy="325120"/>
            </a:xfrm>
            <a:custGeom>
              <a:avLst/>
              <a:gdLst/>
              <a:ahLst/>
              <a:cxnLst/>
              <a:rect l="l" t="t" r="r" b="b"/>
              <a:pathLst>
                <a:path w="2287270" h="325120">
                  <a:moveTo>
                    <a:pt x="54170" y="0"/>
                  </a:moveTo>
                  <a:lnTo>
                    <a:pt x="2286918" y="0"/>
                  </a:lnTo>
                  <a:lnTo>
                    <a:pt x="2286918" y="270748"/>
                  </a:lnTo>
                  <a:lnTo>
                    <a:pt x="2282663" y="291826"/>
                  </a:lnTo>
                  <a:lnTo>
                    <a:pt x="2271058" y="309039"/>
                  </a:lnTo>
                  <a:lnTo>
                    <a:pt x="2253845" y="320644"/>
                  </a:lnTo>
                  <a:lnTo>
                    <a:pt x="2232767" y="324899"/>
                  </a:lnTo>
                  <a:lnTo>
                    <a:pt x="18" y="324899"/>
                  </a:lnTo>
                  <a:lnTo>
                    <a:pt x="18" y="54151"/>
                  </a:lnTo>
                  <a:lnTo>
                    <a:pt x="4274" y="33073"/>
                  </a:lnTo>
                  <a:lnTo>
                    <a:pt x="15879" y="15860"/>
                  </a:lnTo>
                  <a:lnTo>
                    <a:pt x="33092" y="4255"/>
                  </a:lnTo>
                  <a:lnTo>
                    <a:pt x="54170" y="0"/>
                  </a:lnTo>
                  <a:close/>
                </a:path>
              </a:pathLst>
            </a:custGeom>
            <a:ln w="9524">
              <a:solidFill>
                <a:srgbClr val="0078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6375" y="3426550"/>
              <a:ext cx="3619500" cy="1265555"/>
            </a:xfrm>
            <a:custGeom>
              <a:avLst/>
              <a:gdLst/>
              <a:ahLst/>
              <a:cxnLst/>
              <a:rect l="l" t="t" r="r" b="b"/>
              <a:pathLst>
                <a:path w="3619500" h="1265554">
                  <a:moveTo>
                    <a:pt x="3407995" y="1265399"/>
                  </a:moveTo>
                  <a:lnTo>
                    <a:pt x="0" y="1265399"/>
                  </a:lnTo>
                  <a:lnTo>
                    <a:pt x="0" y="210904"/>
                  </a:lnTo>
                  <a:lnTo>
                    <a:pt x="5570" y="162545"/>
                  </a:lnTo>
                  <a:lnTo>
                    <a:pt x="21436" y="118153"/>
                  </a:lnTo>
                  <a:lnTo>
                    <a:pt x="46333" y="78994"/>
                  </a:lnTo>
                  <a:lnTo>
                    <a:pt x="78994" y="46333"/>
                  </a:lnTo>
                  <a:lnTo>
                    <a:pt x="118153" y="21436"/>
                  </a:lnTo>
                  <a:lnTo>
                    <a:pt x="162545" y="5570"/>
                  </a:lnTo>
                  <a:lnTo>
                    <a:pt x="210904" y="0"/>
                  </a:lnTo>
                  <a:lnTo>
                    <a:pt x="3618899" y="0"/>
                  </a:lnTo>
                  <a:lnTo>
                    <a:pt x="3618899" y="1054495"/>
                  </a:lnTo>
                  <a:lnTo>
                    <a:pt x="3613329" y="1102854"/>
                  </a:lnTo>
                  <a:lnTo>
                    <a:pt x="3597463" y="1147246"/>
                  </a:lnTo>
                  <a:lnTo>
                    <a:pt x="3572566" y="1186405"/>
                  </a:lnTo>
                  <a:lnTo>
                    <a:pt x="3539905" y="1219066"/>
                  </a:lnTo>
                  <a:lnTo>
                    <a:pt x="3500746" y="1243963"/>
                  </a:lnTo>
                  <a:lnTo>
                    <a:pt x="3456354" y="1259829"/>
                  </a:lnTo>
                  <a:lnTo>
                    <a:pt x="3407995" y="1265399"/>
                  </a:lnTo>
                  <a:close/>
                </a:path>
              </a:pathLst>
            </a:custGeom>
            <a:solidFill>
              <a:srgbClr val="0078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6344" y="3426550"/>
              <a:ext cx="3619500" cy="1265555"/>
            </a:xfrm>
            <a:custGeom>
              <a:avLst/>
              <a:gdLst/>
              <a:ahLst/>
              <a:cxnLst/>
              <a:rect l="l" t="t" r="r" b="b"/>
              <a:pathLst>
                <a:path w="3619500" h="1265554">
                  <a:moveTo>
                    <a:pt x="210934" y="0"/>
                  </a:moveTo>
                  <a:lnTo>
                    <a:pt x="3618929" y="0"/>
                  </a:lnTo>
                  <a:lnTo>
                    <a:pt x="3618929" y="1054495"/>
                  </a:lnTo>
                  <a:lnTo>
                    <a:pt x="3613359" y="1102854"/>
                  </a:lnTo>
                  <a:lnTo>
                    <a:pt x="3597493" y="1147246"/>
                  </a:lnTo>
                  <a:lnTo>
                    <a:pt x="3572596" y="1186405"/>
                  </a:lnTo>
                  <a:lnTo>
                    <a:pt x="3539935" y="1219066"/>
                  </a:lnTo>
                  <a:lnTo>
                    <a:pt x="3500776" y="1243963"/>
                  </a:lnTo>
                  <a:lnTo>
                    <a:pt x="3456384" y="1259829"/>
                  </a:lnTo>
                  <a:lnTo>
                    <a:pt x="3408025" y="1265399"/>
                  </a:lnTo>
                  <a:lnTo>
                    <a:pt x="29" y="1265399"/>
                  </a:lnTo>
                  <a:lnTo>
                    <a:pt x="29" y="210904"/>
                  </a:lnTo>
                  <a:lnTo>
                    <a:pt x="5600" y="162545"/>
                  </a:lnTo>
                  <a:lnTo>
                    <a:pt x="21466" y="118153"/>
                  </a:lnTo>
                  <a:lnTo>
                    <a:pt x="46363" y="78994"/>
                  </a:lnTo>
                  <a:lnTo>
                    <a:pt x="79024" y="46333"/>
                  </a:lnTo>
                  <a:lnTo>
                    <a:pt x="118183" y="21436"/>
                  </a:lnTo>
                  <a:lnTo>
                    <a:pt x="162575" y="5570"/>
                  </a:lnTo>
                  <a:lnTo>
                    <a:pt x="210934" y="0"/>
                  </a:lnTo>
                  <a:close/>
                </a:path>
              </a:pathLst>
            </a:custGeom>
            <a:ln w="9524">
              <a:solidFill>
                <a:srgbClr val="0078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51774" y="215134"/>
            <a:ext cx="80238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10" dirty="0"/>
              <a:t>Clustering</a:t>
            </a:r>
            <a:r>
              <a:rPr sz="3000" spc="-145" dirty="0"/>
              <a:t> </a:t>
            </a:r>
            <a:r>
              <a:rPr sz="3000" spc="-175" dirty="0"/>
              <a:t>non</a:t>
            </a:r>
            <a:r>
              <a:rPr sz="3000" spc="-145" dirty="0"/>
              <a:t> </a:t>
            </a:r>
            <a:r>
              <a:rPr sz="3000" spc="-110" dirty="0"/>
              <a:t>supervisé</a:t>
            </a:r>
            <a:r>
              <a:rPr sz="3000" spc="-145" dirty="0"/>
              <a:t> sur</a:t>
            </a:r>
            <a:r>
              <a:rPr sz="3000" spc="-140" dirty="0"/>
              <a:t> </a:t>
            </a:r>
            <a:r>
              <a:rPr sz="3000" spc="-65" dirty="0"/>
              <a:t>les</a:t>
            </a:r>
            <a:r>
              <a:rPr sz="3000" spc="-145" dirty="0"/>
              <a:t> </a:t>
            </a:r>
            <a:r>
              <a:rPr sz="3000" spc="-110" dirty="0"/>
              <a:t>variables</a:t>
            </a:r>
            <a:r>
              <a:rPr sz="3000" spc="-145" dirty="0"/>
              <a:t> </a:t>
            </a:r>
            <a:r>
              <a:rPr sz="3000" spc="-25" dirty="0"/>
              <a:t>RFM</a:t>
            </a:r>
            <a:endParaRPr sz="3000"/>
          </a:p>
        </p:txBody>
      </p:sp>
      <p:grpSp>
        <p:nvGrpSpPr>
          <p:cNvPr id="9" name="object 9"/>
          <p:cNvGrpSpPr/>
          <p:nvPr/>
        </p:nvGrpSpPr>
        <p:grpSpPr>
          <a:xfrm>
            <a:off x="190075" y="1234037"/>
            <a:ext cx="8742045" cy="3702050"/>
            <a:chOff x="190075" y="1234037"/>
            <a:chExt cx="8742045" cy="370205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300" y="1234037"/>
              <a:ext cx="3465900" cy="22496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07025" y="4610625"/>
              <a:ext cx="324949" cy="3249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075" y="4457400"/>
              <a:ext cx="814075" cy="4781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29325" y="992537"/>
            <a:ext cx="21488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Détermination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 nombre de </a:t>
            </a:r>
            <a:r>
              <a:rPr sz="1100" spc="-10" dirty="0">
                <a:latin typeface="Calibri"/>
                <a:cs typeface="Calibri"/>
              </a:rPr>
              <a:t>clusters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5425" y="3728112"/>
            <a:ext cx="21443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Le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nombre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de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clusters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à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calculer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est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D9D9D9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86175" y="3551137"/>
            <a:ext cx="30664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Nous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obtenons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cluster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très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petit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et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3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homogènes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en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termes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de</a:t>
            </a:r>
            <a:r>
              <a:rPr sz="1100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taille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et</a:t>
            </a:r>
            <a:r>
              <a:rPr sz="1100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densité.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86175" y="4054056"/>
            <a:ext cx="321437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Pour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le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petit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cluster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nous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atteignons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une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valeur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négative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de</a:t>
            </a:r>
            <a:r>
              <a:rPr sz="1100" spc="2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-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0.1,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il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y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a</a:t>
            </a:r>
            <a:r>
              <a:rPr sz="1100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un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possible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mauvais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choix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de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cluster.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4173999" y="3470924"/>
              <a:ext cx="4085590" cy="1110615"/>
            </a:xfrm>
            <a:custGeom>
              <a:avLst/>
              <a:gdLst/>
              <a:ahLst/>
              <a:cxnLst/>
              <a:rect l="l" t="t" r="r" b="b"/>
              <a:pathLst>
                <a:path w="4085590" h="1110614">
                  <a:moveTo>
                    <a:pt x="3900095" y="1109999"/>
                  </a:moveTo>
                  <a:lnTo>
                    <a:pt x="0" y="1109999"/>
                  </a:lnTo>
                  <a:lnTo>
                    <a:pt x="0" y="185003"/>
                  </a:lnTo>
                  <a:lnTo>
                    <a:pt x="6608" y="135822"/>
                  </a:lnTo>
                  <a:lnTo>
                    <a:pt x="25258" y="91628"/>
                  </a:lnTo>
                  <a:lnTo>
                    <a:pt x="54186" y="54186"/>
                  </a:lnTo>
                  <a:lnTo>
                    <a:pt x="91628" y="25258"/>
                  </a:lnTo>
                  <a:lnTo>
                    <a:pt x="135822" y="6608"/>
                  </a:lnTo>
                  <a:lnTo>
                    <a:pt x="185003" y="0"/>
                  </a:lnTo>
                  <a:lnTo>
                    <a:pt x="4085099" y="0"/>
                  </a:lnTo>
                  <a:lnTo>
                    <a:pt x="4085099" y="924996"/>
                  </a:lnTo>
                  <a:lnTo>
                    <a:pt x="4078491" y="974177"/>
                  </a:lnTo>
                  <a:lnTo>
                    <a:pt x="4059841" y="1018371"/>
                  </a:lnTo>
                  <a:lnTo>
                    <a:pt x="4030913" y="1055813"/>
                  </a:lnTo>
                  <a:lnTo>
                    <a:pt x="3993471" y="1084741"/>
                  </a:lnTo>
                  <a:lnTo>
                    <a:pt x="3949277" y="1103391"/>
                  </a:lnTo>
                  <a:lnTo>
                    <a:pt x="3900095" y="1109999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73966" y="3470924"/>
              <a:ext cx="4085590" cy="1110615"/>
            </a:xfrm>
            <a:custGeom>
              <a:avLst/>
              <a:gdLst/>
              <a:ahLst/>
              <a:cxnLst/>
              <a:rect l="l" t="t" r="r" b="b"/>
              <a:pathLst>
                <a:path w="4085590" h="1110614">
                  <a:moveTo>
                    <a:pt x="185037" y="0"/>
                  </a:moveTo>
                  <a:lnTo>
                    <a:pt x="4085133" y="0"/>
                  </a:lnTo>
                  <a:lnTo>
                    <a:pt x="4085133" y="924996"/>
                  </a:lnTo>
                  <a:lnTo>
                    <a:pt x="4078525" y="974177"/>
                  </a:lnTo>
                  <a:lnTo>
                    <a:pt x="4059875" y="1018371"/>
                  </a:lnTo>
                  <a:lnTo>
                    <a:pt x="4030947" y="1055813"/>
                  </a:lnTo>
                  <a:lnTo>
                    <a:pt x="3993505" y="1084741"/>
                  </a:lnTo>
                  <a:lnTo>
                    <a:pt x="3949311" y="1103391"/>
                  </a:lnTo>
                  <a:lnTo>
                    <a:pt x="3900129" y="1109999"/>
                  </a:lnTo>
                  <a:lnTo>
                    <a:pt x="33" y="1109999"/>
                  </a:lnTo>
                  <a:lnTo>
                    <a:pt x="33" y="185003"/>
                  </a:lnTo>
                  <a:lnTo>
                    <a:pt x="6642" y="135822"/>
                  </a:lnTo>
                  <a:lnTo>
                    <a:pt x="25292" y="91628"/>
                  </a:lnTo>
                  <a:lnTo>
                    <a:pt x="54220" y="54186"/>
                  </a:lnTo>
                  <a:lnTo>
                    <a:pt x="91662" y="25258"/>
                  </a:lnTo>
                  <a:lnTo>
                    <a:pt x="135856" y="6608"/>
                  </a:lnTo>
                  <a:lnTo>
                    <a:pt x="185037" y="0"/>
                  </a:lnTo>
                  <a:close/>
                </a:path>
              </a:pathLst>
            </a:custGeom>
            <a:ln w="9524">
              <a:solidFill>
                <a:srgbClr val="233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1375" y="214084"/>
            <a:ext cx="77520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00" dirty="0"/>
              <a:t>Visualisation</a:t>
            </a:r>
            <a:r>
              <a:rPr sz="3000" spc="-145" dirty="0"/>
              <a:t> </a:t>
            </a:r>
            <a:r>
              <a:rPr sz="3000" spc="-90" dirty="0"/>
              <a:t>et</a:t>
            </a:r>
            <a:r>
              <a:rPr sz="3000" spc="-140" dirty="0"/>
              <a:t> </a:t>
            </a:r>
            <a:r>
              <a:rPr sz="3000" spc="-135" dirty="0"/>
              <a:t>interprétation</a:t>
            </a:r>
            <a:r>
              <a:rPr sz="3000" spc="-140" dirty="0"/>
              <a:t> </a:t>
            </a:r>
            <a:r>
              <a:rPr sz="3000" spc="-110" dirty="0"/>
              <a:t>des</a:t>
            </a:r>
            <a:r>
              <a:rPr sz="3000" spc="-140" dirty="0"/>
              <a:t> </a:t>
            </a:r>
            <a:r>
              <a:rPr sz="3000" spc="-114" dirty="0"/>
              <a:t>clusters</a:t>
            </a:r>
            <a:r>
              <a:rPr sz="3000" spc="-140" dirty="0"/>
              <a:t> </a:t>
            </a:r>
            <a:r>
              <a:rPr sz="3000" spc="-55" dirty="0"/>
              <a:t>du </a:t>
            </a:r>
            <a:r>
              <a:rPr sz="3000" spc="-10" dirty="0"/>
              <a:t>Kmeans</a:t>
            </a:r>
            <a:endParaRPr sz="30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7025" y="4610625"/>
            <a:ext cx="324949" cy="3249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06225" y="1207161"/>
            <a:ext cx="23602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obtient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clusters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plutôt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bien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séparés.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0075" y="1419700"/>
            <a:ext cx="6796405" cy="3515995"/>
            <a:chOff x="190075" y="1419700"/>
            <a:chExt cx="6796405" cy="351599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3199" y="1419700"/>
              <a:ext cx="2752724" cy="18859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475" y="1509625"/>
              <a:ext cx="2978199" cy="29382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075" y="4457399"/>
              <a:ext cx="814075" cy="4781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391305" y="3475437"/>
            <a:ext cx="3637279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: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Clients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récents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et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unique</a:t>
            </a:r>
            <a:endParaRPr sz="1100">
              <a:latin typeface="Calibri"/>
              <a:cs typeface="Calibri"/>
            </a:endParaRPr>
          </a:p>
          <a:p>
            <a:pPr marL="325120" marR="5080" indent="-313055">
              <a:lnSpc>
                <a:spcPct val="100000"/>
              </a:lnSpc>
              <a:buFont typeface="Arial MT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1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: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Clients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réguliers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(multiples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commandes)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avec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un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panier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total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à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800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buFont typeface="Arial MT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2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: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Clients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uniques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un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peu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anciens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avec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un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panier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total</a:t>
            </a:r>
            <a:endParaRPr sz="11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buFont typeface="Arial MT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3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: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Clients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très</a:t>
            </a:r>
            <a:r>
              <a:rPr sz="11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anciens(15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mois)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33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object 4"/>
            <p:cNvSpPr/>
            <p:nvPr/>
          </p:nvSpPr>
          <p:spPr>
            <a:xfrm>
              <a:off x="3582599" y="1550700"/>
              <a:ext cx="5561965" cy="3592829"/>
            </a:xfrm>
            <a:custGeom>
              <a:avLst/>
              <a:gdLst/>
              <a:ahLst/>
              <a:cxnLst/>
              <a:rect l="l" t="t" r="r" b="b"/>
              <a:pathLst>
                <a:path w="5561965" h="3592829">
                  <a:moveTo>
                    <a:pt x="5561399" y="3592799"/>
                  </a:moveTo>
                  <a:lnTo>
                    <a:pt x="0" y="3592799"/>
                  </a:lnTo>
                  <a:lnTo>
                    <a:pt x="5561399" y="0"/>
                  </a:lnTo>
                  <a:lnTo>
                    <a:pt x="5561399" y="35927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" y="2824500"/>
              <a:ext cx="7370445" cy="2319020"/>
            </a:xfrm>
            <a:custGeom>
              <a:avLst/>
              <a:gdLst/>
              <a:ahLst/>
              <a:cxnLst/>
              <a:rect l="l" t="t" r="r" b="b"/>
              <a:pathLst>
                <a:path w="7370445" h="2319020">
                  <a:moveTo>
                    <a:pt x="7370399" y="2318999"/>
                  </a:moveTo>
                  <a:lnTo>
                    <a:pt x="0" y="2318999"/>
                  </a:lnTo>
                  <a:lnTo>
                    <a:pt x="0" y="0"/>
                  </a:lnTo>
                  <a:lnTo>
                    <a:pt x="7370399" y="23189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3224" y="206250"/>
              <a:ext cx="8737600" cy="4731385"/>
            </a:xfrm>
            <a:custGeom>
              <a:avLst/>
              <a:gdLst/>
              <a:ahLst/>
              <a:cxnLst/>
              <a:rect l="l" t="t" r="r" b="b"/>
              <a:pathLst>
                <a:path w="8737600" h="4731385">
                  <a:moveTo>
                    <a:pt x="8737499" y="4730999"/>
                  </a:moveTo>
                  <a:lnTo>
                    <a:pt x="0" y="4730999"/>
                  </a:lnTo>
                  <a:lnTo>
                    <a:pt x="0" y="0"/>
                  </a:lnTo>
                  <a:lnTo>
                    <a:pt x="8737499" y="0"/>
                  </a:lnTo>
                  <a:lnTo>
                    <a:pt x="8737499" y="473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10" dirty="0"/>
              <a:t>Segmentation</a:t>
            </a:r>
            <a:r>
              <a:rPr sz="3000" spc="-140" dirty="0"/>
              <a:t> </a:t>
            </a:r>
            <a:r>
              <a:rPr sz="3000" spc="-190" dirty="0"/>
              <a:t>K-</a:t>
            </a:r>
            <a:r>
              <a:rPr sz="3000" spc="-200" dirty="0"/>
              <a:t>means</a:t>
            </a:r>
            <a:r>
              <a:rPr sz="3000" spc="-140" dirty="0"/>
              <a:t> </a:t>
            </a:r>
            <a:r>
              <a:rPr sz="3000" spc="-105" dirty="0"/>
              <a:t>avec</a:t>
            </a:r>
            <a:r>
              <a:rPr sz="3000" spc="-140" dirty="0"/>
              <a:t> </a:t>
            </a:r>
            <a:r>
              <a:rPr sz="3000" spc="-120" dirty="0"/>
              <a:t>4</a:t>
            </a:r>
            <a:r>
              <a:rPr sz="3000" spc="-140" dirty="0"/>
              <a:t> </a:t>
            </a:r>
            <a:r>
              <a:rPr sz="3000" spc="-60" dirty="0"/>
              <a:t>variables</a:t>
            </a:r>
            <a:endParaRPr sz="3000"/>
          </a:p>
        </p:txBody>
      </p:sp>
      <p:grpSp>
        <p:nvGrpSpPr>
          <p:cNvPr id="9" name="object 9"/>
          <p:cNvGrpSpPr/>
          <p:nvPr/>
        </p:nvGrpSpPr>
        <p:grpSpPr>
          <a:xfrm>
            <a:off x="190075" y="4457400"/>
            <a:ext cx="8742045" cy="478790"/>
            <a:chOff x="190075" y="4457400"/>
            <a:chExt cx="8742045" cy="47879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075" y="4457400"/>
              <a:ext cx="814075" cy="4781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07025" y="4610625"/>
              <a:ext cx="324949" cy="32494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94875" y="725837"/>
            <a:ext cx="32054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ajoute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satisfaction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client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au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clustering.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1850" y="982600"/>
            <a:ext cx="8415020" cy="2069464"/>
            <a:chOff x="421850" y="982600"/>
            <a:chExt cx="8415020" cy="2069464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1850" y="982600"/>
              <a:ext cx="2896950" cy="20032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18799" y="982600"/>
              <a:ext cx="2862974" cy="20689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81774" y="1024975"/>
              <a:ext cx="2654700" cy="191847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401400" y="3580587"/>
            <a:ext cx="3991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Ici 5 </a:t>
            </a:r>
            <a:r>
              <a:rPr sz="1100" spc="-10" dirty="0">
                <a:latin typeface="Calibri"/>
                <a:cs typeface="Calibri"/>
              </a:rPr>
              <a:t>clusters</a:t>
            </a:r>
            <a:r>
              <a:rPr sz="1100" dirty="0">
                <a:latin typeface="Calibri"/>
                <a:cs typeface="Calibri"/>
              </a:rPr>
              <a:t> sont </a:t>
            </a:r>
            <a:r>
              <a:rPr sz="1100" spc="-10" dirty="0">
                <a:latin typeface="Calibri"/>
                <a:cs typeface="Calibri"/>
              </a:rPr>
              <a:t>nécessaires,</a:t>
            </a:r>
            <a:r>
              <a:rPr sz="1100" dirty="0">
                <a:latin typeface="Calibri"/>
                <a:cs typeface="Calibri"/>
              </a:rPr>
              <a:t> en </a:t>
            </a:r>
            <a:r>
              <a:rPr sz="1100" spc="-10" dirty="0">
                <a:latin typeface="Calibri"/>
                <a:cs typeface="Calibri"/>
              </a:rPr>
              <a:t>considérant</a:t>
            </a:r>
            <a:r>
              <a:rPr sz="1100" dirty="0">
                <a:latin typeface="Calibri"/>
                <a:cs typeface="Calibri"/>
              </a:rPr>
              <a:t> les 4 </a:t>
            </a:r>
            <a:r>
              <a:rPr sz="1100" spc="-10" dirty="0">
                <a:latin typeface="Calibri"/>
                <a:cs typeface="Calibri"/>
              </a:rPr>
              <a:t>variables</a:t>
            </a:r>
            <a:r>
              <a:rPr sz="1100" dirty="0">
                <a:latin typeface="Calibri"/>
                <a:cs typeface="Calibri"/>
              </a:rPr>
              <a:t> en </a:t>
            </a:r>
            <a:r>
              <a:rPr sz="1100" spc="-10" dirty="0">
                <a:latin typeface="Calibri"/>
                <a:cs typeface="Calibri"/>
              </a:rPr>
              <a:t>entrée </a:t>
            </a:r>
            <a:r>
              <a:rPr sz="1100" dirty="0">
                <a:latin typeface="Calibri"/>
                <a:cs typeface="Calibri"/>
              </a:rPr>
              <a:t>et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l’aspect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silhouettes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plutôt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homogène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longueur.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4412400" y="3005675"/>
              <a:ext cx="3080385" cy="949960"/>
            </a:xfrm>
            <a:custGeom>
              <a:avLst/>
              <a:gdLst/>
              <a:ahLst/>
              <a:cxnLst/>
              <a:rect l="l" t="t" r="r" b="b"/>
              <a:pathLst>
                <a:path w="3080384" h="949960">
                  <a:moveTo>
                    <a:pt x="2921796" y="949799"/>
                  </a:moveTo>
                  <a:lnTo>
                    <a:pt x="0" y="949799"/>
                  </a:lnTo>
                  <a:lnTo>
                    <a:pt x="0" y="158303"/>
                  </a:lnTo>
                  <a:lnTo>
                    <a:pt x="8070" y="108267"/>
                  </a:lnTo>
                  <a:lnTo>
                    <a:pt x="30543" y="64811"/>
                  </a:lnTo>
                  <a:lnTo>
                    <a:pt x="64811" y="30543"/>
                  </a:lnTo>
                  <a:lnTo>
                    <a:pt x="108266" y="8070"/>
                  </a:lnTo>
                  <a:lnTo>
                    <a:pt x="158302" y="0"/>
                  </a:lnTo>
                  <a:lnTo>
                    <a:pt x="3080099" y="0"/>
                  </a:lnTo>
                  <a:lnTo>
                    <a:pt x="3080099" y="791496"/>
                  </a:lnTo>
                  <a:lnTo>
                    <a:pt x="3072029" y="841533"/>
                  </a:lnTo>
                  <a:lnTo>
                    <a:pt x="3049556" y="884988"/>
                  </a:lnTo>
                  <a:lnTo>
                    <a:pt x="3015288" y="919256"/>
                  </a:lnTo>
                  <a:lnTo>
                    <a:pt x="2971832" y="941729"/>
                  </a:lnTo>
                  <a:lnTo>
                    <a:pt x="2921796" y="949799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12374" y="3005675"/>
              <a:ext cx="3080385" cy="949960"/>
            </a:xfrm>
            <a:custGeom>
              <a:avLst/>
              <a:gdLst/>
              <a:ahLst/>
              <a:cxnLst/>
              <a:rect l="l" t="t" r="r" b="b"/>
              <a:pathLst>
                <a:path w="3080384" h="949960">
                  <a:moveTo>
                    <a:pt x="158328" y="0"/>
                  </a:moveTo>
                  <a:lnTo>
                    <a:pt x="3080125" y="0"/>
                  </a:lnTo>
                  <a:lnTo>
                    <a:pt x="3080125" y="791496"/>
                  </a:lnTo>
                  <a:lnTo>
                    <a:pt x="3072055" y="841533"/>
                  </a:lnTo>
                  <a:lnTo>
                    <a:pt x="3049582" y="884988"/>
                  </a:lnTo>
                  <a:lnTo>
                    <a:pt x="3015314" y="919256"/>
                  </a:lnTo>
                  <a:lnTo>
                    <a:pt x="2971858" y="941729"/>
                  </a:lnTo>
                  <a:lnTo>
                    <a:pt x="2921822" y="949799"/>
                  </a:lnTo>
                  <a:lnTo>
                    <a:pt x="25" y="949799"/>
                  </a:lnTo>
                  <a:lnTo>
                    <a:pt x="25" y="158303"/>
                  </a:lnTo>
                  <a:lnTo>
                    <a:pt x="8096" y="108267"/>
                  </a:lnTo>
                  <a:lnTo>
                    <a:pt x="30568" y="64811"/>
                  </a:lnTo>
                  <a:lnTo>
                    <a:pt x="64836" y="30543"/>
                  </a:lnTo>
                  <a:lnTo>
                    <a:pt x="108292" y="8070"/>
                  </a:lnTo>
                  <a:lnTo>
                    <a:pt x="158328" y="0"/>
                  </a:lnTo>
                  <a:close/>
                </a:path>
              </a:pathLst>
            </a:custGeom>
            <a:ln w="9524">
              <a:solidFill>
                <a:srgbClr val="233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578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100"/>
              </a:spcBef>
            </a:pPr>
            <a:r>
              <a:rPr sz="3000" spc="-100" dirty="0"/>
              <a:t>Visualisation</a:t>
            </a:r>
            <a:r>
              <a:rPr sz="3000" spc="-150" dirty="0"/>
              <a:t> </a:t>
            </a:r>
            <a:r>
              <a:rPr sz="3000" spc="-90" dirty="0"/>
              <a:t>et</a:t>
            </a:r>
            <a:r>
              <a:rPr sz="3000" spc="-145" dirty="0"/>
              <a:t> </a:t>
            </a:r>
            <a:r>
              <a:rPr sz="3000" spc="-135" dirty="0"/>
              <a:t>interprétation</a:t>
            </a:r>
            <a:r>
              <a:rPr sz="3000" spc="-150" dirty="0"/>
              <a:t> </a:t>
            </a:r>
            <a:r>
              <a:rPr sz="3000" spc="-110" dirty="0"/>
              <a:t>des</a:t>
            </a:r>
            <a:r>
              <a:rPr sz="3000" spc="-145" dirty="0"/>
              <a:t> </a:t>
            </a:r>
            <a:r>
              <a:rPr sz="3000" spc="-75" dirty="0"/>
              <a:t>clusters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4485425" y="3074128"/>
            <a:ext cx="27476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4629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0: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Clients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satisfaits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commencent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à être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anciens</a:t>
            </a:r>
            <a:r>
              <a:rPr sz="9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1: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Clients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mécontents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(7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mois)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2: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Clients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récents,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satisfaits</a:t>
            </a:r>
            <a:endParaRPr sz="9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3: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Clients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presque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perdus(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mois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satisfaits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du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9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4: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Clients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réguliers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avec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dépense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totale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élevé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plutôt</a:t>
            </a:r>
            <a:r>
              <a:rPr sz="9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satisfaits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0075" y="819050"/>
            <a:ext cx="8742045" cy="4116704"/>
            <a:chOff x="190075" y="819050"/>
            <a:chExt cx="8742045" cy="4116704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075" y="4457400"/>
              <a:ext cx="814075" cy="4781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7025" y="4610625"/>
              <a:ext cx="324949" cy="3249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700" y="819050"/>
              <a:ext cx="3331569" cy="32868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2700" y="819050"/>
              <a:ext cx="4613999" cy="18391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5779" y="-28344"/>
            <a:ext cx="609917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6695">
              <a:lnSpc>
                <a:spcPct val="100000"/>
              </a:lnSpc>
              <a:spcBef>
                <a:spcPts val="100"/>
              </a:spcBef>
            </a:pPr>
            <a:r>
              <a:rPr sz="2800" spc="-95" dirty="0">
                <a:solidFill>
                  <a:srgbClr val="233944"/>
                </a:solidFill>
              </a:rPr>
              <a:t>Processus</a:t>
            </a:r>
            <a:r>
              <a:rPr sz="2800" spc="-155" dirty="0">
                <a:solidFill>
                  <a:srgbClr val="233944"/>
                </a:solidFill>
              </a:rPr>
              <a:t> </a:t>
            </a:r>
            <a:r>
              <a:rPr sz="2800" spc="-165" dirty="0">
                <a:solidFill>
                  <a:srgbClr val="233944"/>
                </a:solidFill>
              </a:rPr>
              <a:t>pour</a:t>
            </a:r>
            <a:r>
              <a:rPr sz="2800" spc="-155" dirty="0">
                <a:solidFill>
                  <a:srgbClr val="233944"/>
                </a:solidFill>
              </a:rPr>
              <a:t> </a:t>
            </a:r>
            <a:r>
              <a:rPr sz="2800" spc="-20" dirty="0">
                <a:solidFill>
                  <a:srgbClr val="233944"/>
                </a:solidFill>
              </a:rPr>
              <a:t>la</a:t>
            </a:r>
            <a:r>
              <a:rPr sz="2800" spc="-155" dirty="0">
                <a:solidFill>
                  <a:srgbClr val="233944"/>
                </a:solidFill>
              </a:rPr>
              <a:t> </a:t>
            </a:r>
            <a:r>
              <a:rPr sz="2800" spc="-140" dirty="0">
                <a:solidFill>
                  <a:srgbClr val="233944"/>
                </a:solidFill>
              </a:rPr>
              <a:t>détermination</a:t>
            </a:r>
            <a:r>
              <a:rPr sz="2800" spc="-150" dirty="0">
                <a:solidFill>
                  <a:srgbClr val="233944"/>
                </a:solidFill>
              </a:rPr>
              <a:t> </a:t>
            </a:r>
            <a:r>
              <a:rPr sz="2800" spc="-25" dirty="0">
                <a:solidFill>
                  <a:srgbClr val="233944"/>
                </a:solidFill>
              </a:rPr>
              <a:t>de </a:t>
            </a:r>
            <a:r>
              <a:rPr sz="2800" spc="-95" dirty="0">
                <a:solidFill>
                  <a:srgbClr val="233944"/>
                </a:solidFill>
              </a:rPr>
              <a:t>l’intervalle</a:t>
            </a:r>
            <a:r>
              <a:rPr sz="2800" spc="-140" dirty="0">
                <a:solidFill>
                  <a:srgbClr val="233944"/>
                </a:solidFill>
              </a:rPr>
              <a:t> </a:t>
            </a:r>
            <a:r>
              <a:rPr sz="2800" spc="-125" dirty="0">
                <a:solidFill>
                  <a:srgbClr val="233944"/>
                </a:solidFill>
              </a:rPr>
              <a:t>de</a:t>
            </a:r>
            <a:r>
              <a:rPr sz="2800" spc="-140" dirty="0">
                <a:solidFill>
                  <a:srgbClr val="233944"/>
                </a:solidFill>
              </a:rPr>
              <a:t> </a:t>
            </a:r>
            <a:r>
              <a:rPr sz="2800" spc="-135" dirty="0">
                <a:solidFill>
                  <a:srgbClr val="233944"/>
                </a:solidFill>
              </a:rPr>
              <a:t>maintenance</a:t>
            </a:r>
            <a:r>
              <a:rPr sz="2800" spc="-140" dirty="0">
                <a:solidFill>
                  <a:srgbClr val="233944"/>
                </a:solidFill>
              </a:rPr>
              <a:t> </a:t>
            </a:r>
            <a:r>
              <a:rPr sz="2800" spc="-165" dirty="0">
                <a:solidFill>
                  <a:srgbClr val="233944"/>
                </a:solidFill>
              </a:rPr>
              <a:t>du</a:t>
            </a:r>
            <a:r>
              <a:rPr sz="2800" spc="-135" dirty="0">
                <a:solidFill>
                  <a:srgbClr val="233944"/>
                </a:solidFill>
              </a:rPr>
              <a:t> </a:t>
            </a:r>
            <a:r>
              <a:rPr sz="2800" spc="-75" dirty="0">
                <a:solidFill>
                  <a:srgbClr val="233944"/>
                </a:solidFill>
              </a:rPr>
              <a:t>modèle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07227" y="2050879"/>
            <a:ext cx="1555750" cy="94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6144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Roboto"/>
                <a:cs typeface="Roboto"/>
              </a:rPr>
              <a:t>Modèle</a:t>
            </a:r>
            <a:r>
              <a:rPr sz="1200" b="1" spc="5" dirty="0">
                <a:latin typeface="Roboto"/>
                <a:cs typeface="Roboto"/>
              </a:rPr>
              <a:t> </a:t>
            </a:r>
            <a:r>
              <a:rPr sz="1200" b="1" spc="-50" dirty="0">
                <a:latin typeface="Roboto"/>
                <a:cs typeface="Roboto"/>
              </a:rPr>
              <a:t>0</a:t>
            </a:r>
            <a:endParaRPr sz="1200">
              <a:latin typeface="Roboto"/>
              <a:cs typeface="Roboto"/>
            </a:endParaRPr>
          </a:p>
          <a:p>
            <a:pPr marR="5080" algn="r">
              <a:lnSpc>
                <a:spcPct val="100000"/>
              </a:lnSpc>
              <a:spcBef>
                <a:spcPts val="975"/>
              </a:spcBef>
            </a:pPr>
            <a:r>
              <a:rPr sz="800" spc="-10" dirty="0">
                <a:latin typeface="Roboto"/>
                <a:cs typeface="Roboto"/>
              </a:rPr>
              <a:t>Features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0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=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F0:</a:t>
            </a:r>
            <a:r>
              <a:rPr sz="800" spc="-10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12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spc="-10" dirty="0">
                <a:latin typeface="Roboto"/>
                <a:cs typeface="Roboto"/>
              </a:rPr>
              <a:t>premiers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spc="-20" dirty="0">
                <a:latin typeface="Roboto"/>
                <a:cs typeface="Roboto"/>
              </a:rPr>
              <a:t>mois</a:t>
            </a:r>
            <a:endParaRPr sz="800">
              <a:latin typeface="Roboto"/>
              <a:cs typeface="Roboto"/>
            </a:endParaRPr>
          </a:p>
          <a:p>
            <a:pPr marL="628015" marR="5080" indent="390525" algn="r">
              <a:lnSpc>
                <a:spcPct val="101600"/>
              </a:lnSpc>
            </a:pPr>
            <a:r>
              <a:rPr sz="800" dirty="0">
                <a:latin typeface="Roboto"/>
                <a:cs typeface="Roboto"/>
              </a:rPr>
              <a:t>de</a:t>
            </a:r>
            <a:r>
              <a:rPr sz="800" spc="-10" dirty="0">
                <a:latin typeface="Roboto"/>
                <a:cs typeface="Roboto"/>
              </a:rPr>
              <a:t> données</a:t>
            </a:r>
            <a:r>
              <a:rPr sz="800" spc="500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4 </a:t>
            </a:r>
            <a:r>
              <a:rPr sz="800" spc="-10" dirty="0">
                <a:latin typeface="Roboto"/>
                <a:cs typeface="Roboto"/>
              </a:rPr>
              <a:t>variables</a:t>
            </a:r>
            <a:r>
              <a:rPr sz="800" dirty="0">
                <a:latin typeface="Roboto"/>
                <a:cs typeface="Roboto"/>
              </a:rPr>
              <a:t> : </a:t>
            </a:r>
            <a:r>
              <a:rPr sz="800" spc="-80" dirty="0">
                <a:latin typeface="Roboto"/>
                <a:cs typeface="Roboto"/>
              </a:rPr>
              <a:t>R-</a:t>
            </a:r>
            <a:r>
              <a:rPr sz="800" spc="-65" dirty="0">
                <a:latin typeface="Roboto"/>
                <a:cs typeface="Roboto"/>
              </a:rPr>
              <a:t>F-</a:t>
            </a:r>
            <a:r>
              <a:rPr sz="800" spc="-90" dirty="0">
                <a:latin typeface="Roboto"/>
                <a:cs typeface="Roboto"/>
              </a:rPr>
              <a:t>M-</a:t>
            </a:r>
            <a:r>
              <a:rPr sz="800" spc="-50" dirty="0">
                <a:latin typeface="Roboto"/>
                <a:cs typeface="Roboto"/>
              </a:rPr>
              <a:t>S</a:t>
            </a:r>
            <a:endParaRPr sz="800">
              <a:latin typeface="Roboto"/>
              <a:cs typeface="Roboto"/>
            </a:endParaRPr>
          </a:p>
          <a:p>
            <a:pPr marR="5080" algn="r">
              <a:lnSpc>
                <a:spcPct val="100000"/>
              </a:lnSpc>
              <a:spcBef>
                <a:spcPts val="15"/>
              </a:spcBef>
            </a:pPr>
            <a:r>
              <a:rPr sz="800" spc="-25" dirty="0">
                <a:latin typeface="Roboto"/>
                <a:cs typeface="Roboto"/>
              </a:rPr>
              <a:t>ACP</a:t>
            </a:r>
            <a:endParaRPr sz="800">
              <a:latin typeface="Roboto"/>
              <a:cs typeface="Roboto"/>
            </a:endParaRPr>
          </a:p>
          <a:p>
            <a:pPr marR="5080" algn="r">
              <a:lnSpc>
                <a:spcPct val="100000"/>
              </a:lnSpc>
              <a:spcBef>
                <a:spcPts val="15"/>
              </a:spcBef>
            </a:pPr>
            <a:r>
              <a:rPr sz="800" spc="-10" dirty="0">
                <a:latin typeface="Roboto"/>
                <a:cs typeface="Roboto"/>
              </a:rPr>
              <a:t>Kmeans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34929" y="1721768"/>
            <a:ext cx="4195445" cy="932815"/>
            <a:chOff x="1834929" y="1721768"/>
            <a:chExt cx="4195445" cy="932815"/>
          </a:xfrm>
        </p:grpSpPr>
        <p:sp>
          <p:nvSpPr>
            <p:cNvPr id="5" name="object 5"/>
            <p:cNvSpPr/>
            <p:nvPr/>
          </p:nvSpPr>
          <p:spPr>
            <a:xfrm>
              <a:off x="1871344" y="2633163"/>
              <a:ext cx="415925" cy="16510"/>
            </a:xfrm>
            <a:custGeom>
              <a:avLst/>
              <a:gdLst/>
              <a:ahLst/>
              <a:cxnLst/>
              <a:rect l="l" t="t" r="r" b="b"/>
              <a:pathLst>
                <a:path w="415925" h="16510">
                  <a:moveTo>
                    <a:pt x="415480" y="16286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249B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39692" y="261655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24028" y="31990"/>
                  </a:moveTo>
                  <a:lnTo>
                    <a:pt x="6734" y="31313"/>
                  </a:lnTo>
                  <a:lnTo>
                    <a:pt x="0" y="24028"/>
                  </a:lnTo>
                  <a:lnTo>
                    <a:pt x="338" y="15381"/>
                  </a:lnTo>
                  <a:lnTo>
                    <a:pt x="677" y="6734"/>
                  </a:lnTo>
                  <a:lnTo>
                    <a:pt x="7962" y="0"/>
                  </a:lnTo>
                  <a:lnTo>
                    <a:pt x="25256" y="677"/>
                  </a:lnTo>
                  <a:lnTo>
                    <a:pt x="31991" y="7962"/>
                  </a:lnTo>
                  <a:lnTo>
                    <a:pt x="31313" y="25256"/>
                  </a:lnTo>
                  <a:lnTo>
                    <a:pt x="24028" y="31990"/>
                  </a:lnTo>
                  <a:close/>
                </a:path>
              </a:pathLst>
            </a:custGeom>
            <a:solidFill>
              <a:srgbClr val="249B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39692" y="261655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38" y="15381"/>
                  </a:moveTo>
                  <a:lnTo>
                    <a:pt x="677" y="6734"/>
                  </a:lnTo>
                  <a:lnTo>
                    <a:pt x="7962" y="0"/>
                  </a:lnTo>
                  <a:lnTo>
                    <a:pt x="16609" y="338"/>
                  </a:lnTo>
                  <a:lnTo>
                    <a:pt x="25256" y="677"/>
                  </a:lnTo>
                  <a:lnTo>
                    <a:pt x="31991" y="7962"/>
                  </a:lnTo>
                  <a:lnTo>
                    <a:pt x="31652" y="16609"/>
                  </a:lnTo>
                  <a:lnTo>
                    <a:pt x="31313" y="25256"/>
                  </a:lnTo>
                  <a:lnTo>
                    <a:pt x="24028" y="31990"/>
                  </a:lnTo>
                  <a:lnTo>
                    <a:pt x="15381" y="31651"/>
                  </a:lnTo>
                  <a:lnTo>
                    <a:pt x="6734" y="31313"/>
                  </a:lnTo>
                  <a:lnTo>
                    <a:pt x="0" y="24028"/>
                  </a:lnTo>
                  <a:lnTo>
                    <a:pt x="338" y="15381"/>
                  </a:lnTo>
                  <a:close/>
                </a:path>
              </a:pathLst>
            </a:custGeom>
            <a:ln w="9524">
              <a:solidFill>
                <a:srgbClr val="249B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43587" y="1742199"/>
              <a:ext cx="1250950" cy="0"/>
            </a:xfrm>
            <a:custGeom>
              <a:avLst/>
              <a:gdLst/>
              <a:ahLst/>
              <a:cxnLst/>
              <a:rect l="l" t="t" r="r" b="b"/>
              <a:pathLst>
                <a:path w="1250950">
                  <a:moveTo>
                    <a:pt x="0" y="0"/>
                  </a:moveTo>
                  <a:lnTo>
                    <a:pt x="1250600" y="0"/>
                  </a:lnTo>
                </a:path>
              </a:pathLst>
            </a:custGeom>
            <a:ln w="9524">
              <a:solidFill>
                <a:srgbClr val="145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4187" y="172653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321" y="31336"/>
                  </a:moveTo>
                  <a:lnTo>
                    <a:pt x="7014" y="31336"/>
                  </a:lnTo>
                  <a:lnTo>
                    <a:pt x="0" y="24321"/>
                  </a:lnTo>
                  <a:lnTo>
                    <a:pt x="0" y="7014"/>
                  </a:lnTo>
                  <a:lnTo>
                    <a:pt x="7014" y="0"/>
                  </a:lnTo>
                  <a:lnTo>
                    <a:pt x="24321" y="0"/>
                  </a:lnTo>
                  <a:lnTo>
                    <a:pt x="31336" y="7014"/>
                  </a:lnTo>
                  <a:lnTo>
                    <a:pt x="31336" y="15668"/>
                  </a:lnTo>
                  <a:lnTo>
                    <a:pt x="31336" y="24321"/>
                  </a:lnTo>
                  <a:lnTo>
                    <a:pt x="24321" y="31336"/>
                  </a:lnTo>
                  <a:close/>
                </a:path>
              </a:pathLst>
            </a:custGeom>
            <a:solidFill>
              <a:srgbClr val="145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94187" y="172653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31336" y="15668"/>
                  </a:moveTo>
                  <a:lnTo>
                    <a:pt x="31336" y="24321"/>
                  </a:lnTo>
                  <a:lnTo>
                    <a:pt x="24321" y="31336"/>
                  </a:lnTo>
                  <a:lnTo>
                    <a:pt x="15668" y="31336"/>
                  </a:lnTo>
                  <a:lnTo>
                    <a:pt x="7014" y="31336"/>
                  </a:lnTo>
                  <a:lnTo>
                    <a:pt x="0" y="24321"/>
                  </a:lnTo>
                  <a:lnTo>
                    <a:pt x="0" y="15668"/>
                  </a:lnTo>
                  <a:lnTo>
                    <a:pt x="0" y="7014"/>
                  </a:lnTo>
                  <a:lnTo>
                    <a:pt x="7014" y="0"/>
                  </a:lnTo>
                  <a:lnTo>
                    <a:pt x="15668" y="0"/>
                  </a:lnTo>
                  <a:lnTo>
                    <a:pt x="24321" y="0"/>
                  </a:lnTo>
                  <a:lnTo>
                    <a:pt x="31336" y="7014"/>
                  </a:lnTo>
                  <a:lnTo>
                    <a:pt x="31336" y="15668"/>
                  </a:lnTo>
                  <a:close/>
                </a:path>
              </a:pathLst>
            </a:custGeom>
            <a:ln w="9524">
              <a:solidFill>
                <a:srgbClr val="145B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03262" y="1194766"/>
            <a:ext cx="1673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Roboto"/>
                <a:cs typeface="Roboto"/>
              </a:rPr>
              <a:t>Comparaison </a:t>
            </a:r>
            <a:r>
              <a:rPr sz="1200" b="1" dirty="0">
                <a:latin typeface="Roboto"/>
                <a:cs typeface="Roboto"/>
              </a:rPr>
              <a:t>:</a:t>
            </a:r>
            <a:r>
              <a:rPr sz="1200" b="1" spc="-10" dirty="0">
                <a:latin typeface="Roboto"/>
                <a:cs typeface="Roboto"/>
              </a:rPr>
              <a:t> </a:t>
            </a:r>
            <a:r>
              <a:rPr sz="1200" b="1" dirty="0">
                <a:latin typeface="Roboto"/>
                <a:cs typeface="Roboto"/>
              </a:rPr>
              <a:t>indice</a:t>
            </a:r>
            <a:r>
              <a:rPr sz="1200" b="1" spc="-5" dirty="0">
                <a:latin typeface="Roboto"/>
                <a:cs typeface="Roboto"/>
              </a:rPr>
              <a:t> </a:t>
            </a:r>
            <a:r>
              <a:rPr sz="1200" b="1" spc="-25" dirty="0">
                <a:latin typeface="Roboto"/>
                <a:cs typeface="Roboto"/>
              </a:rPr>
              <a:t>de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3262" y="1375741"/>
            <a:ext cx="1763395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Roboto"/>
                <a:cs typeface="Roboto"/>
              </a:rPr>
              <a:t>Rand</a:t>
            </a:r>
            <a:endParaRPr sz="1200">
              <a:latin typeface="Roboto"/>
              <a:cs typeface="Roboto"/>
            </a:endParaRPr>
          </a:p>
          <a:p>
            <a:pPr marL="12700" marR="5080">
              <a:lnSpc>
                <a:spcPct val="101600"/>
              </a:lnSpc>
              <a:spcBef>
                <a:spcPts val="960"/>
              </a:spcBef>
            </a:pPr>
            <a:r>
              <a:rPr sz="800" dirty="0">
                <a:latin typeface="Roboto"/>
                <a:cs typeface="Roboto"/>
              </a:rPr>
              <a:t>On</a:t>
            </a:r>
            <a:r>
              <a:rPr sz="800" spc="-20" dirty="0">
                <a:latin typeface="Roboto"/>
                <a:cs typeface="Roboto"/>
              </a:rPr>
              <a:t> </a:t>
            </a:r>
            <a:r>
              <a:rPr sz="800" spc="-10" dirty="0">
                <a:latin typeface="Roboto"/>
                <a:cs typeface="Roboto"/>
              </a:rPr>
              <a:t>compare</a:t>
            </a:r>
            <a:r>
              <a:rPr sz="800" spc="-20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les</a:t>
            </a:r>
            <a:r>
              <a:rPr sz="800" spc="-20" dirty="0">
                <a:latin typeface="Roboto"/>
                <a:cs typeface="Roboto"/>
              </a:rPr>
              <a:t> </a:t>
            </a:r>
            <a:r>
              <a:rPr sz="800" spc="-10" dirty="0">
                <a:latin typeface="Roboto"/>
                <a:cs typeface="Roboto"/>
              </a:rPr>
              <a:t>résultats</a:t>
            </a:r>
            <a:r>
              <a:rPr sz="800" spc="-20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de</a:t>
            </a:r>
            <a:r>
              <a:rPr sz="800" spc="-20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M0</a:t>
            </a:r>
            <a:r>
              <a:rPr sz="800" spc="-20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sur</a:t>
            </a:r>
            <a:r>
              <a:rPr sz="800" spc="-20" dirty="0">
                <a:latin typeface="Roboto"/>
                <a:cs typeface="Roboto"/>
              </a:rPr>
              <a:t> </a:t>
            </a:r>
            <a:r>
              <a:rPr sz="800" spc="-25" dirty="0">
                <a:latin typeface="Roboto"/>
                <a:cs typeface="Roboto"/>
              </a:rPr>
              <a:t>F1</a:t>
            </a:r>
            <a:r>
              <a:rPr sz="800" spc="500" dirty="0">
                <a:latin typeface="Roboto"/>
                <a:cs typeface="Roboto"/>
              </a:rPr>
              <a:t> </a:t>
            </a:r>
            <a:r>
              <a:rPr sz="800" spc="-10" dirty="0">
                <a:latin typeface="Roboto"/>
                <a:cs typeface="Roboto"/>
              </a:rPr>
              <a:t>avec</a:t>
            </a:r>
            <a:r>
              <a:rPr sz="800" spc="-30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M1</a:t>
            </a:r>
            <a:r>
              <a:rPr sz="800" spc="-25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sur</a:t>
            </a:r>
            <a:r>
              <a:rPr sz="800" spc="-25" dirty="0">
                <a:latin typeface="Roboto"/>
                <a:cs typeface="Roboto"/>
              </a:rPr>
              <a:t> F1</a:t>
            </a:r>
            <a:endParaRPr sz="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dirty="0">
                <a:latin typeface="Roboto"/>
                <a:cs typeface="Roboto"/>
              </a:rPr>
              <a:t>Et</a:t>
            </a:r>
            <a:r>
              <a:rPr sz="800" spc="-10" dirty="0">
                <a:latin typeface="Roboto"/>
                <a:cs typeface="Roboto"/>
              </a:rPr>
              <a:t> ainsi </a:t>
            </a:r>
            <a:r>
              <a:rPr sz="800" dirty="0">
                <a:latin typeface="Roboto"/>
                <a:cs typeface="Roboto"/>
              </a:rPr>
              <a:t>de</a:t>
            </a:r>
            <a:r>
              <a:rPr sz="800" spc="-10" dirty="0">
                <a:latin typeface="Roboto"/>
                <a:cs typeface="Roboto"/>
              </a:rPr>
              <a:t> suite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14500" y="3151178"/>
            <a:ext cx="1977389" cy="113093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b="1" dirty="0">
                <a:latin typeface="Roboto"/>
                <a:cs typeface="Roboto"/>
              </a:rPr>
              <a:t>Calcul</a:t>
            </a:r>
            <a:r>
              <a:rPr sz="1200" b="1" spc="-45" dirty="0">
                <a:latin typeface="Roboto"/>
                <a:cs typeface="Roboto"/>
              </a:rPr>
              <a:t> </a:t>
            </a:r>
            <a:r>
              <a:rPr sz="1200" b="1" dirty="0">
                <a:latin typeface="Roboto"/>
                <a:cs typeface="Roboto"/>
              </a:rPr>
              <a:t>de</a:t>
            </a:r>
            <a:r>
              <a:rPr sz="1200" b="1" spc="-40" dirty="0">
                <a:latin typeface="Roboto"/>
                <a:cs typeface="Roboto"/>
              </a:rPr>
              <a:t> </a:t>
            </a:r>
            <a:r>
              <a:rPr sz="1200" b="1" dirty="0">
                <a:latin typeface="Roboto"/>
                <a:cs typeface="Roboto"/>
              </a:rPr>
              <a:t>segmentation</a:t>
            </a:r>
            <a:r>
              <a:rPr sz="1200" b="1" spc="-40" dirty="0">
                <a:latin typeface="Roboto"/>
                <a:cs typeface="Roboto"/>
              </a:rPr>
              <a:t> </a:t>
            </a:r>
            <a:r>
              <a:rPr sz="1200" b="1" spc="-20" dirty="0">
                <a:latin typeface="Roboto"/>
                <a:cs typeface="Roboto"/>
              </a:rPr>
              <a:t>tous </a:t>
            </a:r>
            <a:r>
              <a:rPr sz="1200" b="1" dirty="0">
                <a:latin typeface="Roboto"/>
                <a:cs typeface="Roboto"/>
              </a:rPr>
              <a:t>les</a:t>
            </a:r>
            <a:r>
              <a:rPr sz="1200" b="1" spc="-15" dirty="0">
                <a:latin typeface="Roboto"/>
                <a:cs typeface="Roboto"/>
              </a:rPr>
              <a:t> </a:t>
            </a:r>
            <a:r>
              <a:rPr sz="1200" b="1" dirty="0">
                <a:latin typeface="Roboto"/>
                <a:cs typeface="Roboto"/>
              </a:rPr>
              <a:t>20</a:t>
            </a:r>
            <a:r>
              <a:rPr sz="1200" b="1" spc="-10" dirty="0">
                <a:latin typeface="Roboto"/>
                <a:cs typeface="Roboto"/>
              </a:rPr>
              <a:t> jours</a:t>
            </a:r>
            <a:endParaRPr sz="1200">
              <a:latin typeface="Roboto"/>
              <a:cs typeface="Roboto"/>
            </a:endParaRPr>
          </a:p>
          <a:p>
            <a:pPr marL="12700" marR="175260">
              <a:lnSpc>
                <a:spcPct val="101600"/>
              </a:lnSpc>
              <a:spcBef>
                <a:spcPts val="910"/>
              </a:spcBef>
            </a:pPr>
            <a:r>
              <a:rPr sz="800" dirty="0">
                <a:latin typeface="Roboto"/>
                <a:cs typeface="Roboto"/>
              </a:rPr>
              <a:t>F1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: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12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mois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+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spc="-10" dirty="0">
                <a:latin typeface="Roboto"/>
                <a:cs typeface="Roboto"/>
              </a:rPr>
              <a:t>intervalles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de</a:t>
            </a:r>
            <a:r>
              <a:rPr sz="800" spc="-10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20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spc="-10" dirty="0">
                <a:latin typeface="Roboto"/>
                <a:cs typeface="Roboto"/>
              </a:rPr>
              <a:t>jours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spc="-25" dirty="0">
                <a:latin typeface="Roboto"/>
                <a:cs typeface="Roboto"/>
              </a:rPr>
              <a:t>de</a:t>
            </a:r>
            <a:r>
              <a:rPr sz="800" spc="500" dirty="0">
                <a:latin typeface="Roboto"/>
                <a:cs typeface="Roboto"/>
              </a:rPr>
              <a:t> </a:t>
            </a:r>
            <a:r>
              <a:rPr sz="800" spc="-10" dirty="0">
                <a:latin typeface="Roboto"/>
                <a:cs typeface="Roboto"/>
              </a:rPr>
              <a:t>données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et</a:t>
            </a:r>
            <a:r>
              <a:rPr sz="800" spc="-10" dirty="0">
                <a:latin typeface="Roboto"/>
                <a:cs typeface="Roboto"/>
              </a:rPr>
              <a:t> ainsi </a:t>
            </a:r>
            <a:r>
              <a:rPr sz="800" dirty="0">
                <a:latin typeface="Roboto"/>
                <a:cs typeface="Roboto"/>
              </a:rPr>
              <a:t>de</a:t>
            </a:r>
            <a:r>
              <a:rPr sz="800" spc="-15" dirty="0">
                <a:latin typeface="Roboto"/>
                <a:cs typeface="Roboto"/>
              </a:rPr>
              <a:t> </a:t>
            </a:r>
            <a:r>
              <a:rPr sz="800" spc="-10" dirty="0">
                <a:latin typeface="Roboto"/>
                <a:cs typeface="Roboto"/>
              </a:rPr>
              <a:t>suite</a:t>
            </a:r>
            <a:endParaRPr sz="800">
              <a:latin typeface="Roboto"/>
              <a:cs typeface="Roboto"/>
            </a:endParaRPr>
          </a:p>
          <a:p>
            <a:pPr marL="12700" marR="864235">
              <a:lnSpc>
                <a:spcPct val="101600"/>
              </a:lnSpc>
            </a:pPr>
            <a:r>
              <a:rPr sz="800" dirty="0">
                <a:latin typeface="Roboto"/>
                <a:cs typeface="Roboto"/>
              </a:rPr>
              <a:t>4 </a:t>
            </a:r>
            <a:r>
              <a:rPr sz="800" spc="-10" dirty="0">
                <a:latin typeface="Roboto"/>
                <a:cs typeface="Roboto"/>
              </a:rPr>
              <a:t>variables</a:t>
            </a:r>
            <a:r>
              <a:rPr sz="800" dirty="0">
                <a:latin typeface="Roboto"/>
                <a:cs typeface="Roboto"/>
              </a:rPr>
              <a:t> : </a:t>
            </a:r>
            <a:r>
              <a:rPr sz="800" spc="-80" dirty="0">
                <a:latin typeface="Roboto"/>
                <a:cs typeface="Roboto"/>
              </a:rPr>
              <a:t>R-</a:t>
            </a:r>
            <a:r>
              <a:rPr sz="800" spc="-65" dirty="0">
                <a:latin typeface="Roboto"/>
                <a:cs typeface="Roboto"/>
              </a:rPr>
              <a:t>F-</a:t>
            </a:r>
            <a:r>
              <a:rPr sz="800" spc="-90" dirty="0">
                <a:latin typeface="Roboto"/>
                <a:cs typeface="Roboto"/>
              </a:rPr>
              <a:t>M-</a:t>
            </a:r>
            <a:r>
              <a:rPr sz="800" spc="-50" dirty="0">
                <a:latin typeface="Roboto"/>
                <a:cs typeface="Roboto"/>
              </a:rPr>
              <a:t>S</a:t>
            </a:r>
            <a:r>
              <a:rPr sz="800" spc="500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ACP</a:t>
            </a:r>
            <a:r>
              <a:rPr sz="800" spc="-10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du</a:t>
            </a:r>
            <a:r>
              <a:rPr sz="800" spc="-10" dirty="0">
                <a:latin typeface="Roboto"/>
                <a:cs typeface="Roboto"/>
              </a:rPr>
              <a:t> </a:t>
            </a:r>
            <a:r>
              <a:rPr sz="800" b="1" dirty="0">
                <a:latin typeface="Roboto"/>
                <a:cs typeface="Roboto"/>
              </a:rPr>
              <a:t>modèle</a:t>
            </a:r>
            <a:r>
              <a:rPr sz="800" b="1" spc="-10" dirty="0">
                <a:latin typeface="Roboto"/>
                <a:cs typeface="Roboto"/>
              </a:rPr>
              <a:t> </a:t>
            </a:r>
            <a:r>
              <a:rPr sz="800" b="1" dirty="0">
                <a:latin typeface="Roboto"/>
                <a:cs typeface="Roboto"/>
              </a:rPr>
              <a:t>0</a:t>
            </a:r>
            <a:r>
              <a:rPr sz="800" b="1" spc="-5" dirty="0">
                <a:latin typeface="Roboto"/>
                <a:cs typeface="Roboto"/>
              </a:rPr>
              <a:t> </a:t>
            </a:r>
            <a:r>
              <a:rPr sz="800" b="1" dirty="0">
                <a:latin typeface="Roboto"/>
                <a:cs typeface="Roboto"/>
              </a:rPr>
              <a:t>sur</a:t>
            </a:r>
            <a:r>
              <a:rPr sz="800" b="1" spc="-10" dirty="0">
                <a:latin typeface="Roboto"/>
                <a:cs typeface="Roboto"/>
              </a:rPr>
              <a:t> </a:t>
            </a:r>
            <a:r>
              <a:rPr sz="800" b="1" spc="-25" dirty="0">
                <a:latin typeface="Roboto"/>
                <a:cs typeface="Roboto"/>
              </a:rPr>
              <a:t>F1</a:t>
            </a:r>
            <a:endParaRPr sz="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-10" dirty="0">
                <a:latin typeface="Roboto"/>
                <a:cs typeface="Roboto"/>
              </a:rPr>
              <a:t>Kmeans avec</a:t>
            </a:r>
            <a:r>
              <a:rPr sz="800" spc="-5" dirty="0">
                <a:latin typeface="Roboto"/>
                <a:cs typeface="Roboto"/>
              </a:rPr>
              <a:t> </a:t>
            </a:r>
            <a:r>
              <a:rPr sz="800" dirty="0">
                <a:latin typeface="Roboto"/>
                <a:cs typeface="Roboto"/>
              </a:rPr>
              <a:t>ACP</a:t>
            </a:r>
            <a:r>
              <a:rPr sz="800" spc="-5" dirty="0">
                <a:latin typeface="Roboto"/>
                <a:cs typeface="Roboto"/>
              </a:rPr>
              <a:t> </a:t>
            </a:r>
            <a:r>
              <a:rPr sz="800" b="1" dirty="0">
                <a:latin typeface="Roboto"/>
                <a:cs typeface="Roboto"/>
              </a:rPr>
              <a:t>de</a:t>
            </a:r>
            <a:r>
              <a:rPr sz="800" b="1" spc="-10" dirty="0">
                <a:latin typeface="Roboto"/>
                <a:cs typeface="Roboto"/>
              </a:rPr>
              <a:t> </a:t>
            </a:r>
            <a:r>
              <a:rPr sz="800" b="1" dirty="0">
                <a:latin typeface="Roboto"/>
                <a:cs typeface="Roboto"/>
              </a:rPr>
              <a:t>M0</a:t>
            </a:r>
            <a:r>
              <a:rPr sz="800" b="1" spc="-5" dirty="0">
                <a:latin typeface="Roboto"/>
                <a:cs typeface="Roboto"/>
              </a:rPr>
              <a:t> </a:t>
            </a:r>
            <a:r>
              <a:rPr sz="800" b="1" dirty="0">
                <a:latin typeface="Roboto"/>
                <a:cs typeface="Roboto"/>
              </a:rPr>
              <a:t>et</a:t>
            </a:r>
            <a:r>
              <a:rPr sz="800" b="1" spc="-5" dirty="0">
                <a:latin typeface="Roboto"/>
                <a:cs typeface="Roboto"/>
              </a:rPr>
              <a:t> </a:t>
            </a:r>
            <a:r>
              <a:rPr sz="800" b="1" spc="-25" dirty="0">
                <a:latin typeface="Roboto"/>
                <a:cs typeface="Roboto"/>
              </a:rPr>
              <a:t>M1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84518" y="1057318"/>
            <a:ext cx="2760345" cy="2880995"/>
            <a:chOff x="2284518" y="1057318"/>
            <a:chExt cx="2760345" cy="2880995"/>
          </a:xfrm>
        </p:grpSpPr>
        <p:sp>
          <p:nvSpPr>
            <p:cNvPr id="15" name="object 15"/>
            <p:cNvSpPr/>
            <p:nvPr/>
          </p:nvSpPr>
          <p:spPr>
            <a:xfrm>
              <a:off x="4271386" y="3811324"/>
              <a:ext cx="534035" cy="7620"/>
            </a:xfrm>
            <a:custGeom>
              <a:avLst/>
              <a:gdLst/>
              <a:ahLst/>
              <a:cxnLst/>
              <a:rect l="l" t="t" r="r" b="b"/>
              <a:pathLst>
                <a:path w="534035" h="7620">
                  <a:moveTo>
                    <a:pt x="0" y="0"/>
                  </a:moveTo>
                  <a:lnTo>
                    <a:pt x="533979" y="7024"/>
                  </a:lnTo>
                </a:path>
              </a:pathLst>
            </a:custGeom>
            <a:ln w="9524">
              <a:solidFill>
                <a:srgbClr val="1C7E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5252" y="380277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27" y="31562"/>
                  </a:moveTo>
                  <a:lnTo>
                    <a:pt x="15574" y="31448"/>
                  </a:lnTo>
                  <a:lnTo>
                    <a:pt x="6921" y="31334"/>
                  </a:lnTo>
                  <a:lnTo>
                    <a:pt x="0" y="24227"/>
                  </a:lnTo>
                  <a:lnTo>
                    <a:pt x="227" y="6922"/>
                  </a:lnTo>
                  <a:lnTo>
                    <a:pt x="7334" y="0"/>
                  </a:lnTo>
                  <a:lnTo>
                    <a:pt x="24639" y="227"/>
                  </a:lnTo>
                  <a:lnTo>
                    <a:pt x="31561" y="7334"/>
                  </a:lnTo>
                  <a:lnTo>
                    <a:pt x="31448" y="15987"/>
                  </a:lnTo>
                  <a:lnTo>
                    <a:pt x="31334" y="24640"/>
                  </a:lnTo>
                  <a:lnTo>
                    <a:pt x="24227" y="31562"/>
                  </a:lnTo>
                  <a:close/>
                </a:path>
              </a:pathLst>
            </a:custGeom>
            <a:solidFill>
              <a:srgbClr val="1C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05252" y="380277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31448" y="15987"/>
                  </a:moveTo>
                  <a:lnTo>
                    <a:pt x="31334" y="24640"/>
                  </a:lnTo>
                  <a:lnTo>
                    <a:pt x="24227" y="31562"/>
                  </a:lnTo>
                  <a:lnTo>
                    <a:pt x="15574" y="31448"/>
                  </a:lnTo>
                  <a:lnTo>
                    <a:pt x="6921" y="31334"/>
                  </a:lnTo>
                  <a:lnTo>
                    <a:pt x="0" y="24227"/>
                  </a:lnTo>
                  <a:lnTo>
                    <a:pt x="113" y="15574"/>
                  </a:lnTo>
                  <a:lnTo>
                    <a:pt x="227" y="6922"/>
                  </a:lnTo>
                  <a:lnTo>
                    <a:pt x="7334" y="0"/>
                  </a:lnTo>
                  <a:lnTo>
                    <a:pt x="15987" y="113"/>
                  </a:lnTo>
                  <a:lnTo>
                    <a:pt x="24639" y="227"/>
                  </a:lnTo>
                  <a:lnTo>
                    <a:pt x="31561" y="7334"/>
                  </a:lnTo>
                  <a:lnTo>
                    <a:pt x="31448" y="15987"/>
                  </a:lnTo>
                  <a:close/>
                </a:path>
              </a:pathLst>
            </a:custGeom>
            <a:ln w="9524">
              <a:solidFill>
                <a:srgbClr val="1C7E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52359" y="1184648"/>
              <a:ext cx="1382395" cy="2075180"/>
            </a:xfrm>
            <a:custGeom>
              <a:avLst/>
              <a:gdLst/>
              <a:ahLst/>
              <a:cxnLst/>
              <a:rect l="l" t="t" r="r" b="b"/>
              <a:pathLst>
                <a:path w="1382395" h="2075179">
                  <a:moveTo>
                    <a:pt x="1199780" y="2074577"/>
                  </a:moveTo>
                  <a:lnTo>
                    <a:pt x="699098" y="1789041"/>
                  </a:lnTo>
                  <a:lnTo>
                    <a:pt x="722787" y="1744324"/>
                  </a:lnTo>
                  <a:lnTo>
                    <a:pt x="743500" y="1698566"/>
                  </a:lnTo>
                  <a:lnTo>
                    <a:pt x="761237" y="1651907"/>
                  </a:lnTo>
                  <a:lnTo>
                    <a:pt x="775997" y="1604485"/>
                  </a:lnTo>
                  <a:lnTo>
                    <a:pt x="787782" y="1556442"/>
                  </a:lnTo>
                  <a:lnTo>
                    <a:pt x="796591" y="1507915"/>
                  </a:lnTo>
                  <a:lnTo>
                    <a:pt x="802426" y="1459047"/>
                  </a:lnTo>
                  <a:lnTo>
                    <a:pt x="805286" y="1409975"/>
                  </a:lnTo>
                  <a:lnTo>
                    <a:pt x="805171" y="1360841"/>
                  </a:lnTo>
                  <a:lnTo>
                    <a:pt x="802082" y="1311784"/>
                  </a:lnTo>
                  <a:lnTo>
                    <a:pt x="796020" y="1262943"/>
                  </a:lnTo>
                  <a:lnTo>
                    <a:pt x="786984" y="1214458"/>
                  </a:lnTo>
                  <a:lnTo>
                    <a:pt x="774976" y="1166470"/>
                  </a:lnTo>
                  <a:lnTo>
                    <a:pt x="759994" y="1119118"/>
                  </a:lnTo>
                  <a:lnTo>
                    <a:pt x="742040" y="1072542"/>
                  </a:lnTo>
                  <a:lnTo>
                    <a:pt x="721114" y="1026881"/>
                  </a:lnTo>
                  <a:lnTo>
                    <a:pt x="697216" y="982276"/>
                  </a:lnTo>
                  <a:lnTo>
                    <a:pt x="670591" y="939243"/>
                  </a:lnTo>
                  <a:lnTo>
                    <a:pt x="641563" y="898252"/>
                  </a:lnTo>
                  <a:lnTo>
                    <a:pt x="610254" y="859375"/>
                  </a:lnTo>
                  <a:lnTo>
                    <a:pt x="576784" y="822682"/>
                  </a:lnTo>
                  <a:lnTo>
                    <a:pt x="541273" y="788242"/>
                  </a:lnTo>
                  <a:lnTo>
                    <a:pt x="503844" y="756127"/>
                  </a:lnTo>
                  <a:lnTo>
                    <a:pt x="464616" y="726405"/>
                  </a:lnTo>
                  <a:lnTo>
                    <a:pt x="423710" y="699149"/>
                  </a:lnTo>
                  <a:lnTo>
                    <a:pt x="381247" y="674428"/>
                  </a:lnTo>
                  <a:lnTo>
                    <a:pt x="337243" y="652267"/>
                  </a:lnTo>
                  <a:lnTo>
                    <a:pt x="292135" y="632873"/>
                  </a:lnTo>
                  <a:lnTo>
                    <a:pt x="245727" y="616180"/>
                  </a:lnTo>
                  <a:lnTo>
                    <a:pt x="198245" y="602303"/>
                  </a:lnTo>
                  <a:lnTo>
                    <a:pt x="149811" y="591313"/>
                  </a:lnTo>
                  <a:lnTo>
                    <a:pt x="100545" y="583280"/>
                  </a:lnTo>
                  <a:lnTo>
                    <a:pt x="50567" y="578274"/>
                  </a:lnTo>
                  <a:lnTo>
                    <a:pt x="0" y="576367"/>
                  </a:lnTo>
                  <a:lnTo>
                    <a:pt x="2989" y="122902"/>
                  </a:lnTo>
                  <a:lnTo>
                    <a:pt x="3114" y="104011"/>
                  </a:lnTo>
                  <a:lnTo>
                    <a:pt x="3228" y="86620"/>
                  </a:lnTo>
                  <a:lnTo>
                    <a:pt x="3333" y="70750"/>
                  </a:lnTo>
                  <a:lnTo>
                    <a:pt x="3427" y="56423"/>
                  </a:lnTo>
                  <a:lnTo>
                    <a:pt x="3512" y="43662"/>
                  </a:lnTo>
                  <a:lnTo>
                    <a:pt x="3585" y="32488"/>
                  </a:lnTo>
                  <a:lnTo>
                    <a:pt x="3701" y="14989"/>
                  </a:lnTo>
                  <a:lnTo>
                    <a:pt x="3799" y="0"/>
                  </a:lnTo>
                  <a:lnTo>
                    <a:pt x="52933" y="1191"/>
                  </a:lnTo>
                  <a:lnTo>
                    <a:pt x="101771" y="4101"/>
                  </a:lnTo>
                  <a:lnTo>
                    <a:pt x="150276" y="8707"/>
                  </a:lnTo>
                  <a:lnTo>
                    <a:pt x="198410" y="14989"/>
                  </a:lnTo>
                  <a:lnTo>
                    <a:pt x="246135" y="22923"/>
                  </a:lnTo>
                  <a:lnTo>
                    <a:pt x="293415" y="32488"/>
                  </a:lnTo>
                  <a:lnTo>
                    <a:pt x="340211" y="43662"/>
                  </a:lnTo>
                  <a:lnTo>
                    <a:pt x="386486" y="56423"/>
                  </a:lnTo>
                  <a:lnTo>
                    <a:pt x="432203" y="70750"/>
                  </a:lnTo>
                  <a:lnTo>
                    <a:pt x="477322" y="86620"/>
                  </a:lnTo>
                  <a:lnTo>
                    <a:pt x="521808" y="104011"/>
                  </a:lnTo>
                  <a:lnTo>
                    <a:pt x="565623" y="122902"/>
                  </a:lnTo>
                  <a:lnTo>
                    <a:pt x="608728" y="143271"/>
                  </a:lnTo>
                  <a:lnTo>
                    <a:pt x="651086" y="165095"/>
                  </a:lnTo>
                  <a:lnTo>
                    <a:pt x="692660" y="188354"/>
                  </a:lnTo>
                  <a:lnTo>
                    <a:pt x="733411" y="213024"/>
                  </a:lnTo>
                  <a:lnTo>
                    <a:pt x="773303" y="239084"/>
                  </a:lnTo>
                  <a:lnTo>
                    <a:pt x="812298" y="266513"/>
                  </a:lnTo>
                  <a:lnTo>
                    <a:pt x="850358" y="295288"/>
                  </a:lnTo>
                  <a:lnTo>
                    <a:pt x="887446" y="325387"/>
                  </a:lnTo>
                  <a:lnTo>
                    <a:pt x="923523" y="356789"/>
                  </a:lnTo>
                  <a:lnTo>
                    <a:pt x="958553" y="389472"/>
                  </a:lnTo>
                  <a:lnTo>
                    <a:pt x="992497" y="423413"/>
                  </a:lnTo>
                  <a:lnTo>
                    <a:pt x="1025319" y="458591"/>
                  </a:lnTo>
                  <a:lnTo>
                    <a:pt x="1056980" y="494984"/>
                  </a:lnTo>
                  <a:lnTo>
                    <a:pt x="1087443" y="532570"/>
                  </a:lnTo>
                  <a:lnTo>
                    <a:pt x="1116670" y="571327"/>
                  </a:lnTo>
                  <a:lnTo>
                    <a:pt x="1144624" y="611234"/>
                  </a:lnTo>
                  <a:lnTo>
                    <a:pt x="1171266" y="652267"/>
                  </a:lnTo>
                  <a:lnTo>
                    <a:pt x="1196561" y="694407"/>
                  </a:lnTo>
                  <a:lnTo>
                    <a:pt x="1220352" y="737412"/>
                  </a:lnTo>
                  <a:lnTo>
                    <a:pt x="1242511" y="781031"/>
                  </a:lnTo>
                  <a:lnTo>
                    <a:pt x="1263037" y="825219"/>
                  </a:lnTo>
                  <a:lnTo>
                    <a:pt x="1281931" y="869934"/>
                  </a:lnTo>
                  <a:lnTo>
                    <a:pt x="1299192" y="915130"/>
                  </a:lnTo>
                  <a:lnTo>
                    <a:pt x="1314820" y="960766"/>
                  </a:lnTo>
                  <a:lnTo>
                    <a:pt x="1328815" y="1006798"/>
                  </a:lnTo>
                  <a:lnTo>
                    <a:pt x="1341177" y="1053181"/>
                  </a:lnTo>
                  <a:lnTo>
                    <a:pt x="1351906" y="1099873"/>
                  </a:lnTo>
                  <a:lnTo>
                    <a:pt x="1361002" y="1146829"/>
                  </a:lnTo>
                  <a:lnTo>
                    <a:pt x="1368464" y="1194007"/>
                  </a:lnTo>
                  <a:lnTo>
                    <a:pt x="1374293" y="1241363"/>
                  </a:lnTo>
                  <a:lnTo>
                    <a:pt x="1378489" y="1288854"/>
                  </a:lnTo>
                  <a:lnTo>
                    <a:pt x="1381050" y="1336435"/>
                  </a:lnTo>
                  <a:lnTo>
                    <a:pt x="1381978" y="1384063"/>
                  </a:lnTo>
                  <a:lnTo>
                    <a:pt x="1381272" y="1431695"/>
                  </a:lnTo>
                  <a:lnTo>
                    <a:pt x="1378933" y="1479288"/>
                  </a:lnTo>
                  <a:lnTo>
                    <a:pt x="1374959" y="1526797"/>
                  </a:lnTo>
                  <a:lnTo>
                    <a:pt x="1369351" y="1574180"/>
                  </a:lnTo>
                  <a:lnTo>
                    <a:pt x="1362109" y="1621392"/>
                  </a:lnTo>
                  <a:lnTo>
                    <a:pt x="1353232" y="1668391"/>
                  </a:lnTo>
                  <a:lnTo>
                    <a:pt x="1342721" y="1715132"/>
                  </a:lnTo>
                  <a:lnTo>
                    <a:pt x="1330575" y="1761573"/>
                  </a:lnTo>
                  <a:lnTo>
                    <a:pt x="1316795" y="1807669"/>
                  </a:lnTo>
                  <a:lnTo>
                    <a:pt x="1301380" y="1853377"/>
                  </a:lnTo>
                  <a:lnTo>
                    <a:pt x="1284330" y="1898654"/>
                  </a:lnTo>
                  <a:lnTo>
                    <a:pt x="1265645" y="1943456"/>
                  </a:lnTo>
                  <a:lnTo>
                    <a:pt x="1245325" y="1987739"/>
                  </a:lnTo>
                  <a:lnTo>
                    <a:pt x="1223370" y="2031461"/>
                  </a:lnTo>
                  <a:lnTo>
                    <a:pt x="1199780" y="2074577"/>
                  </a:lnTo>
                  <a:close/>
                </a:path>
              </a:pathLst>
            </a:custGeom>
            <a:solidFill>
              <a:srgbClr val="145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87688" y="2961368"/>
              <a:ext cx="2369820" cy="976630"/>
            </a:xfrm>
            <a:custGeom>
              <a:avLst/>
              <a:gdLst/>
              <a:ahLst/>
              <a:cxnLst/>
              <a:rect l="l" t="t" r="r" b="b"/>
              <a:pathLst>
                <a:path w="2369820" h="976629">
                  <a:moveTo>
                    <a:pt x="2297470" y="401387"/>
                  </a:moveTo>
                  <a:lnTo>
                    <a:pt x="1186399" y="401387"/>
                  </a:lnTo>
                  <a:lnTo>
                    <a:pt x="1236153" y="399033"/>
                  </a:lnTo>
                  <a:lnTo>
                    <a:pt x="1285315" y="393687"/>
                  </a:lnTo>
                  <a:lnTo>
                    <a:pt x="1333770" y="385415"/>
                  </a:lnTo>
                  <a:lnTo>
                    <a:pt x="1381404" y="374284"/>
                  </a:lnTo>
                  <a:lnTo>
                    <a:pt x="1428101" y="360362"/>
                  </a:lnTo>
                  <a:lnTo>
                    <a:pt x="1473746" y="343715"/>
                  </a:lnTo>
                  <a:lnTo>
                    <a:pt x="1518225" y="324411"/>
                  </a:lnTo>
                  <a:lnTo>
                    <a:pt x="1561422" y="302517"/>
                  </a:lnTo>
                  <a:lnTo>
                    <a:pt x="1603222" y="278100"/>
                  </a:lnTo>
                  <a:lnTo>
                    <a:pt x="1643511" y="251227"/>
                  </a:lnTo>
                  <a:lnTo>
                    <a:pt x="1682173" y="221966"/>
                  </a:lnTo>
                  <a:lnTo>
                    <a:pt x="1719094" y="190383"/>
                  </a:lnTo>
                  <a:lnTo>
                    <a:pt x="1754159" y="156546"/>
                  </a:lnTo>
                  <a:lnTo>
                    <a:pt x="1787251" y="120522"/>
                  </a:lnTo>
                  <a:lnTo>
                    <a:pt x="1818258" y="82378"/>
                  </a:lnTo>
                  <a:lnTo>
                    <a:pt x="1847062" y="42182"/>
                  </a:lnTo>
                  <a:lnTo>
                    <a:pt x="1873551" y="0"/>
                  </a:lnTo>
                  <a:lnTo>
                    <a:pt x="2369770" y="290834"/>
                  </a:lnTo>
                  <a:lnTo>
                    <a:pt x="2343737" y="333478"/>
                  </a:lnTo>
                  <a:lnTo>
                    <a:pt x="2316316" y="374973"/>
                  </a:lnTo>
                  <a:lnTo>
                    <a:pt x="2297470" y="401387"/>
                  </a:lnTo>
                  <a:close/>
                </a:path>
                <a:path w="2369820" h="976629">
                  <a:moveTo>
                    <a:pt x="1197817" y="976411"/>
                  </a:moveTo>
                  <a:lnTo>
                    <a:pt x="1146032" y="976411"/>
                  </a:lnTo>
                  <a:lnTo>
                    <a:pt x="1096330" y="974565"/>
                  </a:lnTo>
                  <a:lnTo>
                    <a:pt x="1046928" y="970958"/>
                  </a:lnTo>
                  <a:lnTo>
                    <a:pt x="997868" y="965611"/>
                  </a:lnTo>
                  <a:lnTo>
                    <a:pt x="949188" y="958547"/>
                  </a:lnTo>
                  <a:lnTo>
                    <a:pt x="900930" y="949788"/>
                  </a:lnTo>
                  <a:lnTo>
                    <a:pt x="853133" y="939354"/>
                  </a:lnTo>
                  <a:lnTo>
                    <a:pt x="805838" y="927268"/>
                  </a:lnTo>
                  <a:lnTo>
                    <a:pt x="759086" y="913551"/>
                  </a:lnTo>
                  <a:lnTo>
                    <a:pt x="712916" y="898226"/>
                  </a:lnTo>
                  <a:lnTo>
                    <a:pt x="667369" y="881314"/>
                  </a:lnTo>
                  <a:lnTo>
                    <a:pt x="622485" y="862837"/>
                  </a:lnTo>
                  <a:lnTo>
                    <a:pt x="578305" y="842817"/>
                  </a:lnTo>
                  <a:lnTo>
                    <a:pt x="534869" y="821275"/>
                  </a:lnTo>
                  <a:lnTo>
                    <a:pt x="492217" y="798234"/>
                  </a:lnTo>
                  <a:lnTo>
                    <a:pt x="450389" y="773714"/>
                  </a:lnTo>
                  <a:lnTo>
                    <a:pt x="409426" y="747738"/>
                  </a:lnTo>
                  <a:lnTo>
                    <a:pt x="369368" y="720328"/>
                  </a:lnTo>
                  <a:lnTo>
                    <a:pt x="330256" y="691505"/>
                  </a:lnTo>
                  <a:lnTo>
                    <a:pt x="292129" y="661291"/>
                  </a:lnTo>
                  <a:lnTo>
                    <a:pt x="255029" y="629708"/>
                  </a:lnTo>
                  <a:lnTo>
                    <a:pt x="218995" y="596778"/>
                  </a:lnTo>
                  <a:lnTo>
                    <a:pt x="184067" y="562522"/>
                  </a:lnTo>
                  <a:lnTo>
                    <a:pt x="150286" y="526963"/>
                  </a:lnTo>
                  <a:lnTo>
                    <a:pt x="117693" y="490121"/>
                  </a:lnTo>
                  <a:lnTo>
                    <a:pt x="86328" y="452020"/>
                  </a:lnTo>
                  <a:lnTo>
                    <a:pt x="56230" y="412679"/>
                  </a:lnTo>
                  <a:lnTo>
                    <a:pt x="27440" y="372123"/>
                  </a:lnTo>
                  <a:lnTo>
                    <a:pt x="0" y="330371"/>
                  </a:lnTo>
                  <a:lnTo>
                    <a:pt x="486240" y="23145"/>
                  </a:lnTo>
                  <a:lnTo>
                    <a:pt x="514121" y="64420"/>
                  </a:lnTo>
                  <a:lnTo>
                    <a:pt x="544251" y="103634"/>
                  </a:lnTo>
                  <a:lnTo>
                    <a:pt x="576512" y="140722"/>
                  </a:lnTo>
                  <a:lnTo>
                    <a:pt x="610788" y="175622"/>
                  </a:lnTo>
                  <a:lnTo>
                    <a:pt x="646962" y="208271"/>
                  </a:lnTo>
                  <a:lnTo>
                    <a:pt x="684916" y="238604"/>
                  </a:lnTo>
                  <a:lnTo>
                    <a:pt x="724532" y="266559"/>
                  </a:lnTo>
                  <a:lnTo>
                    <a:pt x="765695" y="292073"/>
                  </a:lnTo>
                  <a:lnTo>
                    <a:pt x="808287" y="315082"/>
                  </a:lnTo>
                  <a:lnTo>
                    <a:pt x="852190" y="335523"/>
                  </a:lnTo>
                  <a:lnTo>
                    <a:pt x="897288" y="353332"/>
                  </a:lnTo>
                  <a:lnTo>
                    <a:pt x="943463" y="368447"/>
                  </a:lnTo>
                  <a:lnTo>
                    <a:pt x="990599" y="380804"/>
                  </a:lnTo>
                  <a:lnTo>
                    <a:pt x="1038577" y="390340"/>
                  </a:lnTo>
                  <a:lnTo>
                    <a:pt x="1087282" y="396991"/>
                  </a:lnTo>
                  <a:lnTo>
                    <a:pt x="1136595" y="400694"/>
                  </a:lnTo>
                  <a:lnTo>
                    <a:pt x="1186399" y="401387"/>
                  </a:lnTo>
                  <a:lnTo>
                    <a:pt x="2297470" y="401387"/>
                  </a:lnTo>
                  <a:lnTo>
                    <a:pt x="2287547" y="415295"/>
                  </a:lnTo>
                  <a:lnTo>
                    <a:pt x="2257470" y="454422"/>
                  </a:lnTo>
                  <a:lnTo>
                    <a:pt x="2226124" y="492330"/>
                  </a:lnTo>
                  <a:lnTo>
                    <a:pt x="2193548" y="528997"/>
                  </a:lnTo>
                  <a:lnTo>
                    <a:pt x="2159783" y="564398"/>
                  </a:lnTo>
                  <a:lnTo>
                    <a:pt x="2124867" y="598512"/>
                  </a:lnTo>
                  <a:lnTo>
                    <a:pt x="2088841" y="631315"/>
                  </a:lnTo>
                  <a:lnTo>
                    <a:pt x="2051744" y="662784"/>
                  </a:lnTo>
                  <a:lnTo>
                    <a:pt x="2013614" y="692896"/>
                  </a:lnTo>
                  <a:lnTo>
                    <a:pt x="1974493" y="721627"/>
                  </a:lnTo>
                  <a:lnTo>
                    <a:pt x="1934420" y="748955"/>
                  </a:lnTo>
                  <a:lnTo>
                    <a:pt x="1893433" y="774856"/>
                  </a:lnTo>
                  <a:lnTo>
                    <a:pt x="1851574" y="799308"/>
                  </a:lnTo>
                  <a:lnTo>
                    <a:pt x="1808880" y="822287"/>
                  </a:lnTo>
                  <a:lnTo>
                    <a:pt x="1765392" y="843770"/>
                  </a:lnTo>
                  <a:lnTo>
                    <a:pt x="1721150" y="863734"/>
                  </a:lnTo>
                  <a:lnTo>
                    <a:pt x="1676193" y="882155"/>
                  </a:lnTo>
                  <a:lnTo>
                    <a:pt x="1630560" y="899012"/>
                  </a:lnTo>
                  <a:lnTo>
                    <a:pt x="1584291" y="914280"/>
                  </a:lnTo>
                  <a:lnTo>
                    <a:pt x="1537426" y="927937"/>
                  </a:lnTo>
                  <a:lnTo>
                    <a:pt x="1490004" y="939960"/>
                  </a:lnTo>
                  <a:lnTo>
                    <a:pt x="1442064" y="950324"/>
                  </a:lnTo>
                  <a:lnTo>
                    <a:pt x="1393647" y="959008"/>
                  </a:lnTo>
                  <a:lnTo>
                    <a:pt x="1344792" y="965988"/>
                  </a:lnTo>
                  <a:lnTo>
                    <a:pt x="1295539" y="971242"/>
                  </a:lnTo>
                  <a:lnTo>
                    <a:pt x="1245926" y="974744"/>
                  </a:lnTo>
                  <a:lnTo>
                    <a:pt x="1197817" y="976411"/>
                  </a:lnTo>
                  <a:close/>
                </a:path>
              </a:pathLst>
            </a:custGeom>
            <a:solidFill>
              <a:srgbClr val="1C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84518" y="1184772"/>
              <a:ext cx="1364615" cy="2072639"/>
            </a:xfrm>
            <a:custGeom>
              <a:avLst/>
              <a:gdLst/>
              <a:ahLst/>
              <a:cxnLst/>
              <a:rect l="l" t="t" r="r" b="b"/>
              <a:pathLst>
                <a:path w="1364614" h="2072639">
                  <a:moveTo>
                    <a:pt x="181192" y="2072636"/>
                  </a:moveTo>
                  <a:lnTo>
                    <a:pt x="157138" y="2028506"/>
                  </a:lnTo>
                  <a:lnTo>
                    <a:pt x="134793" y="1983744"/>
                  </a:lnTo>
                  <a:lnTo>
                    <a:pt x="114159" y="1938394"/>
                  </a:lnTo>
                  <a:lnTo>
                    <a:pt x="95234" y="1892506"/>
                  </a:lnTo>
                  <a:lnTo>
                    <a:pt x="78020" y="1846123"/>
                  </a:lnTo>
                  <a:lnTo>
                    <a:pt x="62516" y="1799295"/>
                  </a:lnTo>
                  <a:lnTo>
                    <a:pt x="48723" y="1752066"/>
                  </a:lnTo>
                  <a:lnTo>
                    <a:pt x="36640" y="1704484"/>
                  </a:lnTo>
                  <a:lnTo>
                    <a:pt x="26267" y="1656595"/>
                  </a:lnTo>
                  <a:lnTo>
                    <a:pt x="17606" y="1608446"/>
                  </a:lnTo>
                  <a:lnTo>
                    <a:pt x="10655" y="1560084"/>
                  </a:lnTo>
                  <a:lnTo>
                    <a:pt x="5415" y="1511555"/>
                  </a:lnTo>
                  <a:lnTo>
                    <a:pt x="1886" y="1462905"/>
                  </a:lnTo>
                  <a:lnTo>
                    <a:pt x="69" y="1414182"/>
                  </a:lnTo>
                  <a:lnTo>
                    <a:pt x="0" y="1364304"/>
                  </a:lnTo>
                  <a:lnTo>
                    <a:pt x="1567" y="1316701"/>
                  </a:lnTo>
                  <a:lnTo>
                    <a:pt x="4884" y="1268037"/>
                  </a:lnTo>
                  <a:lnTo>
                    <a:pt x="9881" y="1219776"/>
                  </a:lnTo>
                  <a:lnTo>
                    <a:pt x="16651" y="1171093"/>
                  </a:lnTo>
                  <a:lnTo>
                    <a:pt x="25102" y="1122907"/>
                  </a:lnTo>
                  <a:lnTo>
                    <a:pt x="35265" y="1074973"/>
                  </a:lnTo>
                  <a:lnTo>
                    <a:pt x="47140" y="1027339"/>
                  </a:lnTo>
                  <a:lnTo>
                    <a:pt x="60727" y="980050"/>
                  </a:lnTo>
                  <a:lnTo>
                    <a:pt x="76026" y="933154"/>
                  </a:lnTo>
                  <a:lnTo>
                    <a:pt x="93038" y="886698"/>
                  </a:lnTo>
                  <a:lnTo>
                    <a:pt x="111762" y="840726"/>
                  </a:lnTo>
                  <a:lnTo>
                    <a:pt x="132198" y="795287"/>
                  </a:lnTo>
                  <a:lnTo>
                    <a:pt x="154347" y="750428"/>
                  </a:lnTo>
                  <a:lnTo>
                    <a:pt x="178208" y="706193"/>
                  </a:lnTo>
                  <a:lnTo>
                    <a:pt x="203651" y="662849"/>
                  </a:lnTo>
                  <a:lnTo>
                    <a:pt x="230516" y="620644"/>
                  </a:lnTo>
                  <a:lnTo>
                    <a:pt x="258765" y="579604"/>
                  </a:lnTo>
                  <a:lnTo>
                    <a:pt x="288358" y="539751"/>
                  </a:lnTo>
                  <a:lnTo>
                    <a:pt x="319253" y="501111"/>
                  </a:lnTo>
                  <a:lnTo>
                    <a:pt x="351413" y="463707"/>
                  </a:lnTo>
                  <a:lnTo>
                    <a:pt x="384796" y="427563"/>
                  </a:lnTo>
                  <a:lnTo>
                    <a:pt x="419362" y="392703"/>
                  </a:lnTo>
                  <a:lnTo>
                    <a:pt x="455073" y="359152"/>
                  </a:lnTo>
                  <a:lnTo>
                    <a:pt x="491887" y="326933"/>
                  </a:lnTo>
                  <a:lnTo>
                    <a:pt x="529765" y="296071"/>
                  </a:lnTo>
                  <a:lnTo>
                    <a:pt x="568667" y="266590"/>
                  </a:lnTo>
                  <a:lnTo>
                    <a:pt x="608554" y="238513"/>
                  </a:lnTo>
                  <a:lnTo>
                    <a:pt x="649385" y="211866"/>
                  </a:lnTo>
                  <a:lnTo>
                    <a:pt x="691120" y="186671"/>
                  </a:lnTo>
                  <a:lnTo>
                    <a:pt x="733719" y="162953"/>
                  </a:lnTo>
                  <a:lnTo>
                    <a:pt x="777144" y="140737"/>
                  </a:lnTo>
                  <a:lnTo>
                    <a:pt x="821352" y="120046"/>
                  </a:lnTo>
                  <a:lnTo>
                    <a:pt x="866306" y="100904"/>
                  </a:lnTo>
                  <a:lnTo>
                    <a:pt x="911964" y="83335"/>
                  </a:lnTo>
                  <a:lnTo>
                    <a:pt x="958288" y="67365"/>
                  </a:lnTo>
                  <a:lnTo>
                    <a:pt x="1005236" y="53015"/>
                  </a:lnTo>
                  <a:lnTo>
                    <a:pt x="1052769" y="40312"/>
                  </a:lnTo>
                  <a:lnTo>
                    <a:pt x="1100848" y="29278"/>
                  </a:lnTo>
                  <a:lnTo>
                    <a:pt x="1149432" y="19938"/>
                  </a:lnTo>
                  <a:lnTo>
                    <a:pt x="1198481" y="12316"/>
                  </a:lnTo>
                  <a:lnTo>
                    <a:pt x="1247956" y="6437"/>
                  </a:lnTo>
                  <a:lnTo>
                    <a:pt x="1297816" y="2323"/>
                  </a:lnTo>
                  <a:lnTo>
                    <a:pt x="1348023" y="0"/>
                  </a:lnTo>
                  <a:lnTo>
                    <a:pt x="1364330" y="578314"/>
                  </a:lnTo>
                  <a:lnTo>
                    <a:pt x="1314521" y="581254"/>
                  </a:lnTo>
                  <a:lnTo>
                    <a:pt x="1265345" y="587202"/>
                  </a:lnTo>
                  <a:lnTo>
                    <a:pt x="1216919" y="596088"/>
                  </a:lnTo>
                  <a:lnTo>
                    <a:pt x="1169359" y="607844"/>
                  </a:lnTo>
                  <a:lnTo>
                    <a:pt x="1122779" y="622399"/>
                  </a:lnTo>
                  <a:lnTo>
                    <a:pt x="1077295" y="639683"/>
                  </a:lnTo>
                  <a:lnTo>
                    <a:pt x="1033023" y="659626"/>
                  </a:lnTo>
                  <a:lnTo>
                    <a:pt x="990078" y="682160"/>
                  </a:lnTo>
                  <a:lnTo>
                    <a:pt x="948576" y="707214"/>
                  </a:lnTo>
                  <a:lnTo>
                    <a:pt x="908632" y="734719"/>
                  </a:lnTo>
                  <a:lnTo>
                    <a:pt x="870361" y="764604"/>
                  </a:lnTo>
                  <a:lnTo>
                    <a:pt x="833880" y="796801"/>
                  </a:lnTo>
                  <a:lnTo>
                    <a:pt x="799303" y="831239"/>
                  </a:lnTo>
                  <a:lnTo>
                    <a:pt x="766746" y="867849"/>
                  </a:lnTo>
                  <a:lnTo>
                    <a:pt x="736325" y="906560"/>
                  </a:lnTo>
                  <a:lnTo>
                    <a:pt x="708155" y="947304"/>
                  </a:lnTo>
                  <a:lnTo>
                    <a:pt x="682352" y="990010"/>
                  </a:lnTo>
                  <a:lnTo>
                    <a:pt x="659223" y="1034222"/>
                  </a:lnTo>
                  <a:lnTo>
                    <a:pt x="638999" y="1079440"/>
                  </a:lnTo>
                  <a:lnTo>
                    <a:pt x="621681" y="1125528"/>
                  </a:lnTo>
                  <a:lnTo>
                    <a:pt x="607267" y="1172352"/>
                  </a:lnTo>
                  <a:lnTo>
                    <a:pt x="595828" y="1219485"/>
                  </a:lnTo>
                  <a:lnTo>
                    <a:pt x="587153" y="1267666"/>
                  </a:lnTo>
                  <a:lnTo>
                    <a:pt x="581452" y="1315887"/>
                  </a:lnTo>
                  <a:lnTo>
                    <a:pt x="578654" y="1364304"/>
                  </a:lnTo>
                  <a:lnTo>
                    <a:pt x="578760" y="1412782"/>
                  </a:lnTo>
                  <a:lnTo>
                    <a:pt x="581769" y="1461187"/>
                  </a:lnTo>
                  <a:lnTo>
                    <a:pt x="587681" y="1509382"/>
                  </a:lnTo>
                  <a:lnTo>
                    <a:pt x="596495" y="1557235"/>
                  </a:lnTo>
                  <a:lnTo>
                    <a:pt x="608211" y="1604608"/>
                  </a:lnTo>
                  <a:lnTo>
                    <a:pt x="622829" y="1651368"/>
                  </a:lnTo>
                  <a:lnTo>
                    <a:pt x="640349" y="1697380"/>
                  </a:lnTo>
                  <a:lnTo>
                    <a:pt x="660770" y="1742509"/>
                  </a:lnTo>
                  <a:lnTo>
                    <a:pt x="684091" y="1786620"/>
                  </a:lnTo>
                  <a:lnTo>
                    <a:pt x="181192" y="2072636"/>
                  </a:lnTo>
                  <a:close/>
                </a:path>
              </a:pathLst>
            </a:custGeom>
            <a:solidFill>
              <a:srgbClr val="249B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8685" y="2896130"/>
              <a:ext cx="763539" cy="65570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430602" y="2830905"/>
              <a:ext cx="578485" cy="577850"/>
            </a:xfrm>
            <a:custGeom>
              <a:avLst/>
              <a:gdLst/>
              <a:ahLst/>
              <a:cxnLst/>
              <a:rect l="l" t="t" r="r" b="b"/>
              <a:pathLst>
                <a:path w="578485" h="577850">
                  <a:moveTo>
                    <a:pt x="578485" y="300761"/>
                  </a:moveTo>
                  <a:lnTo>
                    <a:pt x="576719" y="254431"/>
                  </a:lnTo>
                  <a:lnTo>
                    <a:pt x="569899" y="220903"/>
                  </a:lnTo>
                  <a:lnTo>
                    <a:pt x="570661" y="220713"/>
                  </a:lnTo>
                  <a:lnTo>
                    <a:pt x="568591" y="214452"/>
                  </a:lnTo>
                  <a:lnTo>
                    <a:pt x="567309" y="208102"/>
                  </a:lnTo>
                  <a:lnTo>
                    <a:pt x="566572" y="208318"/>
                  </a:lnTo>
                  <a:lnTo>
                    <a:pt x="534606" y="135026"/>
                  </a:lnTo>
                  <a:lnTo>
                    <a:pt x="507365" y="98399"/>
                  </a:lnTo>
                  <a:lnTo>
                    <a:pt x="474891" y="66675"/>
                  </a:lnTo>
                  <a:lnTo>
                    <a:pt x="437857" y="40398"/>
                  </a:lnTo>
                  <a:lnTo>
                    <a:pt x="396938" y="20154"/>
                  </a:lnTo>
                  <a:lnTo>
                    <a:pt x="352806" y="6502"/>
                  </a:lnTo>
                  <a:lnTo>
                    <a:pt x="306133" y="0"/>
                  </a:lnTo>
                  <a:lnTo>
                    <a:pt x="259029" y="1117"/>
                  </a:lnTo>
                  <a:lnTo>
                    <a:pt x="213601" y="9626"/>
                  </a:lnTo>
                  <a:lnTo>
                    <a:pt x="170611" y="25044"/>
                  </a:lnTo>
                  <a:lnTo>
                    <a:pt x="130771" y="46901"/>
                  </a:lnTo>
                  <a:lnTo>
                    <a:pt x="94830" y="74701"/>
                  </a:lnTo>
                  <a:lnTo>
                    <a:pt x="63525" y="107962"/>
                  </a:lnTo>
                  <a:lnTo>
                    <a:pt x="37579" y="146202"/>
                  </a:lnTo>
                  <a:lnTo>
                    <a:pt x="17754" y="188950"/>
                  </a:lnTo>
                  <a:lnTo>
                    <a:pt x="5092" y="234315"/>
                  </a:lnTo>
                  <a:lnTo>
                    <a:pt x="0" y="280225"/>
                  </a:lnTo>
                  <a:lnTo>
                    <a:pt x="2235" y="325818"/>
                  </a:lnTo>
                  <a:lnTo>
                    <a:pt x="11544" y="370255"/>
                  </a:lnTo>
                  <a:lnTo>
                    <a:pt x="27673" y="412699"/>
                  </a:lnTo>
                  <a:lnTo>
                    <a:pt x="50393" y="452285"/>
                  </a:lnTo>
                  <a:lnTo>
                    <a:pt x="79438" y="488175"/>
                  </a:lnTo>
                  <a:lnTo>
                    <a:pt x="101536" y="507911"/>
                  </a:lnTo>
                  <a:lnTo>
                    <a:pt x="100952" y="508596"/>
                  </a:lnTo>
                  <a:lnTo>
                    <a:pt x="108140" y="513816"/>
                  </a:lnTo>
                  <a:lnTo>
                    <a:pt x="114566" y="519531"/>
                  </a:lnTo>
                  <a:lnTo>
                    <a:pt x="115087" y="518833"/>
                  </a:lnTo>
                  <a:lnTo>
                    <a:pt x="139255" y="536308"/>
                  </a:lnTo>
                  <a:lnTo>
                    <a:pt x="180721" y="557047"/>
                  </a:lnTo>
                  <a:lnTo>
                    <a:pt x="224447" y="570763"/>
                  </a:lnTo>
                  <a:lnTo>
                    <a:pt x="269557" y="577405"/>
                  </a:lnTo>
                  <a:lnTo>
                    <a:pt x="315150" y="576884"/>
                  </a:lnTo>
                  <a:lnTo>
                    <a:pt x="360349" y="569175"/>
                  </a:lnTo>
                  <a:lnTo>
                    <a:pt x="404253" y="554189"/>
                  </a:lnTo>
                  <a:lnTo>
                    <a:pt x="445973" y="531876"/>
                  </a:lnTo>
                  <a:lnTo>
                    <a:pt x="483527" y="503110"/>
                  </a:lnTo>
                  <a:lnTo>
                    <a:pt x="515315" y="469315"/>
                  </a:lnTo>
                  <a:lnTo>
                    <a:pt x="541020" y="431355"/>
                  </a:lnTo>
                  <a:lnTo>
                    <a:pt x="560324" y="390055"/>
                  </a:lnTo>
                  <a:lnTo>
                    <a:pt x="572909" y="346240"/>
                  </a:lnTo>
                  <a:lnTo>
                    <a:pt x="578485" y="300761"/>
                  </a:lnTo>
                  <a:close/>
                </a:path>
              </a:pathLst>
            </a:custGeom>
            <a:solidFill>
              <a:srgbClr val="249B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4183" y="1057318"/>
              <a:ext cx="574988" cy="83985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57397" y="1184566"/>
              <a:ext cx="577850" cy="578485"/>
            </a:xfrm>
            <a:custGeom>
              <a:avLst/>
              <a:gdLst/>
              <a:ahLst/>
              <a:cxnLst/>
              <a:rect l="l" t="t" r="r" b="b"/>
              <a:pathLst>
                <a:path w="577850" h="578485">
                  <a:moveTo>
                    <a:pt x="577596" y="272313"/>
                  </a:moveTo>
                  <a:lnTo>
                    <a:pt x="571500" y="227291"/>
                  </a:lnTo>
                  <a:lnTo>
                    <a:pt x="558342" y="183540"/>
                  </a:lnTo>
                  <a:lnTo>
                    <a:pt x="538187" y="141960"/>
                  </a:lnTo>
                  <a:lnTo>
                    <a:pt x="511098" y="103416"/>
                  </a:lnTo>
                  <a:lnTo>
                    <a:pt x="478129" y="69761"/>
                  </a:lnTo>
                  <a:lnTo>
                    <a:pt x="440918" y="42405"/>
                  </a:lnTo>
                  <a:lnTo>
                    <a:pt x="400316" y="21539"/>
                  </a:lnTo>
                  <a:lnTo>
                    <a:pt x="357174" y="7378"/>
                  </a:lnTo>
                  <a:lnTo>
                    <a:pt x="312356" y="127"/>
                  </a:lnTo>
                  <a:lnTo>
                    <a:pt x="266725" y="0"/>
                  </a:lnTo>
                  <a:lnTo>
                    <a:pt x="221107" y="7213"/>
                  </a:lnTo>
                  <a:lnTo>
                    <a:pt x="192963" y="16497"/>
                  </a:lnTo>
                  <a:lnTo>
                    <a:pt x="192671" y="15633"/>
                  </a:lnTo>
                  <a:lnTo>
                    <a:pt x="184569" y="19265"/>
                  </a:lnTo>
                  <a:lnTo>
                    <a:pt x="176390" y="21958"/>
                  </a:lnTo>
                  <a:lnTo>
                    <a:pt x="176720" y="22771"/>
                  </a:lnTo>
                  <a:lnTo>
                    <a:pt x="110832" y="60490"/>
                  </a:lnTo>
                  <a:lnTo>
                    <a:pt x="77076" y="91490"/>
                  </a:lnTo>
                  <a:lnTo>
                    <a:pt x="48780" y="127241"/>
                  </a:lnTo>
                  <a:lnTo>
                    <a:pt x="26428" y="166979"/>
                  </a:lnTo>
                  <a:lnTo>
                    <a:pt x="10515" y="209969"/>
                  </a:lnTo>
                  <a:lnTo>
                    <a:pt x="1549" y="255485"/>
                  </a:lnTo>
                  <a:lnTo>
                    <a:pt x="0" y="302768"/>
                  </a:lnTo>
                  <a:lnTo>
                    <a:pt x="6146" y="349681"/>
                  </a:lnTo>
                  <a:lnTo>
                    <a:pt x="19507" y="394106"/>
                  </a:lnTo>
                  <a:lnTo>
                    <a:pt x="39535" y="435343"/>
                  </a:lnTo>
                  <a:lnTo>
                    <a:pt x="65659" y="472719"/>
                  </a:lnTo>
                  <a:lnTo>
                    <a:pt x="97294" y="505523"/>
                  </a:lnTo>
                  <a:lnTo>
                    <a:pt x="133908" y="533095"/>
                  </a:lnTo>
                  <a:lnTo>
                    <a:pt x="174904" y="554723"/>
                  </a:lnTo>
                  <a:lnTo>
                    <a:pt x="207352" y="565607"/>
                  </a:lnTo>
                  <a:lnTo>
                    <a:pt x="207137" y="566343"/>
                  </a:lnTo>
                  <a:lnTo>
                    <a:pt x="213601" y="567702"/>
                  </a:lnTo>
                  <a:lnTo>
                    <a:pt x="219735" y="569747"/>
                  </a:lnTo>
                  <a:lnTo>
                    <a:pt x="219913" y="569010"/>
                  </a:lnTo>
                  <a:lnTo>
                    <a:pt x="253238" y="575957"/>
                  </a:lnTo>
                  <a:lnTo>
                    <a:pt x="299377" y="577964"/>
                  </a:lnTo>
                  <a:lnTo>
                    <a:pt x="344703" y="572693"/>
                  </a:lnTo>
                  <a:lnTo>
                    <a:pt x="388416" y="560438"/>
                  </a:lnTo>
                  <a:lnTo>
                    <a:pt x="429691" y="541502"/>
                  </a:lnTo>
                  <a:lnTo>
                    <a:pt x="467677" y="516191"/>
                  </a:lnTo>
                  <a:lnTo>
                    <a:pt x="501573" y="484797"/>
                  </a:lnTo>
                  <a:lnTo>
                    <a:pt x="530542" y="447636"/>
                  </a:lnTo>
                  <a:lnTo>
                    <a:pt x="553123" y="406285"/>
                  </a:lnTo>
                  <a:lnTo>
                    <a:pt x="568464" y="362686"/>
                  </a:lnTo>
                  <a:lnTo>
                    <a:pt x="576605" y="317741"/>
                  </a:lnTo>
                  <a:lnTo>
                    <a:pt x="577596" y="272313"/>
                  </a:lnTo>
                  <a:close/>
                </a:path>
              </a:pathLst>
            </a:custGeom>
            <a:solidFill>
              <a:srgbClr val="145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0401" y="2665408"/>
              <a:ext cx="784070" cy="62823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322737" y="2808299"/>
              <a:ext cx="579120" cy="579120"/>
            </a:xfrm>
            <a:custGeom>
              <a:avLst/>
              <a:gdLst/>
              <a:ahLst/>
              <a:cxnLst/>
              <a:rect l="l" t="t" r="r" b="b"/>
              <a:pathLst>
                <a:path w="579120" h="579120">
                  <a:moveTo>
                    <a:pt x="578789" y="295452"/>
                  </a:moveTo>
                  <a:lnTo>
                    <a:pt x="576033" y="249174"/>
                  </a:lnTo>
                  <a:lnTo>
                    <a:pt x="566051" y="204444"/>
                  </a:lnTo>
                  <a:lnTo>
                    <a:pt x="549249" y="162064"/>
                  </a:lnTo>
                  <a:lnTo>
                    <a:pt x="526008" y="122834"/>
                  </a:lnTo>
                  <a:lnTo>
                    <a:pt x="496722" y="87553"/>
                  </a:lnTo>
                  <a:lnTo>
                    <a:pt x="461797" y="57023"/>
                  </a:lnTo>
                  <a:lnTo>
                    <a:pt x="421614" y="32042"/>
                  </a:lnTo>
                  <a:lnTo>
                    <a:pt x="377913" y="13906"/>
                  </a:lnTo>
                  <a:lnTo>
                    <a:pt x="332765" y="3276"/>
                  </a:lnTo>
                  <a:lnTo>
                    <a:pt x="287032" y="0"/>
                  </a:lnTo>
                  <a:lnTo>
                    <a:pt x="241604" y="3937"/>
                  </a:lnTo>
                  <a:lnTo>
                    <a:pt x="197370" y="14935"/>
                  </a:lnTo>
                  <a:lnTo>
                    <a:pt x="155194" y="32842"/>
                  </a:lnTo>
                  <a:lnTo>
                    <a:pt x="115951" y="57543"/>
                  </a:lnTo>
                  <a:lnTo>
                    <a:pt x="90309" y="80213"/>
                  </a:lnTo>
                  <a:lnTo>
                    <a:pt x="89776" y="79641"/>
                  </a:lnTo>
                  <a:lnTo>
                    <a:pt x="85369" y="84569"/>
                  </a:lnTo>
                  <a:lnTo>
                    <a:pt x="80530" y="88849"/>
                  </a:lnTo>
                  <a:lnTo>
                    <a:pt x="81076" y="89382"/>
                  </a:lnTo>
                  <a:lnTo>
                    <a:pt x="33591" y="153708"/>
                  </a:lnTo>
                  <a:lnTo>
                    <a:pt x="15481" y="195605"/>
                  </a:lnTo>
                  <a:lnTo>
                    <a:pt x="4241" y="239598"/>
                  </a:lnTo>
                  <a:lnTo>
                    <a:pt x="0" y="284797"/>
                  </a:lnTo>
                  <a:lnTo>
                    <a:pt x="2933" y="330365"/>
                  </a:lnTo>
                  <a:lnTo>
                    <a:pt x="13169" y="375399"/>
                  </a:lnTo>
                  <a:lnTo>
                    <a:pt x="30861" y="419061"/>
                  </a:lnTo>
                  <a:lnTo>
                    <a:pt x="55384" y="459308"/>
                  </a:lnTo>
                  <a:lnTo>
                    <a:pt x="85458" y="494385"/>
                  </a:lnTo>
                  <a:lnTo>
                    <a:pt x="120319" y="523913"/>
                  </a:lnTo>
                  <a:lnTo>
                    <a:pt x="159169" y="547484"/>
                  </a:lnTo>
                  <a:lnTo>
                    <a:pt x="201206" y="564705"/>
                  </a:lnTo>
                  <a:lnTo>
                    <a:pt x="245668" y="575195"/>
                  </a:lnTo>
                  <a:lnTo>
                    <a:pt x="291757" y="578535"/>
                  </a:lnTo>
                  <a:lnTo>
                    <a:pt x="338696" y="574332"/>
                  </a:lnTo>
                  <a:lnTo>
                    <a:pt x="384327" y="562622"/>
                  </a:lnTo>
                  <a:lnTo>
                    <a:pt x="426631" y="544068"/>
                  </a:lnTo>
                  <a:lnTo>
                    <a:pt x="464997" y="519341"/>
                  </a:lnTo>
                  <a:lnTo>
                    <a:pt x="498830" y="489064"/>
                  </a:lnTo>
                  <a:lnTo>
                    <a:pt x="527519" y="453885"/>
                  </a:lnTo>
                  <a:lnTo>
                    <a:pt x="550456" y="414413"/>
                  </a:lnTo>
                  <a:lnTo>
                    <a:pt x="567016" y="371309"/>
                  </a:lnTo>
                  <a:lnTo>
                    <a:pt x="573036" y="342315"/>
                  </a:lnTo>
                  <a:lnTo>
                    <a:pt x="573938" y="342480"/>
                  </a:lnTo>
                  <a:lnTo>
                    <a:pt x="574840" y="333654"/>
                  </a:lnTo>
                  <a:lnTo>
                    <a:pt x="576605" y="325208"/>
                  </a:lnTo>
                  <a:lnTo>
                    <a:pt x="575729" y="325107"/>
                  </a:lnTo>
                  <a:lnTo>
                    <a:pt x="578789" y="295452"/>
                  </a:lnTo>
                  <a:close/>
                </a:path>
              </a:pathLst>
            </a:custGeom>
            <a:solidFill>
              <a:srgbClr val="1C7E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549546" y="1320316"/>
            <a:ext cx="258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Roboto"/>
                <a:cs typeface="Roboto"/>
              </a:rPr>
              <a:t>03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90632" y="3122644"/>
            <a:ext cx="258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Roboto"/>
                <a:cs typeface="Roboto"/>
              </a:rPr>
              <a:t>01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96873" y="2922869"/>
            <a:ext cx="258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Roboto"/>
                <a:cs typeface="Roboto"/>
              </a:rPr>
              <a:t>02</a:t>
            </a:r>
            <a:endParaRPr sz="1600">
              <a:latin typeface="Roboto"/>
              <a:cs typeface="Roboto"/>
            </a:endParaRPr>
          </a:p>
        </p:txBody>
      </p:sp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07025" y="4610625"/>
            <a:ext cx="324949" cy="32494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0075" y="4457400"/>
            <a:ext cx="814075" cy="4781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C4A15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object 4"/>
            <p:cNvSpPr/>
            <p:nvPr/>
          </p:nvSpPr>
          <p:spPr>
            <a:xfrm>
              <a:off x="3582599" y="1550700"/>
              <a:ext cx="5561965" cy="3592829"/>
            </a:xfrm>
            <a:custGeom>
              <a:avLst/>
              <a:gdLst/>
              <a:ahLst/>
              <a:cxnLst/>
              <a:rect l="l" t="t" r="r" b="b"/>
              <a:pathLst>
                <a:path w="5561965" h="3592829">
                  <a:moveTo>
                    <a:pt x="5561399" y="3592799"/>
                  </a:moveTo>
                  <a:lnTo>
                    <a:pt x="0" y="3592799"/>
                  </a:lnTo>
                  <a:lnTo>
                    <a:pt x="5561399" y="0"/>
                  </a:lnTo>
                  <a:lnTo>
                    <a:pt x="5561399" y="35927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" y="2824500"/>
              <a:ext cx="7370445" cy="2319020"/>
            </a:xfrm>
            <a:custGeom>
              <a:avLst/>
              <a:gdLst/>
              <a:ahLst/>
              <a:cxnLst/>
              <a:rect l="l" t="t" r="r" b="b"/>
              <a:pathLst>
                <a:path w="7370445" h="2319020">
                  <a:moveTo>
                    <a:pt x="7370399" y="2318999"/>
                  </a:moveTo>
                  <a:lnTo>
                    <a:pt x="0" y="2318999"/>
                  </a:lnTo>
                  <a:lnTo>
                    <a:pt x="0" y="0"/>
                  </a:lnTo>
                  <a:lnTo>
                    <a:pt x="7370399" y="2318999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3224" y="206250"/>
              <a:ext cx="8737600" cy="4731385"/>
            </a:xfrm>
            <a:custGeom>
              <a:avLst/>
              <a:gdLst/>
              <a:ahLst/>
              <a:cxnLst/>
              <a:rect l="l" t="t" r="r" b="b"/>
              <a:pathLst>
                <a:path w="8737600" h="4731385">
                  <a:moveTo>
                    <a:pt x="8737499" y="4730999"/>
                  </a:moveTo>
                  <a:lnTo>
                    <a:pt x="0" y="4730999"/>
                  </a:lnTo>
                  <a:lnTo>
                    <a:pt x="0" y="0"/>
                  </a:lnTo>
                  <a:lnTo>
                    <a:pt x="8737499" y="0"/>
                  </a:lnTo>
                  <a:lnTo>
                    <a:pt x="8737499" y="4730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953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Ǫuel</a:t>
            </a:r>
            <a:r>
              <a:rPr spc="-155" dirty="0"/>
              <a:t> </a:t>
            </a:r>
            <a:r>
              <a:rPr spc="-85" dirty="0"/>
              <a:t>est</a:t>
            </a:r>
            <a:r>
              <a:rPr spc="-155" dirty="0"/>
              <a:t> </a:t>
            </a:r>
            <a:r>
              <a:rPr spc="-20" dirty="0"/>
              <a:t>le</a:t>
            </a:r>
            <a:r>
              <a:rPr spc="-155" dirty="0"/>
              <a:t> </a:t>
            </a:r>
            <a:r>
              <a:rPr spc="-80" dirty="0"/>
              <a:t>délai</a:t>
            </a:r>
            <a:r>
              <a:rPr spc="-150" dirty="0"/>
              <a:t> </a:t>
            </a:r>
            <a:r>
              <a:rPr spc="-105" dirty="0"/>
              <a:t>de</a:t>
            </a:r>
            <a:r>
              <a:rPr spc="-155" dirty="0"/>
              <a:t> </a:t>
            </a:r>
            <a:r>
              <a:rPr spc="-90" dirty="0"/>
              <a:t>stabilité</a:t>
            </a:r>
            <a:r>
              <a:rPr spc="-155" dirty="0"/>
              <a:t> </a:t>
            </a:r>
            <a:r>
              <a:rPr spc="-105" dirty="0"/>
              <a:t>de</a:t>
            </a:r>
            <a:r>
              <a:rPr spc="-150" dirty="0"/>
              <a:t> </a:t>
            </a:r>
            <a:r>
              <a:rPr dirty="0"/>
              <a:t>la</a:t>
            </a:r>
            <a:r>
              <a:rPr spc="-155" dirty="0"/>
              <a:t> </a:t>
            </a:r>
            <a:r>
              <a:rPr spc="-90" dirty="0"/>
              <a:t>segmentation?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95800" y="3352678"/>
            <a:ext cx="3203575" cy="48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00" dirty="0">
                <a:solidFill>
                  <a:srgbClr val="233944"/>
                </a:solidFill>
                <a:latin typeface="Calibri"/>
                <a:cs typeface="Calibri"/>
              </a:rPr>
              <a:t>Au</a:t>
            </a:r>
            <a:r>
              <a:rPr sz="1300" spc="-3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33944"/>
                </a:solidFill>
                <a:latin typeface="Calibri"/>
                <a:cs typeface="Calibri"/>
              </a:rPr>
              <a:t>bout</a:t>
            </a:r>
            <a:r>
              <a:rPr sz="1300" spc="-3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33944"/>
                </a:solidFill>
                <a:latin typeface="Calibri"/>
                <a:cs typeface="Calibri"/>
              </a:rPr>
              <a:t>de</a:t>
            </a:r>
            <a:r>
              <a:rPr sz="1300" spc="-2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33944"/>
                </a:solidFill>
                <a:latin typeface="Calibri"/>
                <a:cs typeface="Calibri"/>
              </a:rPr>
              <a:t>60</a:t>
            </a:r>
            <a:r>
              <a:rPr sz="1300" spc="-3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33944"/>
                </a:solidFill>
                <a:latin typeface="Calibri"/>
                <a:cs typeface="Calibri"/>
              </a:rPr>
              <a:t>jours,</a:t>
            </a:r>
            <a:r>
              <a:rPr sz="1300" spc="-2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33944"/>
                </a:solidFill>
                <a:latin typeface="Calibri"/>
                <a:cs typeface="Calibri"/>
              </a:rPr>
              <a:t>nous</a:t>
            </a:r>
            <a:r>
              <a:rPr sz="1300" spc="-3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33944"/>
                </a:solidFill>
                <a:latin typeface="Calibri"/>
                <a:cs typeface="Calibri"/>
              </a:rPr>
              <a:t>devrions</a:t>
            </a:r>
            <a:r>
              <a:rPr sz="1300" spc="-2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33944"/>
                </a:solidFill>
                <a:latin typeface="Calibri"/>
                <a:cs typeface="Calibri"/>
              </a:rPr>
              <a:t>proposer</a:t>
            </a:r>
            <a:r>
              <a:rPr sz="1300" spc="-3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33944"/>
                </a:solidFill>
                <a:latin typeface="Calibri"/>
                <a:cs typeface="Calibri"/>
              </a:rPr>
              <a:t>au </a:t>
            </a:r>
            <a:r>
              <a:rPr sz="1300" dirty="0">
                <a:solidFill>
                  <a:srgbClr val="233944"/>
                </a:solidFill>
                <a:latin typeface="Calibri"/>
                <a:cs typeface="Calibri"/>
              </a:rPr>
              <a:t>client</a:t>
            </a:r>
            <a:r>
              <a:rPr sz="1300" spc="-4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33944"/>
                </a:solidFill>
                <a:latin typeface="Calibri"/>
                <a:cs typeface="Calibri"/>
              </a:rPr>
              <a:t>une</a:t>
            </a:r>
            <a:r>
              <a:rPr sz="1300" spc="-4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33944"/>
                </a:solidFill>
                <a:latin typeface="Calibri"/>
                <a:cs typeface="Calibri"/>
              </a:rPr>
              <a:t>nouvelle</a:t>
            </a:r>
            <a:r>
              <a:rPr sz="1300" spc="-4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33944"/>
                </a:solidFill>
                <a:latin typeface="Calibri"/>
                <a:cs typeface="Calibri"/>
              </a:rPr>
              <a:t>segmentation</a:t>
            </a:r>
            <a:r>
              <a:rPr sz="1300" spc="-4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33944"/>
                </a:solidFill>
                <a:latin typeface="Calibri"/>
                <a:cs typeface="Calibri"/>
              </a:rPr>
              <a:t>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0075" y="1031200"/>
            <a:ext cx="8742045" cy="3904615"/>
            <a:chOff x="190075" y="1031200"/>
            <a:chExt cx="8742045" cy="390461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050" y="1031200"/>
              <a:ext cx="4299299" cy="298379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68606" y="1521349"/>
              <a:ext cx="356870" cy="154305"/>
            </a:xfrm>
            <a:custGeom>
              <a:avLst/>
              <a:gdLst/>
              <a:ahLst/>
              <a:cxnLst/>
              <a:rect l="l" t="t" r="r" b="b"/>
              <a:pathLst>
                <a:path w="356869" h="154305">
                  <a:moveTo>
                    <a:pt x="356718" y="0"/>
                  </a:moveTo>
                  <a:lnTo>
                    <a:pt x="0" y="15377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28912" y="1660678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0" y="31558"/>
                  </a:moveTo>
                  <a:lnTo>
                    <a:pt x="33466" y="0"/>
                  </a:lnTo>
                  <a:lnTo>
                    <a:pt x="45922" y="28894"/>
                  </a:lnTo>
                  <a:lnTo>
                    <a:pt x="0" y="3155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28912" y="1660678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33466" y="0"/>
                  </a:moveTo>
                  <a:lnTo>
                    <a:pt x="0" y="31558"/>
                  </a:lnTo>
                  <a:lnTo>
                    <a:pt x="45922" y="28894"/>
                  </a:lnTo>
                  <a:lnTo>
                    <a:pt x="33466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075" y="4457399"/>
              <a:ext cx="814075" cy="4781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07025" y="4610625"/>
              <a:ext cx="324949" cy="3249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C4A15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199" y="2834075"/>
            <a:ext cx="3575050" cy="2310130"/>
            <a:chOff x="5569199" y="2834075"/>
            <a:chExt cx="3575050" cy="2310130"/>
          </a:xfrm>
        </p:grpSpPr>
        <p:sp>
          <p:nvSpPr>
            <p:cNvPr id="4" name="object 4"/>
            <p:cNvSpPr/>
            <p:nvPr/>
          </p:nvSpPr>
          <p:spPr>
            <a:xfrm>
              <a:off x="5569199" y="2834075"/>
              <a:ext cx="3575050" cy="2309495"/>
            </a:xfrm>
            <a:custGeom>
              <a:avLst/>
              <a:gdLst/>
              <a:ahLst/>
              <a:cxnLst/>
              <a:rect l="l" t="t" r="r" b="b"/>
              <a:pathLst>
                <a:path w="3575050" h="2309495">
                  <a:moveTo>
                    <a:pt x="3574799" y="2309399"/>
                  </a:moveTo>
                  <a:lnTo>
                    <a:pt x="0" y="2309399"/>
                  </a:lnTo>
                  <a:lnTo>
                    <a:pt x="3574799" y="0"/>
                  </a:lnTo>
                  <a:lnTo>
                    <a:pt x="3574799" y="2309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59221" y="4119587"/>
              <a:ext cx="2520950" cy="1024255"/>
            </a:xfrm>
            <a:custGeom>
              <a:avLst/>
              <a:gdLst/>
              <a:ahLst/>
              <a:cxnLst/>
              <a:rect l="l" t="t" r="r" b="b"/>
              <a:pathLst>
                <a:path w="2520950" h="1024254">
                  <a:moveTo>
                    <a:pt x="1701126" y="0"/>
                  </a:moveTo>
                  <a:lnTo>
                    <a:pt x="1618424" y="0"/>
                  </a:lnTo>
                  <a:lnTo>
                    <a:pt x="0" y="1024153"/>
                  </a:lnTo>
                  <a:lnTo>
                    <a:pt x="82702" y="1024153"/>
                  </a:lnTo>
                  <a:lnTo>
                    <a:pt x="1701126" y="0"/>
                  </a:lnTo>
                  <a:close/>
                </a:path>
                <a:path w="2520950" h="1024254">
                  <a:moveTo>
                    <a:pt x="2111032" y="0"/>
                  </a:moveTo>
                  <a:lnTo>
                    <a:pt x="2028329" y="0"/>
                  </a:lnTo>
                  <a:lnTo>
                    <a:pt x="409905" y="1024153"/>
                  </a:lnTo>
                  <a:lnTo>
                    <a:pt x="492607" y="1024153"/>
                  </a:lnTo>
                  <a:lnTo>
                    <a:pt x="2111032" y="0"/>
                  </a:lnTo>
                  <a:close/>
                </a:path>
                <a:path w="2520950" h="1024254">
                  <a:moveTo>
                    <a:pt x="2520950" y="0"/>
                  </a:moveTo>
                  <a:lnTo>
                    <a:pt x="2438235" y="0"/>
                  </a:lnTo>
                  <a:lnTo>
                    <a:pt x="819810" y="1024153"/>
                  </a:lnTo>
                  <a:lnTo>
                    <a:pt x="902525" y="1024153"/>
                  </a:lnTo>
                  <a:lnTo>
                    <a:pt x="2520950" y="0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99148" y="12"/>
            <a:ext cx="2795905" cy="1083310"/>
          </a:xfrm>
          <a:custGeom>
            <a:avLst/>
            <a:gdLst/>
            <a:ahLst/>
            <a:cxnLst/>
            <a:rect l="l" t="t" r="r" b="b"/>
            <a:pathLst>
              <a:path w="2795905" h="1083310">
                <a:moveTo>
                  <a:pt x="1886331" y="0"/>
                </a:moveTo>
                <a:lnTo>
                  <a:pt x="1711883" y="0"/>
                </a:lnTo>
                <a:lnTo>
                  <a:pt x="0" y="1083310"/>
                </a:lnTo>
                <a:lnTo>
                  <a:pt x="174447" y="1083310"/>
                </a:lnTo>
                <a:lnTo>
                  <a:pt x="1886331" y="0"/>
                </a:lnTo>
                <a:close/>
              </a:path>
              <a:path w="2795905" h="1083310">
                <a:moveTo>
                  <a:pt x="2340876" y="0"/>
                </a:moveTo>
                <a:lnTo>
                  <a:pt x="2166416" y="0"/>
                </a:lnTo>
                <a:lnTo>
                  <a:pt x="454533" y="1083310"/>
                </a:lnTo>
                <a:lnTo>
                  <a:pt x="628980" y="1083310"/>
                </a:lnTo>
                <a:lnTo>
                  <a:pt x="2340876" y="0"/>
                </a:lnTo>
                <a:close/>
              </a:path>
              <a:path w="2795905" h="1083310">
                <a:moveTo>
                  <a:pt x="2795409" y="0"/>
                </a:moveTo>
                <a:lnTo>
                  <a:pt x="2620949" y="0"/>
                </a:lnTo>
                <a:lnTo>
                  <a:pt x="909066" y="1083310"/>
                </a:lnTo>
                <a:lnTo>
                  <a:pt x="1083525" y="1083310"/>
                </a:lnTo>
                <a:lnTo>
                  <a:pt x="2795409" y="0"/>
                </a:lnTo>
                <a:close/>
              </a:path>
            </a:pathLst>
          </a:custGeom>
          <a:solidFill>
            <a:srgbClr val="23394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548237" y="3028237"/>
            <a:ext cx="3460750" cy="1476375"/>
            <a:chOff x="1548237" y="3028237"/>
            <a:chExt cx="3460750" cy="1476375"/>
          </a:xfrm>
        </p:grpSpPr>
        <p:sp>
          <p:nvSpPr>
            <p:cNvPr id="8" name="object 8"/>
            <p:cNvSpPr/>
            <p:nvPr/>
          </p:nvSpPr>
          <p:spPr>
            <a:xfrm>
              <a:off x="1552999" y="3032999"/>
              <a:ext cx="3451225" cy="1466850"/>
            </a:xfrm>
            <a:custGeom>
              <a:avLst/>
              <a:gdLst/>
              <a:ahLst/>
              <a:cxnLst/>
              <a:rect l="l" t="t" r="r" b="b"/>
              <a:pathLst>
                <a:path w="3451225" h="1466850">
                  <a:moveTo>
                    <a:pt x="3206744" y="1466699"/>
                  </a:moveTo>
                  <a:lnTo>
                    <a:pt x="244454" y="1466699"/>
                  </a:lnTo>
                  <a:lnTo>
                    <a:pt x="195188" y="1461733"/>
                  </a:lnTo>
                  <a:lnTo>
                    <a:pt x="149301" y="1447489"/>
                  </a:lnTo>
                  <a:lnTo>
                    <a:pt x="107777" y="1424950"/>
                  </a:lnTo>
                  <a:lnTo>
                    <a:pt x="71599" y="1395100"/>
                  </a:lnTo>
                  <a:lnTo>
                    <a:pt x="41749" y="1358922"/>
                  </a:lnTo>
                  <a:lnTo>
                    <a:pt x="19210" y="1317398"/>
                  </a:lnTo>
                  <a:lnTo>
                    <a:pt x="4966" y="1271511"/>
                  </a:lnTo>
                  <a:lnTo>
                    <a:pt x="0" y="1222244"/>
                  </a:lnTo>
                  <a:lnTo>
                    <a:pt x="0" y="244454"/>
                  </a:lnTo>
                  <a:lnTo>
                    <a:pt x="4966" y="195188"/>
                  </a:lnTo>
                  <a:lnTo>
                    <a:pt x="19210" y="149301"/>
                  </a:lnTo>
                  <a:lnTo>
                    <a:pt x="41749" y="107777"/>
                  </a:lnTo>
                  <a:lnTo>
                    <a:pt x="71599" y="71599"/>
                  </a:lnTo>
                  <a:lnTo>
                    <a:pt x="107777" y="41749"/>
                  </a:lnTo>
                  <a:lnTo>
                    <a:pt x="149301" y="19210"/>
                  </a:lnTo>
                  <a:lnTo>
                    <a:pt x="195188" y="4966"/>
                  </a:lnTo>
                  <a:lnTo>
                    <a:pt x="244454" y="0"/>
                  </a:lnTo>
                  <a:lnTo>
                    <a:pt x="3206744" y="0"/>
                  </a:lnTo>
                  <a:lnTo>
                    <a:pt x="3254658" y="4740"/>
                  </a:lnTo>
                  <a:lnTo>
                    <a:pt x="3300293" y="18608"/>
                  </a:lnTo>
                  <a:lnTo>
                    <a:pt x="3342368" y="41071"/>
                  </a:lnTo>
                  <a:lnTo>
                    <a:pt x="3379600" y="71599"/>
                  </a:lnTo>
                  <a:lnTo>
                    <a:pt x="3410128" y="108831"/>
                  </a:lnTo>
                  <a:lnTo>
                    <a:pt x="3432591" y="150906"/>
                  </a:lnTo>
                  <a:lnTo>
                    <a:pt x="3446459" y="196541"/>
                  </a:lnTo>
                  <a:lnTo>
                    <a:pt x="3451199" y="244454"/>
                  </a:lnTo>
                  <a:lnTo>
                    <a:pt x="3451199" y="1222244"/>
                  </a:lnTo>
                  <a:lnTo>
                    <a:pt x="3446233" y="1271511"/>
                  </a:lnTo>
                  <a:lnTo>
                    <a:pt x="3431989" y="1317398"/>
                  </a:lnTo>
                  <a:lnTo>
                    <a:pt x="3409450" y="1358922"/>
                  </a:lnTo>
                  <a:lnTo>
                    <a:pt x="3379600" y="1395100"/>
                  </a:lnTo>
                  <a:lnTo>
                    <a:pt x="3343422" y="1424950"/>
                  </a:lnTo>
                  <a:lnTo>
                    <a:pt x="3301897" y="1447489"/>
                  </a:lnTo>
                  <a:lnTo>
                    <a:pt x="3256011" y="1461733"/>
                  </a:lnTo>
                  <a:lnTo>
                    <a:pt x="3206744" y="1466699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52999" y="3032999"/>
              <a:ext cx="3451225" cy="1466850"/>
            </a:xfrm>
            <a:custGeom>
              <a:avLst/>
              <a:gdLst/>
              <a:ahLst/>
              <a:cxnLst/>
              <a:rect l="l" t="t" r="r" b="b"/>
              <a:pathLst>
                <a:path w="3451225" h="1466850">
                  <a:moveTo>
                    <a:pt x="0" y="244454"/>
                  </a:moveTo>
                  <a:lnTo>
                    <a:pt x="4966" y="195188"/>
                  </a:lnTo>
                  <a:lnTo>
                    <a:pt x="19210" y="149301"/>
                  </a:lnTo>
                  <a:lnTo>
                    <a:pt x="41749" y="107777"/>
                  </a:lnTo>
                  <a:lnTo>
                    <a:pt x="71599" y="71599"/>
                  </a:lnTo>
                  <a:lnTo>
                    <a:pt x="107777" y="41749"/>
                  </a:lnTo>
                  <a:lnTo>
                    <a:pt x="149301" y="19210"/>
                  </a:lnTo>
                  <a:lnTo>
                    <a:pt x="195188" y="4966"/>
                  </a:lnTo>
                  <a:lnTo>
                    <a:pt x="244454" y="0"/>
                  </a:lnTo>
                  <a:lnTo>
                    <a:pt x="3206744" y="0"/>
                  </a:lnTo>
                  <a:lnTo>
                    <a:pt x="3254658" y="4740"/>
                  </a:lnTo>
                  <a:lnTo>
                    <a:pt x="3300293" y="18608"/>
                  </a:lnTo>
                  <a:lnTo>
                    <a:pt x="3342368" y="41071"/>
                  </a:lnTo>
                  <a:lnTo>
                    <a:pt x="3379600" y="71599"/>
                  </a:lnTo>
                  <a:lnTo>
                    <a:pt x="3410128" y="108831"/>
                  </a:lnTo>
                  <a:lnTo>
                    <a:pt x="3432591" y="150906"/>
                  </a:lnTo>
                  <a:lnTo>
                    <a:pt x="3446459" y="196541"/>
                  </a:lnTo>
                  <a:lnTo>
                    <a:pt x="3451199" y="244454"/>
                  </a:lnTo>
                  <a:lnTo>
                    <a:pt x="3451199" y="1222244"/>
                  </a:lnTo>
                  <a:lnTo>
                    <a:pt x="3446233" y="1271511"/>
                  </a:lnTo>
                  <a:lnTo>
                    <a:pt x="3431989" y="1317398"/>
                  </a:lnTo>
                  <a:lnTo>
                    <a:pt x="3409450" y="1358922"/>
                  </a:lnTo>
                  <a:lnTo>
                    <a:pt x="3379600" y="1395100"/>
                  </a:lnTo>
                  <a:lnTo>
                    <a:pt x="3343422" y="1424950"/>
                  </a:lnTo>
                  <a:lnTo>
                    <a:pt x="3301898" y="1447489"/>
                  </a:lnTo>
                  <a:lnTo>
                    <a:pt x="3256011" y="1461733"/>
                  </a:lnTo>
                  <a:lnTo>
                    <a:pt x="3206744" y="1466699"/>
                  </a:lnTo>
                  <a:lnTo>
                    <a:pt x="244454" y="1466699"/>
                  </a:lnTo>
                  <a:lnTo>
                    <a:pt x="195188" y="1461733"/>
                  </a:lnTo>
                  <a:lnTo>
                    <a:pt x="149301" y="1447489"/>
                  </a:lnTo>
                  <a:lnTo>
                    <a:pt x="107777" y="1424950"/>
                  </a:lnTo>
                  <a:lnTo>
                    <a:pt x="71599" y="1395100"/>
                  </a:lnTo>
                  <a:lnTo>
                    <a:pt x="41749" y="1358922"/>
                  </a:lnTo>
                  <a:lnTo>
                    <a:pt x="19210" y="1317398"/>
                  </a:lnTo>
                  <a:lnTo>
                    <a:pt x="4966" y="1271511"/>
                  </a:lnTo>
                  <a:lnTo>
                    <a:pt x="0" y="1222244"/>
                  </a:lnTo>
                  <a:lnTo>
                    <a:pt x="0" y="244454"/>
                  </a:lnTo>
                  <a:close/>
                </a:path>
              </a:pathLst>
            </a:custGeom>
            <a:ln w="9524">
              <a:solidFill>
                <a:srgbClr val="233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820162" y="1548237"/>
            <a:ext cx="3295015" cy="1323975"/>
            <a:chOff x="4820162" y="1548237"/>
            <a:chExt cx="3295015" cy="1323975"/>
          </a:xfrm>
        </p:grpSpPr>
        <p:sp>
          <p:nvSpPr>
            <p:cNvPr id="11" name="object 11"/>
            <p:cNvSpPr/>
            <p:nvPr/>
          </p:nvSpPr>
          <p:spPr>
            <a:xfrm>
              <a:off x="4824924" y="1552999"/>
              <a:ext cx="3285490" cy="1314450"/>
            </a:xfrm>
            <a:custGeom>
              <a:avLst/>
              <a:gdLst/>
              <a:ahLst/>
              <a:cxnLst/>
              <a:rect l="l" t="t" r="r" b="b"/>
              <a:pathLst>
                <a:path w="3285490" h="1314450">
                  <a:moveTo>
                    <a:pt x="3066294" y="1313999"/>
                  </a:moveTo>
                  <a:lnTo>
                    <a:pt x="219004" y="1313999"/>
                  </a:lnTo>
                  <a:lnTo>
                    <a:pt x="168788" y="1308215"/>
                  </a:lnTo>
                  <a:lnTo>
                    <a:pt x="122691" y="1291740"/>
                  </a:lnTo>
                  <a:lnTo>
                    <a:pt x="82028" y="1265887"/>
                  </a:lnTo>
                  <a:lnTo>
                    <a:pt x="48112" y="1231971"/>
                  </a:lnTo>
                  <a:lnTo>
                    <a:pt x="22259" y="1191308"/>
                  </a:lnTo>
                  <a:lnTo>
                    <a:pt x="5784" y="1145211"/>
                  </a:lnTo>
                  <a:lnTo>
                    <a:pt x="0" y="1094995"/>
                  </a:lnTo>
                  <a:lnTo>
                    <a:pt x="0" y="219004"/>
                  </a:lnTo>
                  <a:lnTo>
                    <a:pt x="5784" y="168788"/>
                  </a:lnTo>
                  <a:lnTo>
                    <a:pt x="22259" y="122691"/>
                  </a:lnTo>
                  <a:lnTo>
                    <a:pt x="48112" y="82028"/>
                  </a:lnTo>
                  <a:lnTo>
                    <a:pt x="82028" y="48112"/>
                  </a:lnTo>
                  <a:lnTo>
                    <a:pt x="122691" y="22259"/>
                  </a:lnTo>
                  <a:lnTo>
                    <a:pt x="168788" y="5784"/>
                  </a:lnTo>
                  <a:lnTo>
                    <a:pt x="219004" y="0"/>
                  </a:lnTo>
                  <a:lnTo>
                    <a:pt x="3066294" y="0"/>
                  </a:lnTo>
                  <a:lnTo>
                    <a:pt x="3109220" y="4246"/>
                  </a:lnTo>
                  <a:lnTo>
                    <a:pt x="3150104" y="16670"/>
                  </a:lnTo>
                  <a:lnTo>
                    <a:pt x="3187799" y="36795"/>
                  </a:lnTo>
                  <a:lnTo>
                    <a:pt x="3221155" y="64144"/>
                  </a:lnTo>
                  <a:lnTo>
                    <a:pt x="3248504" y="97500"/>
                  </a:lnTo>
                  <a:lnTo>
                    <a:pt x="3268629" y="135195"/>
                  </a:lnTo>
                  <a:lnTo>
                    <a:pt x="3281053" y="176079"/>
                  </a:lnTo>
                  <a:lnTo>
                    <a:pt x="3285299" y="219004"/>
                  </a:lnTo>
                  <a:lnTo>
                    <a:pt x="3285299" y="1094995"/>
                  </a:lnTo>
                  <a:lnTo>
                    <a:pt x="3279515" y="1145211"/>
                  </a:lnTo>
                  <a:lnTo>
                    <a:pt x="3263040" y="1191308"/>
                  </a:lnTo>
                  <a:lnTo>
                    <a:pt x="3237187" y="1231971"/>
                  </a:lnTo>
                  <a:lnTo>
                    <a:pt x="3203271" y="1265887"/>
                  </a:lnTo>
                  <a:lnTo>
                    <a:pt x="3162607" y="1291740"/>
                  </a:lnTo>
                  <a:lnTo>
                    <a:pt x="3116510" y="1308215"/>
                  </a:lnTo>
                  <a:lnTo>
                    <a:pt x="3066294" y="1313999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24924" y="1552999"/>
              <a:ext cx="3285490" cy="1314450"/>
            </a:xfrm>
            <a:custGeom>
              <a:avLst/>
              <a:gdLst/>
              <a:ahLst/>
              <a:cxnLst/>
              <a:rect l="l" t="t" r="r" b="b"/>
              <a:pathLst>
                <a:path w="3285490" h="1314450">
                  <a:moveTo>
                    <a:pt x="0" y="219004"/>
                  </a:moveTo>
                  <a:lnTo>
                    <a:pt x="5784" y="168788"/>
                  </a:lnTo>
                  <a:lnTo>
                    <a:pt x="22259" y="122691"/>
                  </a:lnTo>
                  <a:lnTo>
                    <a:pt x="48112" y="82028"/>
                  </a:lnTo>
                  <a:lnTo>
                    <a:pt x="82028" y="48112"/>
                  </a:lnTo>
                  <a:lnTo>
                    <a:pt x="122691" y="22259"/>
                  </a:lnTo>
                  <a:lnTo>
                    <a:pt x="168788" y="5784"/>
                  </a:lnTo>
                  <a:lnTo>
                    <a:pt x="219004" y="0"/>
                  </a:lnTo>
                  <a:lnTo>
                    <a:pt x="3066294" y="0"/>
                  </a:lnTo>
                  <a:lnTo>
                    <a:pt x="3109220" y="4246"/>
                  </a:lnTo>
                  <a:lnTo>
                    <a:pt x="3150104" y="16670"/>
                  </a:lnTo>
                  <a:lnTo>
                    <a:pt x="3187799" y="36795"/>
                  </a:lnTo>
                  <a:lnTo>
                    <a:pt x="3221155" y="64144"/>
                  </a:lnTo>
                  <a:lnTo>
                    <a:pt x="3248504" y="97500"/>
                  </a:lnTo>
                  <a:lnTo>
                    <a:pt x="3268629" y="135195"/>
                  </a:lnTo>
                  <a:lnTo>
                    <a:pt x="3281053" y="176079"/>
                  </a:lnTo>
                  <a:lnTo>
                    <a:pt x="3285299" y="219004"/>
                  </a:lnTo>
                  <a:lnTo>
                    <a:pt x="3285299" y="1094995"/>
                  </a:lnTo>
                  <a:lnTo>
                    <a:pt x="3279515" y="1145211"/>
                  </a:lnTo>
                  <a:lnTo>
                    <a:pt x="3263040" y="1191308"/>
                  </a:lnTo>
                  <a:lnTo>
                    <a:pt x="3237187" y="1231971"/>
                  </a:lnTo>
                  <a:lnTo>
                    <a:pt x="3203271" y="1265887"/>
                  </a:lnTo>
                  <a:lnTo>
                    <a:pt x="3162608" y="1291740"/>
                  </a:lnTo>
                  <a:lnTo>
                    <a:pt x="3116510" y="1308215"/>
                  </a:lnTo>
                  <a:lnTo>
                    <a:pt x="3066294" y="1313999"/>
                  </a:lnTo>
                  <a:lnTo>
                    <a:pt x="219004" y="1313999"/>
                  </a:lnTo>
                  <a:lnTo>
                    <a:pt x="168788" y="1308215"/>
                  </a:lnTo>
                  <a:lnTo>
                    <a:pt x="122691" y="1291740"/>
                  </a:lnTo>
                  <a:lnTo>
                    <a:pt x="82028" y="1265887"/>
                  </a:lnTo>
                  <a:lnTo>
                    <a:pt x="48112" y="1231971"/>
                  </a:lnTo>
                  <a:lnTo>
                    <a:pt x="22259" y="1191308"/>
                  </a:lnTo>
                  <a:lnTo>
                    <a:pt x="5784" y="1145211"/>
                  </a:lnTo>
                  <a:lnTo>
                    <a:pt x="0" y="1094995"/>
                  </a:lnTo>
                  <a:lnTo>
                    <a:pt x="0" y="219004"/>
                  </a:lnTo>
                  <a:close/>
                </a:path>
              </a:pathLst>
            </a:custGeom>
            <a:ln w="9524">
              <a:solidFill>
                <a:srgbClr val="233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02887" y="1563715"/>
            <a:ext cx="2770505" cy="892175"/>
            <a:chOff x="502887" y="1563715"/>
            <a:chExt cx="2770505" cy="892175"/>
          </a:xfrm>
        </p:grpSpPr>
        <p:sp>
          <p:nvSpPr>
            <p:cNvPr id="14" name="object 14"/>
            <p:cNvSpPr/>
            <p:nvPr/>
          </p:nvSpPr>
          <p:spPr>
            <a:xfrm>
              <a:off x="507650" y="1568478"/>
              <a:ext cx="2760980" cy="882650"/>
            </a:xfrm>
            <a:custGeom>
              <a:avLst/>
              <a:gdLst/>
              <a:ahLst/>
              <a:cxnLst/>
              <a:rect l="l" t="t" r="r" b="b"/>
              <a:pathLst>
                <a:path w="2760979" h="882650">
                  <a:moveTo>
                    <a:pt x="2165576" y="882093"/>
                  </a:moveTo>
                  <a:lnTo>
                    <a:pt x="2119782" y="881379"/>
                  </a:lnTo>
                  <a:lnTo>
                    <a:pt x="2073988" y="879838"/>
                  </a:lnTo>
                  <a:lnTo>
                    <a:pt x="2028193" y="877524"/>
                  </a:lnTo>
                  <a:lnTo>
                    <a:pt x="1982399" y="874487"/>
                  </a:lnTo>
                  <a:lnTo>
                    <a:pt x="1936605" y="870779"/>
                  </a:lnTo>
                  <a:lnTo>
                    <a:pt x="1890811" y="866451"/>
                  </a:lnTo>
                  <a:lnTo>
                    <a:pt x="1845017" y="861555"/>
                  </a:lnTo>
                  <a:lnTo>
                    <a:pt x="1799223" y="856143"/>
                  </a:lnTo>
                  <a:lnTo>
                    <a:pt x="1753429" y="850267"/>
                  </a:lnTo>
                  <a:lnTo>
                    <a:pt x="1707635" y="843978"/>
                  </a:lnTo>
                  <a:lnTo>
                    <a:pt x="1661840" y="837327"/>
                  </a:lnTo>
                  <a:lnTo>
                    <a:pt x="1616046" y="830366"/>
                  </a:lnTo>
                  <a:lnTo>
                    <a:pt x="1570252" y="823148"/>
                  </a:lnTo>
                  <a:lnTo>
                    <a:pt x="1524458" y="815723"/>
                  </a:lnTo>
                  <a:lnTo>
                    <a:pt x="1478664" y="808143"/>
                  </a:lnTo>
                  <a:lnTo>
                    <a:pt x="1432870" y="800459"/>
                  </a:lnTo>
                  <a:lnTo>
                    <a:pt x="1341282" y="784990"/>
                  </a:lnTo>
                  <a:lnTo>
                    <a:pt x="1295487" y="777307"/>
                  </a:lnTo>
                  <a:lnTo>
                    <a:pt x="1249693" y="769727"/>
                  </a:lnTo>
                  <a:lnTo>
                    <a:pt x="1203899" y="762301"/>
                  </a:lnTo>
                  <a:lnTo>
                    <a:pt x="1158105" y="755083"/>
                  </a:lnTo>
                  <a:lnTo>
                    <a:pt x="1112311" y="748122"/>
                  </a:lnTo>
                  <a:lnTo>
                    <a:pt x="1066517" y="741472"/>
                  </a:lnTo>
                  <a:lnTo>
                    <a:pt x="1020723" y="735182"/>
                  </a:lnTo>
                  <a:lnTo>
                    <a:pt x="974928" y="729306"/>
                  </a:lnTo>
                  <a:lnTo>
                    <a:pt x="929134" y="723894"/>
                  </a:lnTo>
                  <a:lnTo>
                    <a:pt x="883340" y="718998"/>
                  </a:lnTo>
                  <a:lnTo>
                    <a:pt x="837546" y="714671"/>
                  </a:lnTo>
                  <a:lnTo>
                    <a:pt x="791752" y="710962"/>
                  </a:lnTo>
                  <a:lnTo>
                    <a:pt x="745958" y="707925"/>
                  </a:lnTo>
                  <a:lnTo>
                    <a:pt x="700164" y="705611"/>
                  </a:lnTo>
                  <a:lnTo>
                    <a:pt x="654370" y="704071"/>
                  </a:lnTo>
                  <a:lnTo>
                    <a:pt x="608575" y="703357"/>
                  </a:lnTo>
                  <a:lnTo>
                    <a:pt x="562781" y="703520"/>
                  </a:lnTo>
                  <a:lnTo>
                    <a:pt x="516987" y="704613"/>
                  </a:lnTo>
                  <a:lnTo>
                    <a:pt x="471193" y="706686"/>
                  </a:lnTo>
                  <a:lnTo>
                    <a:pt x="425399" y="709792"/>
                  </a:lnTo>
                  <a:lnTo>
                    <a:pt x="379605" y="713982"/>
                  </a:lnTo>
                  <a:lnTo>
                    <a:pt x="333811" y="719308"/>
                  </a:lnTo>
                  <a:lnTo>
                    <a:pt x="288017" y="725821"/>
                  </a:lnTo>
                  <a:lnTo>
                    <a:pt x="242222" y="733573"/>
                  </a:lnTo>
                  <a:lnTo>
                    <a:pt x="196428" y="742616"/>
                  </a:lnTo>
                  <a:lnTo>
                    <a:pt x="150634" y="753001"/>
                  </a:lnTo>
                  <a:lnTo>
                    <a:pt x="104840" y="764779"/>
                  </a:lnTo>
                  <a:lnTo>
                    <a:pt x="59046" y="778003"/>
                  </a:lnTo>
                  <a:lnTo>
                    <a:pt x="13252" y="792725"/>
                  </a:lnTo>
                  <a:lnTo>
                    <a:pt x="0" y="89368"/>
                  </a:lnTo>
                  <a:lnTo>
                    <a:pt x="45794" y="74646"/>
                  </a:lnTo>
                  <a:lnTo>
                    <a:pt x="91588" y="61422"/>
                  </a:lnTo>
                  <a:lnTo>
                    <a:pt x="137382" y="49644"/>
                  </a:lnTo>
                  <a:lnTo>
                    <a:pt x="183176" y="39259"/>
                  </a:lnTo>
                  <a:lnTo>
                    <a:pt x="228970" y="30216"/>
                  </a:lnTo>
                  <a:lnTo>
                    <a:pt x="274764" y="22464"/>
                  </a:lnTo>
                  <a:lnTo>
                    <a:pt x="320558" y="15951"/>
                  </a:lnTo>
                  <a:lnTo>
                    <a:pt x="366352" y="10625"/>
                  </a:lnTo>
                  <a:lnTo>
                    <a:pt x="412147" y="6435"/>
                  </a:lnTo>
                  <a:lnTo>
                    <a:pt x="457941" y="3329"/>
                  </a:lnTo>
                  <a:lnTo>
                    <a:pt x="503735" y="1256"/>
                  </a:lnTo>
                  <a:lnTo>
                    <a:pt x="549529" y="163"/>
                  </a:lnTo>
                  <a:lnTo>
                    <a:pt x="595323" y="0"/>
                  </a:lnTo>
                  <a:lnTo>
                    <a:pt x="641117" y="714"/>
                  </a:lnTo>
                  <a:lnTo>
                    <a:pt x="686911" y="2254"/>
                  </a:lnTo>
                  <a:lnTo>
                    <a:pt x="732706" y="4568"/>
                  </a:lnTo>
                  <a:lnTo>
                    <a:pt x="778500" y="7605"/>
                  </a:lnTo>
                  <a:lnTo>
                    <a:pt x="824294" y="11314"/>
                  </a:lnTo>
                  <a:lnTo>
                    <a:pt x="870088" y="15641"/>
                  </a:lnTo>
                  <a:lnTo>
                    <a:pt x="915882" y="20537"/>
                  </a:lnTo>
                  <a:lnTo>
                    <a:pt x="961676" y="25949"/>
                  </a:lnTo>
                  <a:lnTo>
                    <a:pt x="1007470" y="31825"/>
                  </a:lnTo>
                  <a:lnTo>
                    <a:pt x="1053264" y="38114"/>
                  </a:lnTo>
                  <a:lnTo>
                    <a:pt x="1099059" y="44765"/>
                  </a:lnTo>
                  <a:lnTo>
                    <a:pt x="1144853" y="51726"/>
                  </a:lnTo>
                  <a:lnTo>
                    <a:pt x="1190647" y="58944"/>
                  </a:lnTo>
                  <a:lnTo>
                    <a:pt x="1236441" y="66369"/>
                  </a:lnTo>
                  <a:lnTo>
                    <a:pt x="1282235" y="73949"/>
                  </a:lnTo>
                  <a:lnTo>
                    <a:pt x="1328029" y="81633"/>
                  </a:lnTo>
                  <a:lnTo>
                    <a:pt x="1419617" y="97102"/>
                  </a:lnTo>
                  <a:lnTo>
                    <a:pt x="1465412" y="104786"/>
                  </a:lnTo>
                  <a:lnTo>
                    <a:pt x="1511206" y="112366"/>
                  </a:lnTo>
                  <a:lnTo>
                    <a:pt x="1557000" y="119791"/>
                  </a:lnTo>
                  <a:lnTo>
                    <a:pt x="1602794" y="127009"/>
                  </a:lnTo>
                  <a:lnTo>
                    <a:pt x="1648588" y="133970"/>
                  </a:lnTo>
                  <a:lnTo>
                    <a:pt x="1694382" y="140621"/>
                  </a:lnTo>
                  <a:lnTo>
                    <a:pt x="1740176" y="146910"/>
                  </a:lnTo>
                  <a:lnTo>
                    <a:pt x="1785970" y="152786"/>
                  </a:lnTo>
                  <a:lnTo>
                    <a:pt x="1831765" y="158198"/>
                  </a:lnTo>
                  <a:lnTo>
                    <a:pt x="1877559" y="163094"/>
                  </a:lnTo>
                  <a:lnTo>
                    <a:pt x="1923353" y="167421"/>
                  </a:lnTo>
                  <a:lnTo>
                    <a:pt x="1969147" y="171130"/>
                  </a:lnTo>
                  <a:lnTo>
                    <a:pt x="2014941" y="174167"/>
                  </a:lnTo>
                  <a:lnTo>
                    <a:pt x="2060735" y="176481"/>
                  </a:lnTo>
                  <a:lnTo>
                    <a:pt x="2106529" y="178021"/>
                  </a:lnTo>
                  <a:lnTo>
                    <a:pt x="2152323" y="178736"/>
                  </a:lnTo>
                  <a:lnTo>
                    <a:pt x="2198118" y="178572"/>
                  </a:lnTo>
                  <a:lnTo>
                    <a:pt x="2243912" y="177479"/>
                  </a:lnTo>
                  <a:lnTo>
                    <a:pt x="2289706" y="175406"/>
                  </a:lnTo>
                  <a:lnTo>
                    <a:pt x="2335500" y="172300"/>
                  </a:lnTo>
                  <a:lnTo>
                    <a:pt x="2381294" y="168110"/>
                  </a:lnTo>
                  <a:lnTo>
                    <a:pt x="2427088" y="162784"/>
                  </a:lnTo>
                  <a:lnTo>
                    <a:pt x="2472882" y="156271"/>
                  </a:lnTo>
                  <a:lnTo>
                    <a:pt x="2518677" y="148519"/>
                  </a:lnTo>
                  <a:lnTo>
                    <a:pt x="2564471" y="139476"/>
                  </a:lnTo>
                  <a:lnTo>
                    <a:pt x="2610265" y="129091"/>
                  </a:lnTo>
                  <a:lnTo>
                    <a:pt x="2656059" y="117313"/>
                  </a:lnTo>
                  <a:lnTo>
                    <a:pt x="2701853" y="104089"/>
                  </a:lnTo>
                  <a:lnTo>
                    <a:pt x="2747647" y="89368"/>
                  </a:lnTo>
                  <a:lnTo>
                    <a:pt x="2760899" y="792725"/>
                  </a:lnTo>
                  <a:lnTo>
                    <a:pt x="2715105" y="807446"/>
                  </a:lnTo>
                  <a:lnTo>
                    <a:pt x="2669311" y="820670"/>
                  </a:lnTo>
                  <a:lnTo>
                    <a:pt x="2623517" y="832448"/>
                  </a:lnTo>
                  <a:lnTo>
                    <a:pt x="2577723" y="842833"/>
                  </a:lnTo>
                  <a:lnTo>
                    <a:pt x="2531929" y="851876"/>
                  </a:lnTo>
                  <a:lnTo>
                    <a:pt x="2486135" y="859628"/>
                  </a:lnTo>
                  <a:lnTo>
                    <a:pt x="2440341" y="866141"/>
                  </a:lnTo>
                  <a:lnTo>
                    <a:pt x="2394546" y="871467"/>
                  </a:lnTo>
                  <a:lnTo>
                    <a:pt x="2348752" y="875657"/>
                  </a:lnTo>
                  <a:lnTo>
                    <a:pt x="2302958" y="878763"/>
                  </a:lnTo>
                  <a:lnTo>
                    <a:pt x="2257164" y="880836"/>
                  </a:lnTo>
                  <a:lnTo>
                    <a:pt x="2211370" y="881929"/>
                  </a:lnTo>
                  <a:lnTo>
                    <a:pt x="2165576" y="882093"/>
                  </a:lnTo>
                  <a:close/>
                </a:path>
              </a:pathLst>
            </a:custGeom>
            <a:solidFill>
              <a:srgbClr val="0078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7650" y="1568478"/>
              <a:ext cx="2760980" cy="882650"/>
            </a:xfrm>
            <a:custGeom>
              <a:avLst/>
              <a:gdLst/>
              <a:ahLst/>
              <a:cxnLst/>
              <a:rect l="l" t="t" r="r" b="b"/>
              <a:pathLst>
                <a:path w="2760979" h="882650">
                  <a:moveTo>
                    <a:pt x="0" y="89368"/>
                  </a:moveTo>
                  <a:lnTo>
                    <a:pt x="45794" y="74646"/>
                  </a:lnTo>
                  <a:lnTo>
                    <a:pt x="91588" y="61422"/>
                  </a:lnTo>
                  <a:lnTo>
                    <a:pt x="137382" y="49644"/>
                  </a:lnTo>
                  <a:lnTo>
                    <a:pt x="183176" y="39259"/>
                  </a:lnTo>
                  <a:lnTo>
                    <a:pt x="228970" y="30216"/>
                  </a:lnTo>
                  <a:lnTo>
                    <a:pt x="274764" y="22464"/>
                  </a:lnTo>
                  <a:lnTo>
                    <a:pt x="320558" y="15951"/>
                  </a:lnTo>
                  <a:lnTo>
                    <a:pt x="366352" y="10625"/>
                  </a:lnTo>
                  <a:lnTo>
                    <a:pt x="412147" y="6435"/>
                  </a:lnTo>
                  <a:lnTo>
                    <a:pt x="457941" y="3329"/>
                  </a:lnTo>
                  <a:lnTo>
                    <a:pt x="503735" y="1256"/>
                  </a:lnTo>
                  <a:lnTo>
                    <a:pt x="549529" y="163"/>
                  </a:lnTo>
                  <a:lnTo>
                    <a:pt x="595323" y="0"/>
                  </a:lnTo>
                  <a:lnTo>
                    <a:pt x="641117" y="714"/>
                  </a:lnTo>
                  <a:lnTo>
                    <a:pt x="686911" y="2254"/>
                  </a:lnTo>
                  <a:lnTo>
                    <a:pt x="732706" y="4568"/>
                  </a:lnTo>
                  <a:lnTo>
                    <a:pt x="778500" y="7605"/>
                  </a:lnTo>
                  <a:lnTo>
                    <a:pt x="824294" y="11314"/>
                  </a:lnTo>
                  <a:lnTo>
                    <a:pt x="870088" y="15641"/>
                  </a:lnTo>
                  <a:lnTo>
                    <a:pt x="915882" y="20537"/>
                  </a:lnTo>
                  <a:lnTo>
                    <a:pt x="961676" y="25949"/>
                  </a:lnTo>
                  <a:lnTo>
                    <a:pt x="1007470" y="31825"/>
                  </a:lnTo>
                  <a:lnTo>
                    <a:pt x="1053264" y="38114"/>
                  </a:lnTo>
                  <a:lnTo>
                    <a:pt x="1099059" y="44765"/>
                  </a:lnTo>
                  <a:lnTo>
                    <a:pt x="1144853" y="51726"/>
                  </a:lnTo>
                  <a:lnTo>
                    <a:pt x="1190647" y="58944"/>
                  </a:lnTo>
                  <a:lnTo>
                    <a:pt x="1236441" y="66369"/>
                  </a:lnTo>
                  <a:lnTo>
                    <a:pt x="1282235" y="73949"/>
                  </a:lnTo>
                  <a:lnTo>
                    <a:pt x="1328029" y="81633"/>
                  </a:lnTo>
                  <a:lnTo>
                    <a:pt x="1373823" y="89367"/>
                  </a:lnTo>
                  <a:lnTo>
                    <a:pt x="1419617" y="97102"/>
                  </a:lnTo>
                  <a:lnTo>
                    <a:pt x="1465412" y="104786"/>
                  </a:lnTo>
                  <a:lnTo>
                    <a:pt x="1511206" y="112366"/>
                  </a:lnTo>
                  <a:lnTo>
                    <a:pt x="1557000" y="119791"/>
                  </a:lnTo>
                  <a:lnTo>
                    <a:pt x="1602794" y="127009"/>
                  </a:lnTo>
                  <a:lnTo>
                    <a:pt x="1648588" y="133970"/>
                  </a:lnTo>
                  <a:lnTo>
                    <a:pt x="1694382" y="140621"/>
                  </a:lnTo>
                  <a:lnTo>
                    <a:pt x="1740176" y="146910"/>
                  </a:lnTo>
                  <a:lnTo>
                    <a:pt x="1785970" y="152786"/>
                  </a:lnTo>
                  <a:lnTo>
                    <a:pt x="1831765" y="158198"/>
                  </a:lnTo>
                  <a:lnTo>
                    <a:pt x="1877559" y="163094"/>
                  </a:lnTo>
                  <a:lnTo>
                    <a:pt x="1923353" y="167421"/>
                  </a:lnTo>
                  <a:lnTo>
                    <a:pt x="1969147" y="171130"/>
                  </a:lnTo>
                  <a:lnTo>
                    <a:pt x="2014941" y="174167"/>
                  </a:lnTo>
                  <a:lnTo>
                    <a:pt x="2060735" y="176481"/>
                  </a:lnTo>
                  <a:lnTo>
                    <a:pt x="2106529" y="178021"/>
                  </a:lnTo>
                  <a:lnTo>
                    <a:pt x="2152323" y="178736"/>
                  </a:lnTo>
                  <a:lnTo>
                    <a:pt x="2198118" y="178572"/>
                  </a:lnTo>
                  <a:lnTo>
                    <a:pt x="2243912" y="177479"/>
                  </a:lnTo>
                  <a:lnTo>
                    <a:pt x="2289706" y="175406"/>
                  </a:lnTo>
                  <a:lnTo>
                    <a:pt x="2335500" y="172300"/>
                  </a:lnTo>
                  <a:lnTo>
                    <a:pt x="2381294" y="168110"/>
                  </a:lnTo>
                  <a:lnTo>
                    <a:pt x="2427088" y="162784"/>
                  </a:lnTo>
                  <a:lnTo>
                    <a:pt x="2472882" y="156271"/>
                  </a:lnTo>
                  <a:lnTo>
                    <a:pt x="2518677" y="148519"/>
                  </a:lnTo>
                  <a:lnTo>
                    <a:pt x="2564471" y="139476"/>
                  </a:lnTo>
                  <a:lnTo>
                    <a:pt x="2610265" y="129091"/>
                  </a:lnTo>
                  <a:lnTo>
                    <a:pt x="2656059" y="117313"/>
                  </a:lnTo>
                  <a:lnTo>
                    <a:pt x="2701853" y="104089"/>
                  </a:lnTo>
                  <a:lnTo>
                    <a:pt x="2747647" y="89368"/>
                  </a:lnTo>
                  <a:lnTo>
                    <a:pt x="2760899" y="792725"/>
                  </a:lnTo>
                  <a:lnTo>
                    <a:pt x="2715105" y="807446"/>
                  </a:lnTo>
                  <a:lnTo>
                    <a:pt x="2669311" y="820670"/>
                  </a:lnTo>
                  <a:lnTo>
                    <a:pt x="2623517" y="832448"/>
                  </a:lnTo>
                  <a:lnTo>
                    <a:pt x="2577723" y="842833"/>
                  </a:lnTo>
                  <a:lnTo>
                    <a:pt x="2531929" y="851876"/>
                  </a:lnTo>
                  <a:lnTo>
                    <a:pt x="2486135" y="859628"/>
                  </a:lnTo>
                  <a:lnTo>
                    <a:pt x="2440341" y="866141"/>
                  </a:lnTo>
                  <a:lnTo>
                    <a:pt x="2394546" y="871467"/>
                  </a:lnTo>
                  <a:lnTo>
                    <a:pt x="2348752" y="875657"/>
                  </a:lnTo>
                  <a:lnTo>
                    <a:pt x="2302958" y="878763"/>
                  </a:lnTo>
                  <a:lnTo>
                    <a:pt x="2257164" y="880836"/>
                  </a:lnTo>
                  <a:lnTo>
                    <a:pt x="2211370" y="881929"/>
                  </a:lnTo>
                  <a:lnTo>
                    <a:pt x="2165576" y="882093"/>
                  </a:lnTo>
                  <a:lnTo>
                    <a:pt x="2119782" y="881379"/>
                  </a:lnTo>
                  <a:lnTo>
                    <a:pt x="2073988" y="879838"/>
                  </a:lnTo>
                  <a:lnTo>
                    <a:pt x="2028193" y="877524"/>
                  </a:lnTo>
                  <a:lnTo>
                    <a:pt x="1982399" y="874487"/>
                  </a:lnTo>
                  <a:lnTo>
                    <a:pt x="1936605" y="870779"/>
                  </a:lnTo>
                  <a:lnTo>
                    <a:pt x="1890811" y="866451"/>
                  </a:lnTo>
                  <a:lnTo>
                    <a:pt x="1845017" y="861555"/>
                  </a:lnTo>
                  <a:lnTo>
                    <a:pt x="1799223" y="856143"/>
                  </a:lnTo>
                  <a:lnTo>
                    <a:pt x="1753429" y="850267"/>
                  </a:lnTo>
                  <a:lnTo>
                    <a:pt x="1707635" y="843978"/>
                  </a:lnTo>
                  <a:lnTo>
                    <a:pt x="1661840" y="837327"/>
                  </a:lnTo>
                  <a:lnTo>
                    <a:pt x="1616046" y="830366"/>
                  </a:lnTo>
                  <a:lnTo>
                    <a:pt x="1570252" y="823148"/>
                  </a:lnTo>
                  <a:lnTo>
                    <a:pt x="1524458" y="815723"/>
                  </a:lnTo>
                  <a:lnTo>
                    <a:pt x="1478664" y="808143"/>
                  </a:lnTo>
                  <a:lnTo>
                    <a:pt x="1432870" y="800459"/>
                  </a:lnTo>
                  <a:lnTo>
                    <a:pt x="1387076" y="792725"/>
                  </a:lnTo>
                  <a:lnTo>
                    <a:pt x="1341282" y="784990"/>
                  </a:lnTo>
                  <a:lnTo>
                    <a:pt x="1295487" y="777307"/>
                  </a:lnTo>
                  <a:lnTo>
                    <a:pt x="1249693" y="769727"/>
                  </a:lnTo>
                  <a:lnTo>
                    <a:pt x="1203899" y="762301"/>
                  </a:lnTo>
                  <a:lnTo>
                    <a:pt x="1158105" y="755083"/>
                  </a:lnTo>
                  <a:lnTo>
                    <a:pt x="1112311" y="748122"/>
                  </a:lnTo>
                  <a:lnTo>
                    <a:pt x="1066517" y="741472"/>
                  </a:lnTo>
                  <a:lnTo>
                    <a:pt x="1020723" y="735182"/>
                  </a:lnTo>
                  <a:lnTo>
                    <a:pt x="974928" y="729306"/>
                  </a:lnTo>
                  <a:lnTo>
                    <a:pt x="929134" y="723894"/>
                  </a:lnTo>
                  <a:lnTo>
                    <a:pt x="883340" y="718998"/>
                  </a:lnTo>
                  <a:lnTo>
                    <a:pt x="837546" y="714671"/>
                  </a:lnTo>
                  <a:lnTo>
                    <a:pt x="791752" y="710962"/>
                  </a:lnTo>
                  <a:lnTo>
                    <a:pt x="745958" y="707925"/>
                  </a:lnTo>
                  <a:lnTo>
                    <a:pt x="700164" y="705611"/>
                  </a:lnTo>
                  <a:lnTo>
                    <a:pt x="654370" y="704071"/>
                  </a:lnTo>
                  <a:lnTo>
                    <a:pt x="608575" y="703357"/>
                  </a:lnTo>
                  <a:lnTo>
                    <a:pt x="562781" y="703520"/>
                  </a:lnTo>
                  <a:lnTo>
                    <a:pt x="516987" y="704613"/>
                  </a:lnTo>
                  <a:lnTo>
                    <a:pt x="471193" y="706686"/>
                  </a:lnTo>
                  <a:lnTo>
                    <a:pt x="425399" y="709792"/>
                  </a:lnTo>
                  <a:lnTo>
                    <a:pt x="379605" y="713982"/>
                  </a:lnTo>
                  <a:lnTo>
                    <a:pt x="333811" y="719308"/>
                  </a:lnTo>
                  <a:lnTo>
                    <a:pt x="288017" y="725821"/>
                  </a:lnTo>
                  <a:lnTo>
                    <a:pt x="242222" y="733573"/>
                  </a:lnTo>
                  <a:lnTo>
                    <a:pt x="196428" y="742616"/>
                  </a:lnTo>
                  <a:lnTo>
                    <a:pt x="150634" y="753001"/>
                  </a:lnTo>
                  <a:lnTo>
                    <a:pt x="104840" y="764779"/>
                  </a:lnTo>
                  <a:lnTo>
                    <a:pt x="59046" y="778003"/>
                  </a:lnTo>
                  <a:lnTo>
                    <a:pt x="13252" y="792725"/>
                  </a:lnTo>
                  <a:lnTo>
                    <a:pt x="0" y="89368"/>
                  </a:lnTo>
                  <a:close/>
                </a:path>
              </a:pathLst>
            </a:custGeom>
            <a:ln w="9524">
              <a:solidFill>
                <a:srgbClr val="0078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530003" y="48042"/>
            <a:ext cx="4862195" cy="1205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750" spc="-385" dirty="0">
                <a:solidFill>
                  <a:srgbClr val="233944"/>
                </a:solidFill>
              </a:rPr>
              <a:t>Conclusion</a:t>
            </a:r>
            <a:endParaRPr sz="7750"/>
          </a:p>
        </p:txBody>
      </p:sp>
      <p:sp>
        <p:nvSpPr>
          <p:cNvPr id="17" name="object 17"/>
          <p:cNvSpPr txBox="1"/>
          <p:nvPr/>
        </p:nvSpPr>
        <p:spPr>
          <a:xfrm>
            <a:off x="4783875" y="1241295"/>
            <a:ext cx="16059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233944"/>
                </a:solidFill>
                <a:latin typeface="Calibri"/>
                <a:cs typeface="Calibri"/>
              </a:rPr>
              <a:t>Pistes</a:t>
            </a:r>
            <a:r>
              <a:rPr sz="1300" b="1" spc="-1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33944"/>
                </a:solidFill>
                <a:latin typeface="Calibri"/>
                <a:cs typeface="Calibri"/>
              </a:rPr>
              <a:t>d’améliorations</a:t>
            </a:r>
            <a:r>
              <a:rPr sz="1300" b="1" spc="-1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233944"/>
                </a:solidFill>
                <a:latin typeface="Calibri"/>
                <a:cs typeface="Calibri"/>
              </a:rPr>
              <a:t>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8155" y="1597404"/>
            <a:ext cx="2969895" cy="1182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marR="5080" indent="-313055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Nous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pouvons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augmenter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nombre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variables,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prenant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compte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catégories achetées.</a:t>
            </a:r>
            <a:endParaRPr sz="1100">
              <a:latin typeface="Calibri"/>
              <a:cs typeface="Calibri"/>
            </a:endParaRPr>
          </a:p>
          <a:p>
            <a:pPr marL="320040" marR="113664" indent="-307975" algn="just">
              <a:lnSpc>
                <a:spcPct val="114999"/>
              </a:lnSpc>
              <a:buFont typeface="Arial MT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calculer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panier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moyen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par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commande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afin 	d’avoir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une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plus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représentative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par 	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commandes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7025" y="4610625"/>
            <a:ext cx="324949" cy="3249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075" y="4457400"/>
            <a:ext cx="814075" cy="47817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638050" y="2705770"/>
            <a:ext cx="3300729" cy="1731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233944"/>
                </a:solidFill>
                <a:latin typeface="Calibri"/>
                <a:cs typeface="Calibri"/>
              </a:rPr>
              <a:t>Proposition</a:t>
            </a:r>
            <a:r>
              <a:rPr sz="1300" b="1" spc="-30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33944"/>
                </a:solidFill>
                <a:latin typeface="Calibri"/>
                <a:cs typeface="Calibri"/>
              </a:rPr>
              <a:t>marketing</a:t>
            </a:r>
            <a:r>
              <a:rPr sz="1300" b="1" spc="-25" dirty="0">
                <a:solidFill>
                  <a:srgbClr val="233944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233944"/>
                </a:solidFill>
                <a:latin typeface="Calibri"/>
                <a:cs typeface="Calibri"/>
              </a:rPr>
              <a:t>:</a:t>
            </a:r>
            <a:endParaRPr sz="1300" dirty="0">
              <a:latin typeface="Calibri"/>
              <a:cs typeface="Calibri"/>
            </a:endParaRPr>
          </a:p>
          <a:p>
            <a:pPr marL="469900" marR="5080" indent="-313055">
              <a:lnSpc>
                <a:spcPct val="114999"/>
              </a:lnSpc>
              <a:spcBef>
                <a:spcPts val="1245"/>
              </a:spcBef>
              <a:buFont typeface="Arial MT"/>
              <a:buChar char="●"/>
              <a:tabLst>
                <a:tab pos="469900" algn="l"/>
              </a:tabLst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Envoyer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bon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réduction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sur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prochaine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commande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aux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nouveaux</a:t>
            </a:r>
            <a:r>
              <a:rPr sz="11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clients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10%)</a:t>
            </a:r>
            <a:r>
              <a:rPr sz="1100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clients satisfaits</a:t>
            </a:r>
            <a:r>
              <a:rPr sz="11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à</a:t>
            </a:r>
            <a:r>
              <a:rPr sz="11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relancer</a:t>
            </a:r>
            <a:r>
              <a:rPr sz="11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rapidement</a:t>
            </a:r>
            <a:r>
              <a:rPr sz="11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(20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100" dirty="0">
              <a:latin typeface="Calibri"/>
              <a:cs typeface="Calibri"/>
            </a:endParaRPr>
          </a:p>
          <a:p>
            <a:pPr marL="469900" marR="381635" indent="-313055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Proposer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une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réduction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sur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catégories achetées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plus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souvent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aux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clients</a:t>
            </a: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fidèles</a:t>
            </a:r>
            <a:endParaRPr sz="1100" dirty="0">
              <a:latin typeface="Calibri"/>
              <a:cs typeface="Calibri"/>
            </a:endParaRPr>
          </a:p>
          <a:p>
            <a:pPr marL="469900" marR="241300" indent="-313055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Proposer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produit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équivalent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frais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 de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livraison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offerts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aux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clients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insatisfaits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1124" y="1201470"/>
            <a:ext cx="19888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0786B"/>
                </a:solidFill>
                <a:latin typeface="Calibri"/>
                <a:cs typeface="Calibri"/>
              </a:rPr>
              <a:t>Proposition</a:t>
            </a:r>
            <a:r>
              <a:rPr sz="1300" b="1" spc="-35" dirty="0">
                <a:solidFill>
                  <a:srgbClr val="00786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786B"/>
                </a:solidFill>
                <a:latin typeface="Calibri"/>
                <a:cs typeface="Calibri"/>
              </a:rPr>
              <a:t>à</a:t>
            </a:r>
            <a:r>
              <a:rPr sz="1300" b="1" spc="-35" dirty="0">
                <a:solidFill>
                  <a:srgbClr val="00786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786B"/>
                </a:solidFill>
                <a:latin typeface="Calibri"/>
                <a:cs typeface="Calibri"/>
              </a:rPr>
              <a:t>faire</a:t>
            </a:r>
            <a:r>
              <a:rPr sz="1300" b="1" spc="-30" dirty="0">
                <a:solidFill>
                  <a:srgbClr val="00786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786B"/>
                </a:solidFill>
                <a:latin typeface="Calibri"/>
                <a:cs typeface="Calibri"/>
              </a:rPr>
              <a:t>au</a:t>
            </a:r>
            <a:r>
              <a:rPr sz="1300" b="1" spc="-35" dirty="0">
                <a:solidFill>
                  <a:srgbClr val="00786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0786B"/>
                </a:solidFill>
                <a:latin typeface="Calibri"/>
                <a:cs typeface="Calibri"/>
              </a:rPr>
              <a:t>client</a:t>
            </a:r>
            <a:r>
              <a:rPr sz="1300" b="1" spc="-30" dirty="0">
                <a:solidFill>
                  <a:srgbClr val="00786B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00786B"/>
                </a:solidFill>
                <a:latin typeface="Calibri"/>
                <a:cs typeface="Calibri"/>
              </a:rPr>
              <a:t>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6850" y="1735887"/>
            <a:ext cx="1651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D9D9D9"/>
                </a:solidFill>
                <a:latin typeface="MS PGothic"/>
                <a:cs typeface="MS PGothic"/>
              </a:rPr>
              <a:t>★</a:t>
            </a:r>
            <a:endParaRPr sz="1100">
              <a:latin typeface="MS PGothic"/>
              <a:cs typeface="MS P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6850" y="1735887"/>
            <a:ext cx="26181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175" marR="5080" indent="3111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Segmentation</a:t>
            </a:r>
            <a:r>
              <a:rPr sz="1100" spc="-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avec</a:t>
            </a:r>
            <a:r>
              <a:rPr sz="1100" spc="-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le</a:t>
            </a:r>
            <a:r>
              <a:rPr sz="1100" spc="-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modèle 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K-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means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à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l’aide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d’une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ACP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basée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sur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5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critères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383540" algn="l"/>
              </a:tabLst>
            </a:pPr>
            <a:r>
              <a:rPr sz="1100" spc="-50" dirty="0">
                <a:solidFill>
                  <a:srgbClr val="D9D9D9"/>
                </a:solidFill>
                <a:latin typeface="MS PGothic"/>
                <a:cs typeface="MS PGothic"/>
              </a:rPr>
              <a:t>★</a:t>
            </a:r>
            <a:r>
              <a:rPr sz="1100" dirty="0">
                <a:solidFill>
                  <a:srgbClr val="D9D9D9"/>
                </a:solidFill>
                <a:latin typeface="MS PGothic"/>
                <a:cs typeface="MS PGothic"/>
              </a:rPr>
              <a:t>	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Actualisation</a:t>
            </a:r>
            <a:r>
              <a:rPr sz="1100" spc="-2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D9D9D9"/>
                </a:solidFill>
                <a:latin typeface="Calibri"/>
                <a:cs typeface="Calibri"/>
              </a:rPr>
              <a:t>bimensuelle</a:t>
            </a:r>
            <a:r>
              <a:rPr sz="1100" b="1" spc="204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D9D9D9"/>
                </a:solidFill>
                <a:latin typeface="Calibri"/>
                <a:cs typeface="Calibri"/>
              </a:rPr>
              <a:t>du</a:t>
            </a:r>
            <a:r>
              <a:rPr sz="1100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D9D9D9"/>
                </a:solidFill>
                <a:latin typeface="Calibri"/>
                <a:cs typeface="Calibri"/>
              </a:rPr>
              <a:t>modèle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63E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144135"/>
            <a:chOff x="0" y="0"/>
            <a:chExt cx="9144000" cy="5144135"/>
          </a:xfrm>
        </p:grpSpPr>
        <p:sp>
          <p:nvSpPr>
            <p:cNvPr id="4" name="object 4"/>
            <p:cNvSpPr/>
            <p:nvPr/>
          </p:nvSpPr>
          <p:spPr>
            <a:xfrm>
              <a:off x="30" y="2824500"/>
              <a:ext cx="7370445" cy="2319020"/>
            </a:xfrm>
            <a:custGeom>
              <a:avLst/>
              <a:gdLst/>
              <a:ahLst/>
              <a:cxnLst/>
              <a:rect l="l" t="t" r="r" b="b"/>
              <a:pathLst>
                <a:path w="7370445" h="2319020">
                  <a:moveTo>
                    <a:pt x="7370399" y="2318999"/>
                  </a:moveTo>
                  <a:lnTo>
                    <a:pt x="0" y="2318999"/>
                  </a:lnTo>
                  <a:lnTo>
                    <a:pt x="0" y="0"/>
                  </a:lnTo>
                  <a:lnTo>
                    <a:pt x="7370399" y="2318999"/>
                  </a:lnTo>
                  <a:close/>
                </a:path>
              </a:pathLst>
            </a:custGeom>
            <a:solidFill>
              <a:srgbClr val="0078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2599" y="1550700"/>
              <a:ext cx="5561965" cy="3592829"/>
            </a:xfrm>
            <a:custGeom>
              <a:avLst/>
              <a:gdLst/>
              <a:ahLst/>
              <a:cxnLst/>
              <a:rect l="l" t="t" r="r" b="b"/>
              <a:pathLst>
                <a:path w="5561965" h="3592829">
                  <a:moveTo>
                    <a:pt x="5561399" y="3592799"/>
                  </a:moveTo>
                  <a:lnTo>
                    <a:pt x="0" y="3592799"/>
                  </a:lnTo>
                  <a:lnTo>
                    <a:pt x="5561399" y="0"/>
                  </a:lnTo>
                  <a:lnTo>
                    <a:pt x="5561399" y="3592799"/>
                  </a:lnTo>
                  <a:close/>
                </a:path>
              </a:pathLst>
            </a:custGeom>
            <a:solidFill>
              <a:srgbClr val="C4A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58904" y="0"/>
              <a:ext cx="4085590" cy="2052955"/>
            </a:xfrm>
            <a:custGeom>
              <a:avLst/>
              <a:gdLst/>
              <a:ahLst/>
              <a:cxnLst/>
              <a:rect l="l" t="t" r="r" b="b"/>
              <a:pathLst>
                <a:path w="4085590" h="2052955">
                  <a:moveTo>
                    <a:pt x="4085100" y="2052599"/>
                  </a:moveTo>
                  <a:lnTo>
                    <a:pt x="0" y="0"/>
                  </a:lnTo>
                  <a:lnTo>
                    <a:pt x="4085100" y="0"/>
                  </a:lnTo>
                  <a:lnTo>
                    <a:pt x="4085100" y="2052599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3263" y="596"/>
              <a:ext cx="8737600" cy="4937125"/>
            </a:xfrm>
            <a:custGeom>
              <a:avLst/>
              <a:gdLst/>
              <a:ahLst/>
              <a:cxnLst/>
              <a:rect l="l" t="t" r="r" b="b"/>
              <a:pathLst>
                <a:path w="8737600" h="4937125">
                  <a:moveTo>
                    <a:pt x="8737511" y="205663"/>
                  </a:moveTo>
                  <a:lnTo>
                    <a:pt x="1987232" y="205663"/>
                  </a:lnTo>
                  <a:lnTo>
                    <a:pt x="2302294" y="0"/>
                  </a:lnTo>
                  <a:lnTo>
                    <a:pt x="2160587" y="0"/>
                  </a:lnTo>
                  <a:lnTo>
                    <a:pt x="1845525" y="205663"/>
                  </a:lnTo>
                  <a:lnTo>
                    <a:pt x="1732800" y="205663"/>
                  </a:lnTo>
                  <a:lnTo>
                    <a:pt x="2047862" y="0"/>
                  </a:lnTo>
                  <a:lnTo>
                    <a:pt x="1906155" y="0"/>
                  </a:lnTo>
                  <a:lnTo>
                    <a:pt x="1591094" y="205663"/>
                  </a:lnTo>
                  <a:lnTo>
                    <a:pt x="1478368" y="205663"/>
                  </a:lnTo>
                  <a:lnTo>
                    <a:pt x="1793430" y="0"/>
                  </a:lnTo>
                  <a:lnTo>
                    <a:pt x="1651723" y="0"/>
                  </a:lnTo>
                  <a:lnTo>
                    <a:pt x="1336662" y="205663"/>
                  </a:lnTo>
                  <a:lnTo>
                    <a:pt x="0" y="205663"/>
                  </a:lnTo>
                  <a:lnTo>
                    <a:pt x="0" y="4936655"/>
                  </a:lnTo>
                  <a:lnTo>
                    <a:pt x="8737511" y="4936655"/>
                  </a:lnTo>
                  <a:lnTo>
                    <a:pt x="8737511" y="2056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5383" y="596"/>
              <a:ext cx="2250440" cy="1044575"/>
            </a:xfrm>
            <a:custGeom>
              <a:avLst/>
              <a:gdLst/>
              <a:ahLst/>
              <a:cxnLst/>
              <a:rect l="l" t="t" r="r" b="b"/>
              <a:pathLst>
                <a:path w="2250440" h="1044575">
                  <a:moveTo>
                    <a:pt x="1741500" y="0"/>
                  </a:moveTo>
                  <a:lnTo>
                    <a:pt x="1599806" y="0"/>
                  </a:lnTo>
                  <a:lnTo>
                    <a:pt x="0" y="1044308"/>
                  </a:lnTo>
                  <a:lnTo>
                    <a:pt x="141706" y="1044308"/>
                  </a:lnTo>
                  <a:lnTo>
                    <a:pt x="1741500" y="0"/>
                  </a:lnTo>
                  <a:close/>
                </a:path>
                <a:path w="2250440" h="1044575">
                  <a:moveTo>
                    <a:pt x="1995932" y="0"/>
                  </a:moveTo>
                  <a:lnTo>
                    <a:pt x="1854225" y="0"/>
                  </a:lnTo>
                  <a:lnTo>
                    <a:pt x="254431" y="1044308"/>
                  </a:lnTo>
                  <a:lnTo>
                    <a:pt x="396138" y="1044308"/>
                  </a:lnTo>
                  <a:lnTo>
                    <a:pt x="1995932" y="0"/>
                  </a:lnTo>
                  <a:close/>
                </a:path>
                <a:path w="2250440" h="1044575">
                  <a:moveTo>
                    <a:pt x="2250363" y="0"/>
                  </a:moveTo>
                  <a:lnTo>
                    <a:pt x="2108657" y="0"/>
                  </a:lnTo>
                  <a:lnTo>
                    <a:pt x="508863" y="1044308"/>
                  </a:lnTo>
                  <a:lnTo>
                    <a:pt x="650570" y="1044308"/>
                  </a:lnTo>
                  <a:lnTo>
                    <a:pt x="2250363" y="0"/>
                  </a:lnTo>
                  <a:close/>
                </a:path>
              </a:pathLst>
            </a:custGeom>
            <a:solidFill>
              <a:srgbClr val="163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57466" y="5092"/>
              <a:ext cx="1851660" cy="752475"/>
            </a:xfrm>
            <a:custGeom>
              <a:avLst/>
              <a:gdLst/>
              <a:ahLst/>
              <a:cxnLst/>
              <a:rect l="l" t="t" r="r" b="b"/>
              <a:pathLst>
                <a:path w="1851659" h="752475">
                  <a:moveTo>
                    <a:pt x="1249235" y="0"/>
                  </a:moveTo>
                  <a:lnTo>
                    <a:pt x="1188504" y="0"/>
                  </a:lnTo>
                  <a:lnTo>
                    <a:pt x="0" y="752106"/>
                  </a:lnTo>
                  <a:lnTo>
                    <a:pt x="60731" y="752106"/>
                  </a:lnTo>
                  <a:lnTo>
                    <a:pt x="1249235" y="0"/>
                  </a:lnTo>
                  <a:close/>
                </a:path>
                <a:path w="1851659" h="752475">
                  <a:moveTo>
                    <a:pt x="1550263" y="0"/>
                  </a:moveTo>
                  <a:lnTo>
                    <a:pt x="1489532" y="0"/>
                  </a:lnTo>
                  <a:lnTo>
                    <a:pt x="301015" y="752106"/>
                  </a:lnTo>
                  <a:lnTo>
                    <a:pt x="361746" y="752106"/>
                  </a:lnTo>
                  <a:lnTo>
                    <a:pt x="1550263" y="0"/>
                  </a:lnTo>
                  <a:close/>
                </a:path>
                <a:path w="1851659" h="752475">
                  <a:moveTo>
                    <a:pt x="1851279" y="0"/>
                  </a:moveTo>
                  <a:lnTo>
                    <a:pt x="1790547" y="0"/>
                  </a:lnTo>
                  <a:lnTo>
                    <a:pt x="602030" y="752106"/>
                  </a:lnTo>
                  <a:lnTo>
                    <a:pt x="662762" y="752106"/>
                  </a:lnTo>
                  <a:lnTo>
                    <a:pt x="1851279" y="0"/>
                  </a:lnTo>
                  <a:close/>
                </a:path>
              </a:pathLst>
            </a:custGeom>
            <a:solidFill>
              <a:srgbClr val="233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53022" y="4217860"/>
              <a:ext cx="2389505" cy="925830"/>
            </a:xfrm>
            <a:custGeom>
              <a:avLst/>
              <a:gdLst/>
              <a:ahLst/>
              <a:cxnLst/>
              <a:rect l="l" t="t" r="r" b="b"/>
              <a:pathLst>
                <a:path w="2389504" h="925829">
                  <a:moveTo>
                    <a:pt x="1612138" y="0"/>
                  </a:moveTo>
                  <a:lnTo>
                    <a:pt x="1462887" y="0"/>
                  </a:lnTo>
                  <a:lnTo>
                    <a:pt x="0" y="925728"/>
                  </a:lnTo>
                  <a:lnTo>
                    <a:pt x="149250" y="925728"/>
                  </a:lnTo>
                  <a:lnTo>
                    <a:pt x="1612138" y="0"/>
                  </a:lnTo>
                  <a:close/>
                </a:path>
                <a:path w="2389504" h="925829">
                  <a:moveTo>
                    <a:pt x="2000605" y="0"/>
                  </a:moveTo>
                  <a:lnTo>
                    <a:pt x="1851355" y="0"/>
                  </a:lnTo>
                  <a:lnTo>
                    <a:pt x="388467" y="925728"/>
                  </a:lnTo>
                  <a:lnTo>
                    <a:pt x="537718" y="925728"/>
                  </a:lnTo>
                  <a:lnTo>
                    <a:pt x="2000605" y="0"/>
                  </a:lnTo>
                  <a:close/>
                </a:path>
                <a:path w="2389504" h="925829">
                  <a:moveTo>
                    <a:pt x="2389073" y="0"/>
                  </a:moveTo>
                  <a:lnTo>
                    <a:pt x="2239822" y="0"/>
                  </a:lnTo>
                  <a:lnTo>
                    <a:pt x="776935" y="925728"/>
                  </a:lnTo>
                  <a:lnTo>
                    <a:pt x="926185" y="925728"/>
                  </a:lnTo>
                  <a:lnTo>
                    <a:pt x="23890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9148" y="4055655"/>
              <a:ext cx="2795905" cy="1083310"/>
            </a:xfrm>
            <a:custGeom>
              <a:avLst/>
              <a:gdLst/>
              <a:ahLst/>
              <a:cxnLst/>
              <a:rect l="l" t="t" r="r" b="b"/>
              <a:pathLst>
                <a:path w="2795905" h="1083310">
                  <a:moveTo>
                    <a:pt x="1886331" y="0"/>
                  </a:moveTo>
                  <a:lnTo>
                    <a:pt x="1711883" y="0"/>
                  </a:lnTo>
                  <a:lnTo>
                    <a:pt x="0" y="1083310"/>
                  </a:lnTo>
                  <a:lnTo>
                    <a:pt x="174447" y="1083310"/>
                  </a:lnTo>
                  <a:lnTo>
                    <a:pt x="1886331" y="0"/>
                  </a:lnTo>
                  <a:close/>
                </a:path>
                <a:path w="2795905" h="1083310">
                  <a:moveTo>
                    <a:pt x="2340876" y="0"/>
                  </a:moveTo>
                  <a:lnTo>
                    <a:pt x="2166416" y="0"/>
                  </a:lnTo>
                  <a:lnTo>
                    <a:pt x="454533" y="1083310"/>
                  </a:lnTo>
                  <a:lnTo>
                    <a:pt x="628980" y="1083310"/>
                  </a:lnTo>
                  <a:lnTo>
                    <a:pt x="2340876" y="0"/>
                  </a:lnTo>
                  <a:close/>
                </a:path>
                <a:path w="2795905" h="1083310">
                  <a:moveTo>
                    <a:pt x="2795409" y="0"/>
                  </a:moveTo>
                  <a:lnTo>
                    <a:pt x="2620949" y="0"/>
                  </a:lnTo>
                  <a:lnTo>
                    <a:pt x="909066" y="1083310"/>
                  </a:lnTo>
                  <a:lnTo>
                    <a:pt x="1083525" y="1083310"/>
                  </a:lnTo>
                  <a:lnTo>
                    <a:pt x="2795409" y="0"/>
                  </a:lnTo>
                  <a:close/>
                </a:path>
              </a:pathLst>
            </a:custGeom>
            <a:solidFill>
              <a:srgbClr val="0078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39449" y="1448819"/>
            <a:ext cx="12001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45" dirty="0">
                <a:solidFill>
                  <a:srgbClr val="AE7A51"/>
                </a:solidFill>
                <a:latin typeface="Lucida Sans Unicode"/>
                <a:cs typeface="Lucida Sans Unicode"/>
              </a:rPr>
              <a:t>Merci</a:t>
            </a:r>
            <a:endParaRPr sz="3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13595" y="2636655"/>
            <a:ext cx="1797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AE7A51"/>
                </a:solidFill>
                <a:latin typeface="Calibri"/>
                <a:cs typeface="Calibri"/>
              </a:rPr>
              <a:t>Questions</a:t>
            </a:r>
            <a:r>
              <a:rPr sz="1600" spc="-35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7A51"/>
                </a:solidFill>
                <a:latin typeface="Calibri"/>
                <a:cs typeface="Calibri"/>
              </a:rPr>
              <a:t>-</a:t>
            </a:r>
            <a:r>
              <a:rPr sz="1600" spc="-30" dirty="0">
                <a:solidFill>
                  <a:srgbClr val="AE7A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7A51"/>
                </a:solidFill>
                <a:latin typeface="Calibri"/>
                <a:cs typeface="Calibri"/>
              </a:rPr>
              <a:t>Réponses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857</Words>
  <Application>Microsoft Office PowerPoint</Application>
  <PresentationFormat>Affichage à l'écran (16:9)</PresentationFormat>
  <Paragraphs>124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6" baseType="lpstr">
      <vt:lpstr>MS PGothic</vt:lpstr>
      <vt:lpstr>Arial</vt:lpstr>
      <vt:lpstr>Arial MT</vt:lpstr>
      <vt:lpstr>Calibri</vt:lpstr>
      <vt:lpstr>Georgia</vt:lpstr>
      <vt:lpstr>Lucida Sans Unicode</vt:lpstr>
      <vt:lpstr>Roboto</vt:lpstr>
      <vt:lpstr>Tahoma</vt:lpstr>
      <vt:lpstr>Office Theme</vt:lpstr>
      <vt:lpstr>Data scientist Projet 5</vt:lpstr>
      <vt:lpstr>Sommaire</vt:lpstr>
      <vt:lpstr>Problématique</vt:lpstr>
      <vt:lpstr>Préparation des données</vt:lpstr>
      <vt:lpstr>Analyse de la récence et la fréquence</vt:lpstr>
      <vt:lpstr>Analyse monétaire et analyse de la satisfaction</vt:lpstr>
      <vt:lpstr>Processus pour la segmentation</vt:lpstr>
      <vt:lpstr>Clustering hiérarchique sur les variables RFM</vt:lpstr>
      <vt:lpstr>Clustering à densité sur les variables RFM</vt:lpstr>
      <vt:lpstr>Clustering non supervisé sur les variables RFM</vt:lpstr>
      <vt:lpstr>Visualisation et interprétation des clusters du Kmeans</vt:lpstr>
      <vt:lpstr>Segmentation K-means avec 4 variables</vt:lpstr>
      <vt:lpstr>Visualisation et interprétation des clusters</vt:lpstr>
      <vt:lpstr>Processus pour la détermination de l’intervalle de maintenance du modèle</vt:lpstr>
      <vt:lpstr>Ǫuel est le délai de stabilité de la segmentation?</vt:lpstr>
      <vt:lpstr>Conclusion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Valide_Dolores_4_presentation_052022</dc:title>
  <dc:creator>Mohammed EL Haouzi</dc:creator>
  <cp:lastModifiedBy>Souhaila El Haouzi</cp:lastModifiedBy>
  <cp:revision>3</cp:revision>
  <dcterms:created xsi:type="dcterms:W3CDTF">2025-12-05T14:17:27Z</dcterms:created>
  <dcterms:modified xsi:type="dcterms:W3CDTF">2025-12-09T16:45:05Z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2025-12-05T00:00:00Z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2025-12-05T00:00:00Z</vt:filetime>
  </property>
</Properties>
</file>